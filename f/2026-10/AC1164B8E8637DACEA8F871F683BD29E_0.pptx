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65" r:id="rId3"/>
    <p:sldId id="266" r:id="rId4"/>
    <p:sldId id="269" r:id="rId5"/>
    <p:sldId id="643" r:id="rId6"/>
    <p:sldId id="644" r:id="rId7"/>
    <p:sldId id="335" r:id="rId8"/>
    <p:sldId id="342" r:id="rId9"/>
    <p:sldId id="344" r:id="rId10"/>
    <p:sldId id="343" r:id="rId11"/>
    <p:sldId id="345" r:id="rId12"/>
    <p:sldId id="645" r:id="rId13"/>
    <p:sldId id="336" r:id="rId14"/>
    <p:sldId id="647" r:id="rId15"/>
    <p:sldId id="646" r:id="rId16"/>
    <p:sldId id="648" r:id="rId17"/>
    <p:sldId id="656" r:id="rId18"/>
    <p:sldId id="649" r:id="rId19"/>
    <p:sldId id="368" r:id="rId20"/>
    <p:sldId id="362" r:id="rId21"/>
    <p:sldId id="655" r:id="rId22"/>
    <p:sldId id="348" r:id="rId23"/>
    <p:sldId id="651" r:id="rId24"/>
    <p:sldId id="353" r:id="rId25"/>
    <p:sldId id="365" r:id="rId26"/>
    <p:sldId id="364" r:id="rId27"/>
    <p:sldId id="366" r:id="rId28"/>
    <p:sldId id="657" r:id="rId29"/>
    <p:sldId id="338" r:id="rId30"/>
    <p:sldId id="354" r:id="rId31"/>
    <p:sldId id="355" r:id="rId32"/>
    <p:sldId id="369" r:id="rId33"/>
    <p:sldId id="653" r:id="rId34"/>
    <p:sldId id="623" r:id="rId35"/>
    <p:sldId id="346" r:id="rId36"/>
  </p:sldIdLst>
  <p:sldSz cx="12192000" cy="6858000"/>
  <p:notesSz cx="6858000" cy="9144000"/>
  <p:embeddedFontLs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David" panose="020E0502060401010101" pitchFamily="34" charset="-79"/>
      <p:regular r:id="rId42"/>
      <p:bold r:id="rId43"/>
    </p:embeddedFont>
    <p:embeddedFont>
      <p:font typeface="Tahoma" panose="020B0604030504040204" pitchFamily="34" charset="0"/>
      <p:regular r:id="rId44"/>
      <p:bold r:id="rId45"/>
    </p:embeddedFont>
    <p:embeddedFont>
      <p:font typeface="Wingdings 3" panose="05040102010807070707" pitchFamily="18" charset="2"/>
      <p:regular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4" roundtripDataSignature="AMtx7mhJBz4dsuTAtiEe2JNns1bll+FX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3E4"/>
    <a:srgbClr val="FBF4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C69057-1A02-47DD-AF06-93E455CED6F4}">
  <a:tblStyle styleId="{D0C69057-1A02-47DD-AF06-93E455CED6F4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AEDE6"/>
          </a:solidFill>
        </a:fill>
      </a:tcStyle>
    </a:wholeTbl>
    <a:band1H>
      <a:tcTxStyle/>
      <a:tcStyle>
        <a:tcBdr/>
        <a:fill>
          <a:solidFill>
            <a:srgbClr val="F6D9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6D9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C2D0967-56BA-41BF-AB3F-858ADA425C4A}" styleName="Table_1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8596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1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7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500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8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298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9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237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10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489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11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287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13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650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14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176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16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661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22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1536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23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198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24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340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29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3668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30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742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31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365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E0F113AD-AA76-BF7E-751F-A8D330A48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>
            <a:extLst>
              <a:ext uri="{FF2B5EF4-FFF2-40B4-BE49-F238E27FC236}">
                <a16:creationId xmlns:a16="http://schemas.microsoft.com/office/drawing/2014/main" id="{F202BF26-F836-16C1-B775-546E632F5E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4:notes">
            <a:extLst>
              <a:ext uri="{FF2B5EF4-FFF2-40B4-BE49-F238E27FC236}">
                <a16:creationId xmlns:a16="http://schemas.microsoft.com/office/drawing/2014/main" id="{CDD2135B-5569-7FB1-1B83-2A98E4B6CD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p4:notes">
            <a:extLst>
              <a:ext uri="{FF2B5EF4-FFF2-40B4-BE49-F238E27FC236}">
                <a16:creationId xmlns:a16="http://schemas.microsoft.com/office/drawing/2014/main" id="{EFA91903-D8EA-143B-529E-F46D7A3985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35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9745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ותרת ותוכן" type="obj">
  <p:cSld name="OBJEC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" name="Google Shape;46;p19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19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השוואה" type="twoTxTwoObj">
  <p:cSld name="TWO_OBJECTS_WITH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3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2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body" idx="3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4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23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" name="Google Shape;80;p23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ותרת בלבד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4" name="Google Shape;84;p2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24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24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תוכן עם כיתוב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6"/>
          <p:cNvSpPr txBox="1"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sz="20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6"/>
          <p:cNvSpPr txBox="1">
            <a:spLocks noGrp="1"/>
          </p:cNvSpPr>
          <p:nvPr>
            <p:ph type="body" idx="1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95" name="Google Shape;95;p26"/>
          <p:cNvSpPr txBox="1">
            <a:spLocks noGrp="1"/>
          </p:cNvSpPr>
          <p:nvPr>
            <p:ph type="body" idx="2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6" name="Google Shape;96;p26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7" name="Google Shape;97;p26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8" name="Google Shape;98;p26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26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תמונה עם כיתוב" type="picTx">
  <p:cSld name="PICTURE_WITH_CAPTIO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 txBox="1"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sz="24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body" idx="1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5" name="Google Shape;105;p27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6" name="Google Shape;106;p27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27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ותרת וכיתוב">
  <p:cSld name="כותרת וכיתוב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 txBox="1"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8"/>
          <p:cNvSpPr txBox="1"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2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2" name="Google Shape;112;p2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3" name="Google Shape;113;p28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28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ציטוט עם כיתוב">
  <p:cSld name="ציטוט עם כיתוב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9"/>
          <p:cNvSpPr txBox="1">
            <a:spLocks noGrp="1"/>
          </p:cNvSpPr>
          <p:nvPr>
            <p:ph type="body" idx="1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18" name="Google Shape;118;p29"/>
          <p:cNvSpPr txBox="1">
            <a:spLocks noGrp="1"/>
          </p:cNvSpPr>
          <p:nvPr>
            <p:ph type="body" idx="2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9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0" name="Google Shape;120;p29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1" name="Google Shape;121;p29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p29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  <p:sp>
        <p:nvSpPr>
          <p:cNvPr id="123" name="Google Shape;123;p29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dirty="0"/>
          </a:p>
        </p:txBody>
      </p:sp>
      <p:sp>
        <p:nvSpPr>
          <p:cNvPr id="124" name="Google Shape;124;p29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רטיס שם">
  <p:cSld name="כרטיס שם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0"/>
          <p:cNvSpPr txBox="1">
            <a:spLocks noGrp="1"/>
          </p:cNvSpPr>
          <p:nvPr>
            <p:ph type="body" idx="1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9" name="Google Shape;129;p30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0" name="Google Shape;130;p30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1" name="Google Shape;131;p30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רטיס שם עם ציטוט">
  <p:cSld name="כרטיס שם עם ציטוט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1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5" name="Google Shape;135;p31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6" name="Google Shape;136;p31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7" name="Google Shape;137;p31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8" name="Google Shape;138;p31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" name="Google Shape;139;p31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  <p:sp>
        <p:nvSpPr>
          <p:cNvPr id="140" name="Google Shape;140;p31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dirty="0"/>
          </a:p>
        </p:txBody>
      </p:sp>
      <p:sp>
        <p:nvSpPr>
          <p:cNvPr id="141" name="Google Shape;141;p31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rue או False">
  <p:cSld name="True או False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2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5" name="Google Shape;145;p32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6" name="Google Shape;146;p32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7" name="Google Shape;147;p32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8" name="Google Shape;148;p32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" name="Google Shape;149;p32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ותרת וטקסט אנכי" type="vertTx">
  <p:cSld name="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3"/>
          <p:cNvSpPr txBox="1">
            <a:spLocks noGrp="1"/>
          </p:cNvSpPr>
          <p:nvPr>
            <p:ph type="body" idx="1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53" name="Google Shape;153;p3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4" name="Google Shape;154;p3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5" name="Google Shape;155;p33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33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ותרת אנכית וטקסט" type="vertTitleAndTx">
  <p:cSld name="VERTICAL_TITLE_AND_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>
            <a:spLocks noGrp="1"/>
          </p:cNvSpPr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4"/>
          <p:cNvSpPr txBox="1">
            <a:spLocks noGrp="1"/>
          </p:cNvSpPr>
          <p:nvPr>
            <p:ph type="body" idx="1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60" name="Google Shape;160;p3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1" name="Google Shape;161;p3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2" name="Google Shape;162;p34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3" name="Google Shape;163;p34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4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8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1" name="Google Shape;11;p18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2;p18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3;p18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4;p18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5;p18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6;p18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7;p18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8;p18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9;p18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0;p18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21;p18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22;p18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3" name="Google Shape;23;p18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24" name="Google Shape;24;p18"/>
            <p:cNvSpPr/>
            <p:nvPr/>
          </p:nvSpPr>
          <p:spPr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5;p18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26;p18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27;p18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28;p18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29;p18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30;p18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31;p18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32;p18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33;p18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34;p18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35;p18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6" name="Google Shape;36;p18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dirty="0"/>
          </a:p>
        </p:txBody>
      </p:sp>
      <p:sp>
        <p:nvSpPr>
          <p:cNvPr id="40" name="Google Shape;40;p1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dirty="0"/>
          </a:p>
        </p:txBody>
      </p:sp>
      <p:sp>
        <p:nvSpPr>
          <p:cNvPr id="41" name="Google Shape;41;p18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9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"/>
          <p:cNvSpPr txBox="1">
            <a:spLocks noGrp="1"/>
          </p:cNvSpPr>
          <p:nvPr>
            <p:ph type="body" idx="1"/>
          </p:nvPr>
        </p:nvSpPr>
        <p:spPr>
          <a:xfrm>
            <a:off x="1026160" y="794326"/>
            <a:ext cx="10011295" cy="530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ctr" rtl="1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he-IL" sz="11500" b="1" dirty="0">
                <a:latin typeface="David"/>
                <a:ea typeface="David"/>
                <a:cs typeface="David"/>
                <a:sym typeface="David"/>
              </a:rPr>
              <a:t>ספר ויקרא</a:t>
            </a:r>
            <a:endParaRPr lang="he-IL" sz="7100" b="1" dirty="0">
              <a:latin typeface="David"/>
              <a:cs typeface="David"/>
              <a:sym typeface="David"/>
            </a:endParaRPr>
          </a:p>
          <a:p>
            <a:pPr marL="342900" lvl="0" indent="-342900" algn="ctr" rtl="1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he-IL" sz="11500" b="1" dirty="0">
                <a:latin typeface="David"/>
                <a:cs typeface="David"/>
                <a:sym typeface="David"/>
              </a:rPr>
              <a:t>פרק ב'- </a:t>
            </a:r>
            <a:br>
              <a:rPr lang="en-US" sz="11500" b="1" dirty="0">
                <a:latin typeface="David"/>
                <a:cs typeface="David"/>
                <a:sym typeface="David"/>
              </a:rPr>
            </a:br>
            <a:r>
              <a:rPr lang="he-IL" sz="11500" b="1" dirty="0">
                <a:latin typeface="David"/>
                <a:cs typeface="David"/>
                <a:sym typeface="David"/>
              </a:rPr>
              <a:t>קרבן מנחה</a:t>
            </a:r>
          </a:p>
          <a:p>
            <a:pPr marL="342900" lvl="0" indent="-342900" algn="ctr" rtl="1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sz="1300" dirty="0"/>
          </a:p>
        </p:txBody>
      </p:sp>
      <p:pic>
        <p:nvPicPr>
          <p:cNvPr id="6" name="תמונה 5" descr="תמונה שמכילה לבוש, אדם, פני אדם, איש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591FFC3-EAAB-F64F-D864-4BAEABE89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6205" y="1286189"/>
            <a:ext cx="2686099" cy="40291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351997B-7565-676C-5961-48525CE78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241" y="624110"/>
            <a:ext cx="9330372" cy="4984210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סיפור..</a:t>
            </a:r>
            <a:b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רחמים מאוד אוהב את ה' ורוצה מאוד להקריב קרבן, הבעיה היא שרחמים הוא אדם עני מאוד ואין לו כסף אפילו לקניית תורים או בני יונה.</a:t>
            </a:r>
            <a:b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4" name="מציין מיקום תוכן 4">
            <a:extLst>
              <a:ext uri="{FF2B5EF4-FFF2-40B4-BE49-F238E27FC236}">
                <a16:creationId xmlns:a16="http://schemas.microsoft.com/office/drawing/2014/main" id="{840F43A8-D934-9161-251E-FF8073BE4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39" y="2593765"/>
            <a:ext cx="5248872" cy="301455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6E0DE10B-FABA-FDAA-9D99-03D5667B6D23}"/>
              </a:ext>
            </a:extLst>
          </p:cNvPr>
          <p:cNvSpPr txBox="1"/>
          <p:nvPr/>
        </p:nvSpPr>
        <p:spPr>
          <a:xfrm>
            <a:off x="4592320" y="3299470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4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מה רחמים יכול לעשות?</a:t>
            </a:r>
            <a:br>
              <a:rPr lang="he-IL" sz="4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59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6FDA4E-BE9E-CD52-0ED5-46A066D24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881" y="624110"/>
            <a:ext cx="9797732" cy="3074130"/>
          </a:xfrm>
        </p:spPr>
        <p:txBody>
          <a:bodyPr>
            <a:normAutofit/>
          </a:bodyPr>
          <a:lstStyle/>
          <a:p>
            <a:pPr algn="r">
              <a:spcBef>
                <a:spcPts val="1000"/>
              </a:spcBef>
              <a:buClr>
                <a:schemeClr val="accent1"/>
              </a:buClr>
            </a:pPr>
            <a:r>
              <a:rPr lang="he-IL" sz="3200" dirty="0">
                <a:solidFill>
                  <a:schemeClr val="tx1"/>
                </a:solidFill>
                <a:latin typeface="David"/>
                <a:cs typeface="David"/>
              </a:rPr>
              <a:t>עיינו בפסוקים שלפניכם </a:t>
            </a:r>
            <a:r>
              <a:rPr lang="he-IL" sz="3200" dirty="0" err="1">
                <a:solidFill>
                  <a:schemeClr val="tx1"/>
                </a:solidFill>
                <a:latin typeface="David"/>
                <a:cs typeface="David"/>
              </a:rPr>
              <a:t>ואימרו</a:t>
            </a:r>
            <a:r>
              <a:rPr lang="he-IL" sz="3200" dirty="0">
                <a:solidFill>
                  <a:schemeClr val="tx1"/>
                </a:solidFill>
                <a:latin typeface="David"/>
                <a:cs typeface="David"/>
              </a:rPr>
              <a:t>:</a:t>
            </a:r>
            <a:br>
              <a:rPr lang="he-IL" sz="3200" dirty="0">
                <a:solidFill>
                  <a:schemeClr val="tx1"/>
                </a:solidFill>
                <a:latin typeface="David"/>
                <a:cs typeface="David"/>
              </a:rPr>
            </a:br>
            <a:r>
              <a:rPr lang="he-IL" sz="3200" dirty="0">
                <a:solidFill>
                  <a:schemeClr val="tx1"/>
                </a:solidFill>
                <a:latin typeface="David"/>
                <a:cs typeface="David"/>
              </a:rPr>
              <a:t>1. מה שם </a:t>
            </a:r>
            <a:r>
              <a:rPr lang="he-IL" sz="3200" dirty="0" err="1">
                <a:solidFill>
                  <a:schemeClr val="tx1"/>
                </a:solidFill>
                <a:latin typeface="David"/>
                <a:cs typeface="David"/>
              </a:rPr>
              <a:t>הקרבן</a:t>
            </a:r>
            <a:r>
              <a:rPr lang="he-IL" sz="3200" dirty="0">
                <a:solidFill>
                  <a:schemeClr val="tx1"/>
                </a:solidFill>
                <a:latin typeface="David"/>
                <a:cs typeface="David"/>
              </a:rPr>
              <a:t> בלשון התורה?</a:t>
            </a:r>
            <a:br>
              <a:rPr lang="he-IL" sz="3200" dirty="0">
                <a:solidFill>
                  <a:schemeClr val="tx1"/>
                </a:solidFill>
                <a:latin typeface="David"/>
                <a:cs typeface="David"/>
              </a:rPr>
            </a:br>
            <a:r>
              <a:rPr lang="he-IL" sz="3200" dirty="0">
                <a:solidFill>
                  <a:schemeClr val="tx1"/>
                </a:solidFill>
                <a:latin typeface="David"/>
                <a:cs typeface="David"/>
              </a:rPr>
              <a:t>2. מאילו חומרים הוא עשוי?</a:t>
            </a:r>
          </a:p>
        </p:txBody>
      </p:sp>
    </p:spTree>
    <p:extLst>
      <p:ext uri="{BB962C8B-B14F-4D97-AF65-F5344CB8AC3E}">
        <p14:creationId xmlns:p14="http://schemas.microsoft.com/office/powerpoint/2010/main" val="1769914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A62F1EC-ED17-E8A8-D408-136D4E760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480" y="1087120"/>
            <a:ext cx="7156132" cy="48241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וְנֶ֗פֶשׁ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וְנָתַ֥ן עָלֶ֖יהָ לְבֹנָֽה׃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וֶֽהֱבִיאָ֗הּ אֶל־בְּנֵ֣י אַֽהֲרֹן֮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כָּל־לְבֹֽנָתָ֑ה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וְהַנּוֹתֶ֨רֶת֙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מִן־הַמִּנְחָ֔ה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לְאַֽהֲרֹ֖ן וּלְבָנָ֑יו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קֹ֥דֶשׁ קָֽדָשִׁ֖ים מֵֽאִשֵּׁ֥י ה'׃</a:t>
            </a:r>
            <a:endParaRPr lang="he-IL" sz="32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76092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E951BEB-B6C8-FB86-D417-A743C410E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0CBA89E-9563-42AF-AB11-A46444CEC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480" y="1087120"/>
            <a:ext cx="7156132" cy="48241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וְנֶ֗פֶשׁ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</a:t>
            </a:r>
            <a:r>
              <a:rPr lang="he-IL" sz="32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מִנְחָה֙ 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לַֽה'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b="1" dirty="0" err="1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3200" b="1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יִֽהְיֶ֣ה קָרְבָּנ֑וֹ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</a:t>
            </a:r>
            <a:r>
              <a:rPr lang="he-IL" sz="3200" b="1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שֶׁ֔מֶן 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וְנָתַ֥ן עָלֶ֖יהָ </a:t>
            </a:r>
            <a:r>
              <a:rPr lang="he-IL" sz="3200" b="1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לְבֹנָֽה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וֶֽהֱבִיאָ֗הּ אֶל־בְּנֵ֣י אַֽהֲרֹן֮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3200" b="1" dirty="0" err="1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3200" b="1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כָּל־</a:t>
            </a:r>
            <a:r>
              <a:rPr lang="he-IL" sz="3200" b="1" dirty="0" err="1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לְבֹֽנָתָ֑ה</a:t>
            </a:r>
            <a:r>
              <a:rPr lang="he-IL" sz="3200" b="1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וְהַנּוֹתֶ֨רֶת֙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מִן־הַמִּנְחָ֔ה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לְאַֽהֲרֹ֖ן וּלְבָנָ֑יו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קֹ֥דֶשׁ קָֽדָשִׁ֖ים מֵֽאִשֵּׁ֥י ה'׃</a:t>
            </a:r>
            <a:endParaRPr lang="he-IL" sz="32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063A99EF-B42F-FBFD-F179-2541D8FAD408}"/>
              </a:ext>
            </a:extLst>
          </p:cNvPr>
          <p:cNvSpPr txBox="1"/>
          <p:nvPr/>
        </p:nvSpPr>
        <p:spPr>
          <a:xfrm>
            <a:off x="6107706" y="182953"/>
            <a:ext cx="39557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1">
              <a:defRPr/>
            </a:pPr>
            <a:r>
              <a:rPr lang="he-IL" sz="5400" b="1" dirty="0">
                <a:solidFill>
                  <a:srgbClr val="4BACC6">
                    <a:lumMod val="75000"/>
                  </a:srgb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מנחת סולת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3F266C5-264B-BC6B-664F-9BD48F2C7CC8}"/>
              </a:ext>
            </a:extLst>
          </p:cNvPr>
          <p:cNvSpPr txBox="1"/>
          <p:nvPr/>
        </p:nvSpPr>
        <p:spPr>
          <a:xfrm>
            <a:off x="548640" y="1194899"/>
            <a:ext cx="4419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מי מביא את המנחה?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איזו כמות מן המנחה מקטירים על המזבח?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מה עושים עם הכמות שאינה </a:t>
            </a:r>
            <a:r>
              <a:rPr lang="he-IL" sz="3200" dirty="0" err="1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מוקטרת</a:t>
            </a: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על המזבח? </a:t>
            </a:r>
          </a:p>
        </p:txBody>
      </p:sp>
    </p:spTree>
    <p:extLst>
      <p:ext uri="{BB962C8B-B14F-4D97-AF65-F5344CB8AC3E}">
        <p14:creationId xmlns:p14="http://schemas.microsoft.com/office/powerpoint/2010/main" val="299314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6FD496-EF15-6B0E-439D-C3D9C7626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F15CA12-39F4-7879-5440-040225AB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480" y="1087120"/>
            <a:ext cx="7156132" cy="48241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וְנֶ֗פֶשׁ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וְנָתַ֥ן עָלֶ֖יהָ לְבֹנָֽה׃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וֶֽהֱבִיאָ֗הּ אֶל־בְּנֵ֣י אַֽהֲרֹן֮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כָּל־לְבֹֽנָתָ֑ה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וְהַנּוֹתֶ֨רֶת֙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מִן־הַמִּנְחָ֔ה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לְאַֽהֲרֹ֖ן וּלְבָנָ֑יו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קֹ֥דֶשׁ קָֽדָשִׁ֖ים מֵֽאִשֵּׁ֥י ה'׃</a:t>
            </a:r>
            <a:endParaRPr lang="he-IL" sz="32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FA7445F3-FE79-0A80-D51A-1D2CD28197C6}"/>
              </a:ext>
            </a:extLst>
          </p:cNvPr>
          <p:cNvSpPr txBox="1"/>
          <p:nvPr/>
        </p:nvSpPr>
        <p:spPr>
          <a:xfrm>
            <a:off x="6107706" y="182953"/>
            <a:ext cx="39557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1">
              <a:defRPr/>
            </a:pPr>
            <a:r>
              <a:rPr lang="he-IL" sz="5400" b="1" dirty="0">
                <a:solidFill>
                  <a:srgbClr val="4BACC6">
                    <a:lumMod val="75000"/>
                  </a:srgb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מנחת סולת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70E799CD-AA9C-E76B-79FA-FB8B26C4D4A8}"/>
              </a:ext>
            </a:extLst>
          </p:cNvPr>
          <p:cNvSpPr txBox="1"/>
          <p:nvPr/>
        </p:nvSpPr>
        <p:spPr>
          <a:xfrm>
            <a:off x="548640" y="1194899"/>
            <a:ext cx="4419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מי מביא את המנחה?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איזו כמות מן המנחה מקטירים על המזבח?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מה עושים עם הכמות שאינה </a:t>
            </a:r>
            <a:r>
              <a:rPr lang="he-IL" sz="3200" dirty="0" err="1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מוקטרת</a:t>
            </a: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על המזבח? </a:t>
            </a:r>
          </a:p>
          <a:p>
            <a:pPr lvl="0" algn="r" rtl="1">
              <a:defRPr/>
            </a:pPr>
            <a:endParaRPr lang="he-IL" sz="3200" dirty="0">
              <a:solidFill>
                <a:schemeClr val="tx1"/>
              </a:solidFill>
              <a:highlight>
                <a:srgbClr val="00FFFF"/>
              </a:highlight>
              <a:latin typeface="David" panose="020E0502060401010101" pitchFamily="34" charset="-79"/>
              <a:cs typeface="David" panose="020E0502060401010101" pitchFamily="34" charset="-79"/>
              <a:sym typeface="Century Gothic"/>
            </a:endParaRPr>
          </a:p>
          <a:p>
            <a:pPr lvl="0" algn="r" rtl="1">
              <a:defRPr/>
            </a:pPr>
            <a:endParaRPr lang="he-IL" sz="3200" dirty="0">
              <a:solidFill>
                <a:schemeClr val="tx1"/>
              </a:solidFill>
              <a:highlight>
                <a:srgbClr val="00FFFF"/>
              </a:highlight>
              <a:latin typeface="David" panose="020E0502060401010101" pitchFamily="34" charset="-79"/>
              <a:cs typeface="David" panose="020E0502060401010101" pitchFamily="34" charset="-79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44631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50" y="2336873"/>
            <a:ext cx="5041628" cy="3599316"/>
          </a:xfrm>
        </p:spPr>
        <p:txBody>
          <a:bodyPr rtlCol="1">
            <a:normAutofit/>
          </a:bodyPr>
          <a:lstStyle/>
          <a:p>
            <a:pPr marL="0" lvl="0" indent="0">
              <a:lnSpc>
                <a:spcPct val="170000"/>
              </a:lnSpc>
              <a:buNone/>
            </a:pPr>
            <a:r>
              <a:rPr lang="he-IL" sz="24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וְנֶ֗פֶשׁ </a:t>
            </a:r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וְנָתַ֥ן עָלֶ֖יהָ לְבֹנָֽה׃ 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sz="1800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50" y="753228"/>
            <a:ext cx="5041629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60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1</a:t>
            </a:r>
            <a:r>
              <a:rPr lang="he-IL" sz="54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. מנחת סולת  (א-ג)</a:t>
            </a:r>
          </a:p>
        </p:txBody>
      </p:sp>
      <p:pic>
        <p:nvPicPr>
          <p:cNvPr id="8" name="תמונה 7" descr="תמונה שמכילה לבוש, אדם, פני אדם, איש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BFE4DE8-D521-DE4B-E32D-AE25B1222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8718" y="390613"/>
            <a:ext cx="3913009" cy="58695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2823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096000" y="2336872"/>
            <a:ext cx="5963478" cy="3767899"/>
          </a:xfrm>
        </p:spPr>
        <p:txBody>
          <a:bodyPr rtlCol="1">
            <a:normAutofit/>
          </a:bodyPr>
          <a:lstStyle/>
          <a:p>
            <a:pPr marL="0" lvl="0" indent="0">
              <a:lnSpc>
                <a:spcPct val="170000"/>
              </a:lnSpc>
              <a:buNone/>
            </a:pPr>
            <a:r>
              <a:rPr lang="he-IL" sz="24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וְנֶ֗פֶשׁ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וְנָתַ֥ן עָלֶ֖יהָ לְבֹנָֽה׃ 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Times New Roman" panose="02020603050405020304" pitchFamily="18" charset="0"/>
              </a:rPr>
              <a:t>  </a:t>
            </a:r>
          </a:p>
          <a:p>
            <a:pPr marL="0" lvl="0" indent="0" algn="just">
              <a:lnSpc>
                <a:spcPct val="170000"/>
              </a:lnSpc>
              <a:buNone/>
            </a:pPr>
            <a:endParaRPr lang="he-IL" sz="1800" dirty="0">
              <a:solidFill>
                <a:srgbClr val="000000"/>
              </a:solidFill>
              <a:latin typeface="David" panose="020E0502060401010101" pitchFamily="34" charset="-79"/>
              <a:cs typeface="Times New Roman" panose="02020603050405020304" pitchFamily="18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50" y="753228"/>
            <a:ext cx="5041629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54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סולת  (א-ג)</a:t>
            </a:r>
          </a:p>
        </p:txBody>
      </p:sp>
      <p:pic>
        <p:nvPicPr>
          <p:cNvPr id="8" name="תמונה 7" descr="תמונה שמכילה בתוך מבנה, אדם, אגרטל, קער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A37FE6B-E225-28F8-7D46-A430EB2EC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93294" y="1225899"/>
            <a:ext cx="3207788" cy="48116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643171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 invX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316131" y="2336873"/>
            <a:ext cx="5689599" cy="4182460"/>
          </a:xfrm>
        </p:spPr>
        <p:txBody>
          <a:bodyPr rtlCol="1">
            <a:normAutofit/>
          </a:bodyPr>
          <a:lstStyle/>
          <a:p>
            <a:pPr marL="0" lvl="0" indent="0">
              <a:lnSpc>
                <a:spcPct val="170000"/>
              </a:lnSpc>
              <a:buNone/>
            </a:pPr>
            <a:r>
              <a:rPr lang="he-IL" sz="24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וְנֶ֗פֶשׁ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וְנָתַ֥ן עָלֶ֖יהָ לְבֹנָֽה׃ </a:t>
            </a:r>
            <a:endParaRPr lang="he-IL" sz="2400" dirty="0">
              <a:solidFill>
                <a:srgbClr val="000000"/>
              </a:solidFill>
              <a:latin typeface="David" panose="020E0502060401010101" pitchFamily="34" charset="-79"/>
              <a:cs typeface="Times New Roman" panose="02020603050405020304" pitchFamily="18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50" y="753228"/>
            <a:ext cx="5041629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54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סולת  (א-ג)</a:t>
            </a:r>
          </a:p>
        </p:txBody>
      </p:sp>
      <p:pic>
        <p:nvPicPr>
          <p:cNvPr id="8" name="תמונה 7" descr="תמונה שמכילה אדם, לבוש, איש, קי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A2E2DE6-8324-4177-4528-F033A5694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683" y="840580"/>
            <a:ext cx="3785836" cy="56787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6509511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48" y="1849925"/>
            <a:ext cx="5535683" cy="4086264"/>
          </a:xfrm>
        </p:spPr>
        <p:txBody>
          <a:bodyPr rtlCol="1"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sz="24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וְנֶ֗פֶשׁ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וְנָתַ֥ן עָלֶ֖יהָ לְבֹנָֽה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׃ </a:t>
            </a:r>
            <a:endParaRPr lang="he-IL" sz="2400" dirty="0">
              <a:solidFill>
                <a:srgbClr val="000000"/>
              </a:solidFill>
              <a:latin typeface="David" panose="020E0502060401010101" pitchFamily="34" charset="-79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70000"/>
              </a:lnSpc>
              <a:buNone/>
            </a:pPr>
            <a:r>
              <a:rPr lang="he-IL" sz="1800" dirty="0">
                <a:solidFill>
                  <a:srgbClr val="000000"/>
                </a:solidFill>
                <a:latin typeface="David" panose="020E0502060401010101" pitchFamily="34" charset="-79"/>
                <a:cs typeface="Times New Roman" panose="02020603050405020304" pitchFamily="18" charset="0"/>
              </a:rPr>
              <a:t>  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50" y="753228"/>
            <a:ext cx="5041629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54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סולת  (א-ג)</a:t>
            </a:r>
          </a:p>
        </p:txBody>
      </p:sp>
      <p:pic>
        <p:nvPicPr>
          <p:cNvPr id="5" name="תמונה 4" descr="תמונה שמכילה קטן, פרח, שולחן, ישיבה&#10;&#10;התיאור נוצר באופן אוטומטי">
            <a:extLst>
              <a:ext uri="{FF2B5EF4-FFF2-40B4-BE49-F238E27FC236}">
                <a16:creationId xmlns:a16="http://schemas.microsoft.com/office/drawing/2014/main" id="{DE3C95A3-2B72-4FB4-A8C8-9FBA41F77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054301" y="2375781"/>
            <a:ext cx="2848508" cy="1586312"/>
          </a:xfrm>
          <a:prstGeom prst="rect">
            <a:avLst/>
          </a:prstGeom>
        </p:spPr>
      </p:pic>
      <p:pic>
        <p:nvPicPr>
          <p:cNvPr id="9" name="תמונה 8" descr="תמונה שמכילה אדם, לבוש, קערת ערבוב, בתוך מב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763664A-363D-86E4-61AA-58DD0A565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223" y="1372341"/>
            <a:ext cx="4563848" cy="45638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429665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50" y="2336873"/>
            <a:ext cx="5041628" cy="3599316"/>
          </a:xfrm>
        </p:spPr>
        <p:txBody>
          <a:bodyPr rtlCol="1">
            <a:normAutofit/>
          </a:bodyPr>
          <a:lstStyle/>
          <a:p>
            <a:pPr marL="0" lvl="0" indent="0" algn="just">
              <a:lnSpc>
                <a:spcPct val="170000"/>
              </a:lnSpc>
              <a:buNone/>
            </a:pPr>
            <a:r>
              <a:rPr lang="he-IL" sz="1800" dirty="0">
                <a:solidFill>
                  <a:srgbClr val="000000"/>
                </a:solidFill>
                <a:latin typeface="David" panose="020E0502060401010101" pitchFamily="34" charset="-79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50" y="753228"/>
            <a:ext cx="5041629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54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סולת  (א-ג)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0746CD3C-889E-402B-9BEC-F3C896646DFE}"/>
              </a:ext>
            </a:extLst>
          </p:cNvPr>
          <p:cNvSpPr/>
          <p:nvPr/>
        </p:nvSpPr>
        <p:spPr>
          <a:xfrm>
            <a:off x="6470050" y="1977794"/>
            <a:ext cx="5569550" cy="3985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914400" rtl="1">
              <a:lnSpc>
                <a:spcPct val="150000"/>
              </a:lnSpc>
              <a:spcBef>
                <a:spcPts val="1000"/>
              </a:spcBef>
            </a:pPr>
            <a:r>
              <a:rPr lang="he-IL" sz="28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וֶֽהֱבִיאָ֗הּ אֶל־בְּנֵ֣י אַֽהֲרֹן֮ </a:t>
            </a:r>
            <a:r>
              <a:rPr lang="he-IL" sz="3200" b="1" dirty="0" err="1"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כָּל־לְבֹֽנָתָ֑ה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sz="2800" dirty="0">
              <a:solidFill>
                <a:srgbClr val="000000"/>
              </a:solidFill>
              <a:latin typeface="David" panose="020E0502060401010101" pitchFamily="34" charset="-79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A9832C88-3DC6-5C10-18D7-BAC01FC23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874" y="1352938"/>
            <a:ext cx="4798302" cy="47983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5600944"/>
      </p:ext>
    </p:extLst>
  </p:cSld>
  <p:clrMapOvr>
    <a:masterClrMapping/>
  </p:clrMapOvr>
  <p:transition spd="med">
    <p:pull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E55F99-8F92-7DFF-71B0-12260A133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C7953C-3606-C281-8E6A-07971034F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480" y="1087120"/>
            <a:ext cx="7156132" cy="48241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וְנֶ֗פֶשׁ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וְנָתַ֥ן עָלֶ֖יהָ לְבֹנָֽה׃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וֶֽהֱבִיאָ֗הּ אֶל־בְּנֵ֣י אַֽהֲרֹן֮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3200" dirty="0" err="1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3200" dirty="0" err="1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כָּל־לְבֹֽנָתָ֑ה</a:t>
            </a:r>
            <a:r>
              <a:rPr lang="he-IL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וְהַנּוֹתֶ֨רֶת֙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מִן־הַמִּנְחָ֔ה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לְאַֽהֲרֹ֖ן וּלְבָנָ֑יו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קֹ֥דֶשׁ קָֽדָשִׁ֖ים מֵֽאִשֵּׁ֥י ה'׃</a:t>
            </a:r>
            <a:endParaRPr lang="he-IL" sz="32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48AD2350-D12E-07D7-9C3F-4BE107EFC71B}"/>
              </a:ext>
            </a:extLst>
          </p:cNvPr>
          <p:cNvSpPr txBox="1"/>
          <p:nvPr/>
        </p:nvSpPr>
        <p:spPr>
          <a:xfrm>
            <a:off x="6107706" y="182953"/>
            <a:ext cx="39557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1">
              <a:defRPr/>
            </a:pPr>
            <a:r>
              <a:rPr lang="he-IL" sz="5400" b="1" dirty="0">
                <a:solidFill>
                  <a:srgbClr val="4BACC6">
                    <a:lumMod val="75000"/>
                  </a:srgb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מנחת סולת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B352E977-A6BA-D74A-7F55-38EB65A74BAB}"/>
              </a:ext>
            </a:extLst>
          </p:cNvPr>
          <p:cNvSpPr txBox="1"/>
          <p:nvPr/>
        </p:nvSpPr>
        <p:spPr>
          <a:xfrm>
            <a:off x="473995" y="2109299"/>
            <a:ext cx="4419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מי מביא את המנחה?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איזו כמות מן המנחה מקטירים על המזבח?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מה עושים עם הכמות שאינה </a:t>
            </a:r>
            <a:r>
              <a:rPr lang="he-IL" sz="3200" dirty="0" err="1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מוקטרת</a:t>
            </a: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על המזבח? </a:t>
            </a:r>
          </a:p>
        </p:txBody>
      </p:sp>
    </p:spTree>
    <p:extLst>
      <p:ext uri="{BB962C8B-B14F-4D97-AF65-F5344CB8AC3E}">
        <p14:creationId xmlns:p14="http://schemas.microsoft.com/office/powerpoint/2010/main" val="624465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48" y="1964267"/>
            <a:ext cx="5467951" cy="4656666"/>
          </a:xfrm>
        </p:spPr>
        <p:txBody>
          <a:bodyPr rtlCol="1">
            <a:normAutofit/>
          </a:bodyPr>
          <a:lstStyle/>
          <a:p>
            <a:r>
              <a:rPr lang="he-IL" sz="28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וֶֽהֱבִיאָ֗הּ אֶל־בְּנֵ֣י אַֽהֲרֹן֮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כָּל־לְבֹֽנָתָ֑ה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sz="2800" b="0" i="0" u="none" strike="noStrike" kern="1200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EB9815D5-195C-4C94-AAD8-3912BE0881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09" t="62716" r="7183" b="1975"/>
          <a:stretch/>
        </p:blipFill>
        <p:spPr>
          <a:xfrm>
            <a:off x="4403423" y="270933"/>
            <a:ext cx="1879600" cy="24214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0"/>
          </a:effectLst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50" y="753228"/>
            <a:ext cx="5041629" cy="1080938"/>
          </a:xfrm>
        </p:spPr>
        <p:txBody>
          <a:bodyPr rtlCol="1">
            <a:normAutofit/>
          </a:bodyPr>
          <a:lstStyle/>
          <a:p>
            <a:pPr algn="r"/>
            <a:r>
              <a:rPr lang="he-IL" sz="5400" dirty="0">
                <a:solidFill>
                  <a:schemeClr val="tx1"/>
                </a:solidFill>
                <a:cs typeface="Times New Roman" panose="02020603050405020304" pitchFamily="18" charset="0"/>
              </a:rPr>
              <a:t>מנחת סולת  (א-ג)</a:t>
            </a:r>
            <a:endParaRPr lang="he-IL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8DD7488C-A128-3354-A220-A9F72637120B}"/>
              </a:ext>
            </a:extLst>
          </p:cNvPr>
          <p:cNvGrpSpPr/>
          <p:nvPr/>
        </p:nvGrpSpPr>
        <p:grpSpPr>
          <a:xfrm>
            <a:off x="954401" y="1579505"/>
            <a:ext cx="3261995" cy="4893310"/>
            <a:chOff x="760750" y="823726"/>
            <a:chExt cx="3261995" cy="4893310"/>
          </a:xfrm>
        </p:grpSpPr>
        <p:pic>
          <p:nvPicPr>
            <p:cNvPr id="12" name="תמונה 11" descr="תמונה שמכילה אדם, לבוש, קערה, קערת ערבוב&#10;&#10;תוכן בינה מלאכותית גנרטיבית עשוי להיות שגוי.">
              <a:extLst>
                <a:ext uri="{FF2B5EF4-FFF2-40B4-BE49-F238E27FC236}">
                  <a16:creationId xmlns:a16="http://schemas.microsoft.com/office/drawing/2014/main" id="{D3700DD0-AE7D-47EE-7291-453B9998E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0750" y="823726"/>
              <a:ext cx="3261995" cy="489331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13" name="תמונה 12">
              <a:extLst>
                <a:ext uri="{FF2B5EF4-FFF2-40B4-BE49-F238E27FC236}">
                  <a16:creationId xmlns:a16="http://schemas.microsoft.com/office/drawing/2014/main" id="{EB9815D5-195C-4C94-AAD8-3912BE0881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alphaModFix amt="6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65820" b="94434" l="67773" r="89990">
                          <a14:foregroundMark x1="67822" y1="70752" x2="67822" y2="70752"/>
                          <a14:foregroundMark x1="86035" y1="65820" x2="86035" y2="65820"/>
                          <a14:backgroundMark x1="89307" y1="90820" x2="89111" y2="89990"/>
                          <a14:backgroundMark x1="88623" y1="89502" x2="90283" y2="91309"/>
                          <a14:backgroundMark x1="87646" y1="88672" x2="86963" y2="87988"/>
                          <a14:backgroundMark x1="90918" y1="90332" x2="90625" y2="90479"/>
                          <a14:backgroundMark x1="88965" y1="90137" x2="88770" y2="90137"/>
                        </a14:backgroundRemoval>
                      </a14:imgEffect>
                      <a14:imgEffect>
                        <a14:colorTemperature colorTemp="5300"/>
                      </a14:imgEffect>
                      <a14:imgEffect>
                        <a14:saturation sat="19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09" t="62716" r="7183" b="1975"/>
            <a:stretch/>
          </p:blipFill>
          <p:spPr>
            <a:xfrm rot="3933051" flipH="1">
              <a:off x="2500967" y="2047054"/>
              <a:ext cx="640715" cy="77851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549417710"/>
      </p:ext>
    </p:extLst>
  </p:cSld>
  <p:clrMapOvr>
    <a:masterClrMapping/>
  </p:clrMapOvr>
  <p:transition spd="slow">
    <p:comb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50" y="2336873"/>
            <a:ext cx="5041628" cy="3599316"/>
          </a:xfrm>
        </p:spPr>
        <p:txBody>
          <a:bodyPr rtlCol="1">
            <a:normAutofit/>
          </a:bodyPr>
          <a:lstStyle/>
          <a:p>
            <a:pPr marL="0" lvl="0" indent="0" algn="just">
              <a:lnSpc>
                <a:spcPct val="170000"/>
              </a:lnSpc>
              <a:buNone/>
            </a:pPr>
            <a:r>
              <a:rPr lang="he-IL" sz="1800" dirty="0">
                <a:solidFill>
                  <a:srgbClr val="000000"/>
                </a:solidFill>
                <a:latin typeface="David" panose="020E0502060401010101" pitchFamily="34" charset="-79"/>
                <a:cs typeface="Times New Roman" panose="02020603050405020304" pitchFamily="18" charset="0"/>
              </a:rPr>
              <a:t>.  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50" y="753228"/>
            <a:ext cx="5041629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54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סולת  (א-ג)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4216D99C-2465-4505-98EE-D8B2C2D93AFC}"/>
              </a:ext>
            </a:extLst>
          </p:cNvPr>
          <p:cNvSpPr/>
          <p:nvPr/>
        </p:nvSpPr>
        <p:spPr>
          <a:xfrm>
            <a:off x="6316133" y="1977794"/>
            <a:ext cx="5740399" cy="2996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914400" rtl="1">
              <a:lnSpc>
                <a:spcPct val="150000"/>
              </a:lnSpc>
              <a:spcBef>
                <a:spcPts val="1000"/>
              </a:spcBef>
            </a:pPr>
            <a:r>
              <a:rPr lang="he-IL" sz="24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 וֶֽהֱבִיאָ֗הּ אֶל־בְּנֵ֣י אַֽהֲרֹן֮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כָּל־לְבֹֽנָתָ֑ה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2800" b="1" dirty="0" err="1"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endParaRPr lang="he-IL" sz="2400" dirty="0">
              <a:solidFill>
                <a:srgbClr val="000000"/>
              </a:solidFill>
              <a:latin typeface="David" panose="020E0502060401010101" pitchFamily="34" charset="-79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תמונה 8" descr="תמונה שמכילה לבוש, פני אדם, תמונה, אד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772DE14-DC88-B34B-78F4-455BF46AE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494" y="940132"/>
            <a:ext cx="3766457" cy="56496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2045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50B072-4123-FDBB-9165-138A8C664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2CABB07-E657-E973-18AB-5AB73CEE4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480" y="1087120"/>
            <a:ext cx="7156132" cy="48241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וְנֶ֗פֶשׁ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וְנָתַ֥ן עָלֶ֖יהָ לְבֹנָֽה׃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וֶֽהֱבִיאָ֗הּ אֶל־בְּנֵ֣י אַֽהֲרֹן֮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3200" dirty="0" err="1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3200" dirty="0" err="1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כָּל־לְבֹֽנָתָ֑ה</a:t>
            </a:r>
            <a:r>
              <a:rPr lang="he-IL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וְהַנּוֹתֶ֨רֶת֙ </a:t>
            </a:r>
            <a:r>
              <a:rPr lang="he-IL" sz="3200" dirty="0" err="1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מִן־הַמִּנְחָ֔ה</a:t>
            </a:r>
            <a:r>
              <a:rPr lang="he-IL" sz="3200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 לְאַֽהֲרֹ֖ן וּלְבָנָ֑יו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קֹ֥דֶשׁ קָֽדָשִׁ֖ים מֵֽאִשֵּׁ֥י ה'׃</a:t>
            </a:r>
            <a:endParaRPr lang="he-IL" sz="32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0992581B-5A7B-A900-F87C-C88F602BFD60}"/>
              </a:ext>
            </a:extLst>
          </p:cNvPr>
          <p:cNvSpPr txBox="1"/>
          <p:nvPr/>
        </p:nvSpPr>
        <p:spPr>
          <a:xfrm>
            <a:off x="6107706" y="182953"/>
            <a:ext cx="39557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1">
              <a:defRPr/>
            </a:pPr>
            <a:r>
              <a:rPr lang="he-IL" sz="5400" b="1" dirty="0">
                <a:solidFill>
                  <a:srgbClr val="4BACC6">
                    <a:lumMod val="75000"/>
                  </a:srgb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מנחת סולת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313F1F5E-0270-A381-8533-8D82E64EC763}"/>
              </a:ext>
            </a:extLst>
          </p:cNvPr>
          <p:cNvSpPr txBox="1"/>
          <p:nvPr/>
        </p:nvSpPr>
        <p:spPr>
          <a:xfrm>
            <a:off x="912534" y="2109299"/>
            <a:ext cx="4419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מי מביא את המנחה?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איזו כמות מן המנחה מקטירים על המזבח?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מה עושים עם הכמות שאינה </a:t>
            </a:r>
            <a:r>
              <a:rPr lang="he-IL" sz="3200" dirty="0" err="1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מוקטרת</a:t>
            </a: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על המזבח? </a:t>
            </a:r>
          </a:p>
        </p:txBody>
      </p:sp>
    </p:spTree>
    <p:extLst>
      <p:ext uri="{BB962C8B-B14F-4D97-AF65-F5344CB8AC3E}">
        <p14:creationId xmlns:p14="http://schemas.microsoft.com/office/powerpoint/2010/main" val="154429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50" y="1834166"/>
            <a:ext cx="5518750" cy="5022154"/>
          </a:xfrm>
        </p:spPr>
        <p:txBody>
          <a:bodyPr rtlCol="1"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sz="24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וְהַנּוֹתֶ֨רֶת֙ </a:t>
            </a:r>
            <a:r>
              <a:rPr lang="he-IL" sz="28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מִן־הַמִּנְחָ֔ה</a:t>
            </a: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לְאַֽהֲרֹ֖ן וּלְבָנָ֑יו 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קֹ֥דֶשׁ קָֽדָשִׁ֖ים מֵֽאִשֵּׁ֥י ה'׃</a:t>
            </a:r>
            <a:endParaRPr lang="he-IL" sz="24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lvl="0" indent="0" algn="just">
              <a:lnSpc>
                <a:spcPct val="170000"/>
              </a:lnSpc>
              <a:buNone/>
            </a:pPr>
            <a:endParaRPr lang="he-IL" sz="1800" dirty="0">
              <a:solidFill>
                <a:srgbClr val="000000"/>
              </a:solidFill>
              <a:latin typeface="David" panose="020E0502060401010101" pitchFamily="34" charset="-79"/>
              <a:cs typeface="Times New Roman" panose="02020603050405020304" pitchFamily="18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50" y="753228"/>
            <a:ext cx="5041629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54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סולת  (א-ג)</a:t>
            </a:r>
          </a:p>
        </p:txBody>
      </p:sp>
      <p:pic>
        <p:nvPicPr>
          <p:cNvPr id="8" name="תמונה 7" descr="תמונה שמכילה אדם, לבוש, פני אדם, קער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09A7E8E-A3BC-D11C-DA43-96D8088F7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065" y="1408923"/>
            <a:ext cx="5094513" cy="50945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8264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415155-8B8E-AAD8-A055-5BBE6CE67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6B03FE-BBD3-4F4F-FB38-468F1FBC4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480" y="1087120"/>
            <a:ext cx="7156132" cy="48241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וְנֶ֗פֶשׁ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וְנָתַ֥ן עָלֶ֖יהָ לְבֹנָֽה׃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וֶֽהֱבִיאָ֗הּ אֶל־בְּנֵ֣י אַֽהֲרֹן֮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כָּל־לְבֹֽנָתָ֑ה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וְהַנּוֹתֶ֨רֶת֙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מִן־הַמִּנְחָ֔ה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לְאַֽהֲרֹ֖ן וּלְבָנָ֑יו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קֹ֥דֶשׁ קָֽדָשִׁ֖ים מֵֽאִשֵּׁ֥י ה'׃</a:t>
            </a:r>
            <a:endParaRPr lang="he-IL" sz="32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D8883E4D-B0C1-D221-F39E-F56878EC99BB}"/>
              </a:ext>
            </a:extLst>
          </p:cNvPr>
          <p:cNvSpPr txBox="1"/>
          <p:nvPr/>
        </p:nvSpPr>
        <p:spPr>
          <a:xfrm>
            <a:off x="6107706" y="182953"/>
            <a:ext cx="39557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1">
              <a:defRPr/>
            </a:pPr>
            <a:r>
              <a:rPr lang="he-IL" sz="5400" b="1" dirty="0">
                <a:solidFill>
                  <a:srgbClr val="4BACC6">
                    <a:lumMod val="75000"/>
                  </a:srgb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מנחת סולת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ACA0E88-CA14-A8C4-E194-303E4565C17F}"/>
              </a:ext>
            </a:extLst>
          </p:cNvPr>
          <p:cNvSpPr txBox="1"/>
          <p:nvPr/>
        </p:nvSpPr>
        <p:spPr>
          <a:xfrm>
            <a:off x="800566" y="1757249"/>
            <a:ext cx="4419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מי מביא את המנחה?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איזו כמות מן המנחה מקטירים על המזבח?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מה עושים עם הכמות שאינה </a:t>
            </a:r>
            <a:r>
              <a:rPr lang="he-IL" sz="3200" dirty="0" err="1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מוקטרת</a:t>
            </a: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על המזבח? </a:t>
            </a:r>
          </a:p>
          <a:p>
            <a:pPr lvl="0" algn="r" rtl="1">
              <a:defRPr/>
            </a:pPr>
            <a:endParaRPr lang="he-IL" sz="3200" dirty="0">
              <a:solidFill>
                <a:schemeClr val="tx1"/>
              </a:solidFill>
              <a:highlight>
                <a:srgbClr val="00FFFF"/>
              </a:highlight>
              <a:latin typeface="David" panose="020E0502060401010101" pitchFamily="34" charset="-79"/>
              <a:cs typeface="David" panose="020E0502060401010101" pitchFamily="34" charset="-79"/>
              <a:sym typeface="Century Gothic"/>
            </a:endParaRPr>
          </a:p>
          <a:p>
            <a:pPr lvl="0" algn="r" rtl="1"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"ונפש כי תקריב- העני המקריב מנחה כאילו הקריב את נפשו" [רש"י]</a:t>
            </a:r>
            <a:endParaRPr lang="he-IL" sz="3200" dirty="0">
              <a:solidFill>
                <a:schemeClr val="tx1"/>
              </a:solidFill>
              <a:highlight>
                <a:srgbClr val="00FFFF"/>
              </a:highlight>
              <a:latin typeface="David" panose="020E0502060401010101" pitchFamily="34" charset="-79"/>
              <a:cs typeface="David" panose="020E0502060401010101" pitchFamily="34" charset="-79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46381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D85DAF-4488-9441-1C99-41416DE9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סיכום קרבן מנחה:  פרק ב פסוקים א-ג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56D942-23DF-839E-587C-D2FFD723BCF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789471" y="1834166"/>
            <a:ext cx="9722207" cy="4527305"/>
          </a:xfrm>
        </p:spPr>
        <p:txBody>
          <a:bodyPr>
            <a:normAutofit/>
          </a:bodyPr>
          <a:lstStyle/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עני מביא מנחה מהצומח, מקמח. [למרות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הקרבן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 הפשוט,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הקרבן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 רצוי לפני ה']</a:t>
            </a: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יש להוסיף לקמח שמן זית, לבונה ומלח.</a:t>
            </a: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מהקרבן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 מקטירים רק קומץ על המזבח.</a:t>
            </a: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את שאר המנחה אוכלים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הכהנים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.</a:t>
            </a: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endParaRPr lang="he-IL" sz="2400" dirty="0">
              <a:solidFill>
                <a:schemeClr val="tx1"/>
              </a:solidFill>
              <a:latin typeface="David" panose="020E0502060401010101" pitchFamily="34" charset="-79"/>
              <a:ea typeface="+mn-ea"/>
              <a:cs typeface="David" panose="020E0502060401010101" pitchFamily="34" charset="-79"/>
            </a:endParaRP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endParaRPr lang="he-IL" dirty="0">
              <a:solidFill>
                <a:schemeClr val="bg1"/>
              </a:solidFill>
              <a:latin typeface="David" panose="020E0502060401010101" pitchFamily="34" charset="-79"/>
              <a:ea typeface="+mn-ea"/>
              <a:cs typeface="David" panose="020E0502060401010101" pitchFamily="34" charset="-79"/>
            </a:endParaRPr>
          </a:p>
        </p:txBody>
      </p:sp>
      <p:pic>
        <p:nvPicPr>
          <p:cNvPr id="8" name="תמונה 7" descr="תמונה שמכילה קטן, פרח, שולחן, ישיבה&#10;&#10;התיאור נוצר באופן אוטומטי">
            <a:extLst>
              <a:ext uri="{FF2B5EF4-FFF2-40B4-BE49-F238E27FC236}">
                <a16:creationId xmlns:a16="http://schemas.microsoft.com/office/drawing/2014/main" id="{22C12B13-FB34-409E-6626-D78EFF1C9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11378" y="2543233"/>
            <a:ext cx="1854294" cy="1032642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683E9688-3CC3-9BA0-C211-3E1CFEAEB8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09" t="62716" r="7183" b="1975"/>
          <a:stretch/>
        </p:blipFill>
        <p:spPr>
          <a:xfrm>
            <a:off x="3265088" y="2317974"/>
            <a:ext cx="1381557" cy="1779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0"/>
          </a:effectLst>
        </p:spPr>
      </p:pic>
      <p:pic>
        <p:nvPicPr>
          <p:cNvPr id="5" name="תמונה 4" descr="תמונה שמכילה לבוש, אדם, פני אדם, איש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82BB9F4-FC22-5349-FB9E-7C26A47EF7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938" t="29943" r="15673" b="46817"/>
          <a:stretch>
            <a:fillRect/>
          </a:stretch>
        </p:blipFill>
        <p:spPr>
          <a:xfrm flipH="1">
            <a:off x="2760983" y="508943"/>
            <a:ext cx="1810139" cy="9363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תמונה 6" descr="תמונה שמכילה אדם, לבוש, איש, קי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D34B951-1262-390C-3C38-1AE30A51F8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6" y="2117554"/>
            <a:ext cx="1336539" cy="20048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תמונה 9" descr="תמונה שמכילה אדם, לבוש, פני אדם, קער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3FFAFEB-6684-CE6E-4BCE-873F5F964E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134" y="4515863"/>
            <a:ext cx="2143849" cy="21438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58157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D85DAF-4488-9441-1C99-41416DE9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סוגים שונים של מנחות [פסוקים ד-ז]</a:t>
            </a:r>
            <a:endParaRPr lang="he-IL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56D942-23DF-839E-587C-D2FFD723BCF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137920" y="1834167"/>
            <a:ext cx="10373758" cy="4505674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sz="2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משימה: את קרבן המנחה אפשר להביא בכל מיני צורות של הכנה .</a:t>
            </a:r>
            <a:br>
              <a:rPr lang="en-US" sz="2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David" panose="020E0502060401010101" pitchFamily="34" charset="-79"/>
              </a:rPr>
            </a:br>
            <a:r>
              <a:rPr lang="he-IL" sz="2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מצאו בפסוקים שלפנינו לפחות שלושה סוגי הכנה של המנחה. כל סוג בא בתחילת פרשיה.</a:t>
            </a:r>
            <a:endParaRPr lang="he-IL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778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D85DAF-4488-9441-1C99-41416DE9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97818" y="605744"/>
            <a:ext cx="9613861" cy="1080938"/>
          </a:xfrm>
        </p:spPr>
        <p:txBody>
          <a:bodyPr>
            <a:normAutofit/>
          </a:bodyPr>
          <a:lstStyle/>
          <a:p>
            <a:pPr algn="r"/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סוגים שונים של מנחות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56D942-23DF-839E-587C-D2FFD723BCF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558212" y="1194318"/>
            <a:ext cx="10273004" cy="542108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ד וְכִ֥י תַקְרִ֛ב קָרְבַּ֥ן מִנְחָ֖ה מַֽאֲפֵ֣ה תַנּ֑וּר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סֹ֣לֶת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חַלּ֤וֹת מַצֹּת֙ 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בְּלוּלֹ֣ת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בַּשֶּׁ֔מֶן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וּרְקִיקֵ֥י מַצּ֖וֹת מְשֻׁחִ֥ים בַּשָּֽׁמֶן׃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 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וְאִם־מִנְחָ֥ה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עַל־הַֽמַּחֲבַ֖ת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קָרְבָּנֶ֑ך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סֹ֛לֶת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בְּלוּלָ֥ה בַשֶּׁ֖מֶן מַצָּ֥ה תִֽהְיֶֽה׃ 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 פָּת֤וֹת אֹתָהּ֙ פִּתִּ֔ים וְיָֽצַקְתָּ֥ עָלֶ֖יהָ שָׁ֑מֶן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מִנְחָ֖ה הִֽוא׃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ז 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וְאִם־מִנְחַ֥ת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מַרְחֶ֖שֶׁת 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קָרְבָּנֶ֑ך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סֹ֥לֶת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בַּשֶּׁ֖מֶן תֵּֽעָשֶֽׂה׃</a:t>
            </a:r>
            <a:endParaRPr lang="he-IL" sz="2400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14221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6D7FF1-0E9D-4B9A-3814-34E388BB8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34FE1C7-8D6E-55CE-A59C-F332B3023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97818" y="605744"/>
            <a:ext cx="9613861" cy="1080938"/>
          </a:xfrm>
        </p:spPr>
        <p:txBody>
          <a:bodyPr>
            <a:normAutofit/>
          </a:bodyPr>
          <a:lstStyle/>
          <a:p>
            <a:pPr algn="r"/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סוגים שונים של מנחות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B36245B-139C-5477-E009-ABBEB31D769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558212" y="1194318"/>
            <a:ext cx="10273004" cy="542108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ד וְכִ֥י תַקְרִ֛ב קָרְבַּ֥ן מִנְחָ֖ה </a:t>
            </a:r>
            <a:r>
              <a:rPr lang="he-IL" sz="26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מַֽאֲפֵ֣ה תַנּ֑וּר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סֹ֣לֶת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חַלּ֤וֹת מַצֹּת֙ 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בְּלוּלֹ֣ת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בַּשֶּׁ֔מֶן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וּרְקִיקֵ֥י מַצּ֖וֹת מְשֻׁחִ֥ים בַּשָּֽׁמֶן׃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 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וְאִם־מִנְחָ֥ה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600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עַל־הַֽמַּחֲבַ֖ת</a:t>
            </a:r>
            <a:r>
              <a:rPr lang="he-IL" sz="26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קָרְבָּנֶ֑ך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סֹ֛לֶת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בְּלוּלָ֥ה בַשֶּׁ֖מֶן מַצָּ֥ה תִֽהְיֶֽה׃ 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 פָּת֤וֹת אֹתָהּ֙ פִּתִּ֔ים וְיָֽצַקְתָּ֥ עָלֶ֖יהָ שָׁ֑מֶן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מִנְחָ֖ה הִֽוא׃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ז 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וְאִם־מִנְחַ֥ת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6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מַרְחֶ֖שֶׁת 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קָרְבָּנֶ֑ך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סֹ֥לֶת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בַּשֶּׁ֖מֶן תֵּֽעָשֶֽׂה׃</a:t>
            </a:r>
            <a:endParaRPr lang="he-IL" sz="2400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38133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50" y="2336873"/>
            <a:ext cx="5041628" cy="3599316"/>
          </a:xfrm>
        </p:spPr>
        <p:txBody>
          <a:bodyPr rtlCol="1">
            <a:normAutofit/>
          </a:bodyPr>
          <a:lstStyle/>
          <a:p>
            <a:pPr marL="0" lvl="0" indent="0" algn="just">
              <a:lnSpc>
                <a:spcPct val="170000"/>
              </a:lnSpc>
              <a:buNone/>
            </a:pPr>
            <a:r>
              <a:rPr lang="he-IL" sz="1800" dirty="0">
                <a:solidFill>
                  <a:srgbClr val="000000"/>
                </a:solidFill>
                <a:latin typeface="David" panose="020E0502060401010101" pitchFamily="34" charset="-79"/>
                <a:cs typeface="Times New Roman" panose="02020603050405020304" pitchFamily="18" charset="0"/>
              </a:rPr>
              <a:t>.  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800298" y="753228"/>
            <a:ext cx="6205433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54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מאפה תנור  (ד)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09C15541-CAF5-4553-A4EC-C8C8E331D544}"/>
              </a:ext>
            </a:extLst>
          </p:cNvPr>
          <p:cNvSpPr/>
          <p:nvPr/>
        </p:nvSpPr>
        <p:spPr>
          <a:xfrm>
            <a:off x="6265333" y="2336872"/>
            <a:ext cx="574039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ד </a:t>
            </a:r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וְכִ֥י תַקְרִ֛ב קָרְבַּ֥ן מִנְחָ֖ה מַֽאֲפֵ֣ה תַנּ֑וּר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סֹ֣לֶת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חַלּ֤וֹת מַצֹּת֙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בְּלוּלֹ֣ת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בַּשֶּׁ֔מֶן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וּרְקִיקֵ֥י מַצּ֖וֹת מְשֻׁחִ֥ים בַּשָּֽׁמֶן׃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sz="2400" dirty="0"/>
          </a:p>
        </p:txBody>
      </p:sp>
      <p:pic>
        <p:nvPicPr>
          <p:cNvPr id="9" name="תמונה 8" descr="תמונה שמכילה לבוש, אדם, קיר, פני אד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3E91ACB-67E3-E7F3-DB7E-0380369E6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050" y="186612"/>
            <a:ext cx="457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4929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7063287" y="1893049"/>
            <a:ext cx="5041628" cy="3599316"/>
          </a:xfrm>
        </p:spPr>
        <p:txBody>
          <a:bodyPr rtlCol="1">
            <a:normAutofit/>
          </a:bodyPr>
          <a:lstStyle/>
          <a:p>
            <a:pPr marL="0" lvl="0" indent="0" algn="just">
              <a:lnSpc>
                <a:spcPct val="170000"/>
              </a:lnSpc>
              <a:buNone/>
            </a:pPr>
            <a:r>
              <a:rPr lang="he-IL" sz="1800" dirty="0">
                <a:solidFill>
                  <a:srgbClr val="000000"/>
                </a:solidFill>
                <a:latin typeface="David" panose="020E0502060401010101" pitchFamily="34" charset="-79"/>
                <a:cs typeface="Times New Roman" panose="02020603050405020304" pitchFamily="18" charset="0"/>
              </a:rPr>
              <a:t>.  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48" y="753228"/>
            <a:ext cx="5475209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60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מחבת  </a:t>
            </a:r>
            <a:r>
              <a:rPr lang="he-IL" sz="53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(ה-ו)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FBF15A2D-A159-4CDA-89CC-A4162985E919}"/>
              </a:ext>
            </a:extLst>
          </p:cNvPr>
          <p:cNvSpPr/>
          <p:nvPr/>
        </p:nvSpPr>
        <p:spPr>
          <a:xfrm>
            <a:off x="6226628" y="1977794"/>
            <a:ext cx="571862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ה 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וְאִם־מִנְחָ֥ה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עַל־הַֽמַּחֲבַ֖ת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קָרְבָּנֶ֑ך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b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סֹ֛לֶת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בְּלוּלָ֥ה בַשֶּׁ֖מֶן מַצָּ֥ה תִֽהְיֶֽה׃ </a:t>
            </a:r>
            <a:b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endParaRPr lang="he-IL" sz="2800" dirty="0"/>
          </a:p>
        </p:txBody>
      </p:sp>
      <p:pic>
        <p:nvPicPr>
          <p:cNvPr id="9" name="תמונה 8" descr="תמונה שמכילה אדם, איש, לבוש, אוכ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26D6091-8DD1-A38C-A5E2-3B35911C7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3" y="-47549"/>
            <a:ext cx="457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2098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50" y="2336873"/>
            <a:ext cx="5041628" cy="3599316"/>
          </a:xfrm>
        </p:spPr>
        <p:txBody>
          <a:bodyPr rtlCol="1">
            <a:normAutofit/>
          </a:bodyPr>
          <a:lstStyle/>
          <a:p>
            <a:pPr marL="0" lvl="0" indent="0" algn="just">
              <a:lnSpc>
                <a:spcPct val="170000"/>
              </a:lnSpc>
              <a:buNone/>
            </a:pPr>
            <a:r>
              <a:rPr lang="he-IL" sz="1800" dirty="0">
                <a:solidFill>
                  <a:srgbClr val="000000"/>
                </a:solidFill>
                <a:latin typeface="David" panose="020E0502060401010101" pitchFamily="34" charset="-79"/>
                <a:cs typeface="Times New Roman" panose="02020603050405020304" pitchFamily="18" charset="0"/>
              </a:rPr>
              <a:t>.  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095999" y="717319"/>
            <a:ext cx="5818496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60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מרחשת   </a:t>
            </a:r>
            <a:r>
              <a:rPr lang="he-IL" sz="48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(ז)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F3FBF12E-13A7-46EC-B482-09BDBABFEF63}"/>
              </a:ext>
            </a:extLst>
          </p:cNvPr>
          <p:cNvSpPr/>
          <p:nvPr/>
        </p:nvSpPr>
        <p:spPr>
          <a:xfrm>
            <a:off x="6904383" y="1977794"/>
            <a:ext cx="4880685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ז </a:t>
            </a:r>
            <a:r>
              <a:rPr lang="he-IL" sz="3200" b="1" dirty="0" err="1">
                <a:latin typeface="David" panose="020E0502060401010101" pitchFamily="34" charset="-79"/>
                <a:cs typeface="David" panose="020E0502060401010101" pitchFamily="34" charset="-79"/>
              </a:rPr>
              <a:t>וְאִם־מִנְחַ֥ת</a:t>
            </a:r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 מַרְחֶ֖שֶׁת </a:t>
            </a:r>
            <a:r>
              <a:rPr lang="he-IL" sz="3200" b="1" dirty="0" err="1">
                <a:latin typeface="David" panose="020E0502060401010101" pitchFamily="34" charset="-79"/>
                <a:cs typeface="David" panose="020E0502060401010101" pitchFamily="34" charset="-79"/>
              </a:rPr>
              <a:t>קָרְבָּנֶ֑ך</a:t>
            </a:r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br>
              <a:rPr lang="en-US" sz="2800" b="1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סֹ֥לֶת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בַּשֶּׁ֖מֶן תֵּֽעָשֶֽׂה׃ </a:t>
            </a:r>
            <a:r>
              <a:rPr lang="he-IL" sz="5400" dirty="0">
                <a:solidFill>
                  <a:srgbClr val="000000"/>
                </a:solidFill>
                <a:latin typeface="David" panose="020E0502060401010101" pitchFamily="34" charset="-79"/>
                <a:ea typeface="Tahoma" panose="020B0604030504040204" pitchFamily="34" charset="0"/>
                <a:cs typeface="Times New Roman" panose="02020603050405020304" pitchFamily="18" charset="0"/>
              </a:rPr>
              <a:t> </a:t>
            </a:r>
            <a:endParaRPr lang="he-IL" sz="5400" dirty="0"/>
          </a:p>
        </p:txBody>
      </p:sp>
      <p:pic>
        <p:nvPicPr>
          <p:cNvPr id="9" name="תמונה 8" descr="תמונה שמכילה אדם, קיר, לבוש, בתוך מב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3651ADE-0AB6-CB41-6C46-403CAE3D5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461" y="494227"/>
            <a:ext cx="4062124" cy="60931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9601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D85DAF-4488-9441-1C99-41416DE9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97818" y="605744"/>
            <a:ext cx="9613861" cy="1080938"/>
          </a:xfrm>
        </p:spPr>
        <p:txBody>
          <a:bodyPr>
            <a:normAutofit/>
          </a:bodyPr>
          <a:lstStyle/>
          <a:p>
            <a:pPr algn="r"/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הדינים </a:t>
            </a:r>
            <a:r>
              <a:rPr lang="he-IL" sz="4400" dirty="0" err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לקרבנות</a:t>
            </a:r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המנחה ח-</a:t>
            </a:r>
            <a:r>
              <a:rPr lang="he-IL" sz="4400" dirty="0" err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endParaRPr lang="he-IL" sz="44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56D942-23DF-839E-587C-D2FFD723BCF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789470" y="1474840"/>
            <a:ext cx="9989574" cy="4886632"/>
          </a:xfrm>
        </p:spPr>
        <p:txBody>
          <a:bodyPr>
            <a:normAutofit/>
          </a:bodyPr>
          <a:lstStyle/>
          <a:p>
            <a:pPr marL="1143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משימה: </a:t>
            </a:r>
          </a:p>
          <a:p>
            <a:pPr marL="0" indent="0">
              <a:spcBef>
                <a:spcPct val="0"/>
              </a:spcBef>
              <a:spcAft>
                <a:spcPts val="800"/>
              </a:spcAft>
              <a:buNone/>
            </a:pPr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נסו למצוא לפחות שלושה כללים [מצוות] להקרבת קרבן מנחה!</a:t>
            </a:r>
            <a:endParaRPr lang="en-US" sz="44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endParaRPr lang="he-IL" sz="3600" dirty="0">
              <a:solidFill>
                <a:schemeClr val="bg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166499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D85DAF-4488-9441-1C99-41416DE9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97818" y="605744"/>
            <a:ext cx="9613861" cy="1080938"/>
          </a:xfrm>
        </p:spPr>
        <p:txBody>
          <a:bodyPr>
            <a:normAutofit/>
          </a:bodyPr>
          <a:lstStyle/>
          <a:p>
            <a:pPr algn="r"/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הדינים </a:t>
            </a:r>
            <a:r>
              <a:rPr lang="he-IL" sz="4400" dirty="0" err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לקרבנות</a:t>
            </a:r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המנחה יא-</a:t>
            </a:r>
            <a:r>
              <a:rPr lang="he-IL" sz="4400" dirty="0" err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endParaRPr lang="he-IL" sz="44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56D942-23DF-839E-587C-D2FFD723BCF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789470" y="1474840"/>
            <a:ext cx="9989574" cy="488663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he-IL" sz="2400" b="1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יא.</a:t>
            </a:r>
            <a:r>
              <a:rPr lang="he-IL" sz="24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 כָּל-הַמִּנְחָה, אֲשֶׁר תַּקְרִיבוּ לַה' -לֹא תֵעָשֶׂה, חָמֵץ:  כִּי כָל-שְׂאֹר וְכָל-דְּבַשׁ, לֹא-תַקְטִירוּ מִמֶּנּוּ </a:t>
            </a:r>
            <a:r>
              <a:rPr lang="he-IL" sz="2400" dirty="0" err="1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אִשֶּׁה</a:t>
            </a:r>
            <a:r>
              <a:rPr lang="he-IL" sz="24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לַה'.  </a:t>
            </a:r>
            <a:r>
              <a:rPr lang="he-IL" sz="2400" b="1" dirty="0" err="1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יב</a:t>
            </a:r>
            <a:r>
              <a:rPr lang="he-IL" sz="2400" b="1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.</a:t>
            </a:r>
            <a:r>
              <a:rPr lang="he-IL" sz="24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 קָרְבַּן רֵאשִׁית תַּקְרִיבוּ אֹתָם, לַה'; וְאֶל-הַמִּזְבֵּחַ לֹא-יַעֲלוּ, לְרֵיחַ </a:t>
            </a:r>
            <a:r>
              <a:rPr lang="he-IL" sz="2400" dirty="0" err="1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נִיחֹח</a:t>
            </a:r>
            <a:r>
              <a:rPr lang="he-IL" sz="24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ַ.  </a:t>
            </a:r>
            <a:r>
              <a:rPr lang="he-IL" sz="2400" b="1" dirty="0" err="1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יג</a:t>
            </a:r>
            <a:r>
              <a:rPr lang="he-IL" sz="2400" b="1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.</a:t>
            </a:r>
            <a:r>
              <a:rPr lang="he-IL" sz="24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 וְכָל-קָרְבַּן מִנְחָתְךָ, בַּמֶּלַח תִּמְלָח, וְלֹא תַשְׁבִּית מֶלַח בְּרִית </a:t>
            </a:r>
            <a:r>
              <a:rPr lang="he-IL" sz="2400" dirty="0" err="1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אֱל-ֹהֶיך</a:t>
            </a:r>
            <a:r>
              <a:rPr lang="he-IL" sz="24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ָ, מֵעַל מִנְחָתֶךָ; עַל </a:t>
            </a:r>
            <a:r>
              <a:rPr lang="he-IL" sz="2400" dirty="0" err="1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כָּל-קָרְבָּנְך</a:t>
            </a:r>
            <a:r>
              <a:rPr lang="he-IL" sz="24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ָ, תַּקְרִיב מֶלַח. </a:t>
            </a:r>
            <a:endParaRPr lang="he-IL" sz="24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53236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D85DAF-4488-9441-1C99-41416DE9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97818" y="605744"/>
            <a:ext cx="9613861" cy="1080938"/>
          </a:xfrm>
        </p:spPr>
        <p:txBody>
          <a:bodyPr>
            <a:normAutofit/>
          </a:bodyPr>
          <a:lstStyle/>
          <a:p>
            <a:pPr algn="r"/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הדינים </a:t>
            </a:r>
            <a:r>
              <a:rPr lang="he-IL" sz="4400" dirty="0" err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לקרבנות</a:t>
            </a:r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המנחה יא-</a:t>
            </a:r>
            <a:r>
              <a:rPr lang="he-IL" sz="4400" dirty="0" err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endParaRPr lang="he-IL" sz="44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56D942-23DF-839E-587C-D2FFD723BCF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789470" y="1474840"/>
            <a:ext cx="9989574" cy="488663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he-IL" sz="2400" b="1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יא. 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כָּל-הַמִּנְחָה, אֲשֶׁר תַּקְרִיבוּ לַה' </a:t>
            </a:r>
            <a:r>
              <a:rPr lang="he-IL" sz="2400" dirty="0">
                <a:solidFill>
                  <a:schemeClr val="bg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-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לֹא תֵעָשֶׂה, חָמֵץ</a:t>
            </a:r>
            <a:r>
              <a:rPr lang="he-IL" sz="2400" dirty="0">
                <a:solidFill>
                  <a:schemeClr val="bg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: 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כִּי כָל-שְׂאֹר וְכָל-דְּבַשׁ, לֹא-תַקְטִירוּ מִמֶּנּוּ </a:t>
            </a:r>
            <a:r>
              <a:rPr lang="he-IL" sz="2400" b="1" dirty="0" err="1">
                <a:solidFill>
                  <a:srgbClr val="FF0000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אִשֶּׁה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לַה'</a:t>
            </a:r>
            <a:r>
              <a:rPr lang="he-IL" sz="2400" dirty="0">
                <a:solidFill>
                  <a:schemeClr val="bg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.  </a:t>
            </a:r>
            <a:r>
              <a:rPr lang="he-IL" sz="2400" b="1" dirty="0" err="1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יב</a:t>
            </a:r>
            <a:r>
              <a:rPr lang="he-IL" sz="2400" b="1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. 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קָרְבַּן רֵאשִׁית תַּקְרִיבוּ אֹתָם, לַה'; וְאֶל-הַמִּזְבֵּחַ לֹא-יַעֲלוּ, לְרֵיחַ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נִיחֹח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ַ.  </a:t>
            </a:r>
            <a:r>
              <a:rPr lang="he-IL" sz="2400" b="1" dirty="0" err="1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יג</a:t>
            </a:r>
            <a:r>
              <a:rPr lang="he-IL" sz="2400" b="1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. 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וְכָל-קָרְבַּן מִנְחָתְךָ, בַּמֶּלַח תִּמְלָח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, וְלֹא תַשְׁבִּית מֶלַח בְּרִית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אֱל-ֹהֶיך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ָ, מֵעַל מִנְחָתֶךָ; עַל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כָּל-קָרְבָּנְך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ָ, תַּקְרִיב מֶלַח. </a:t>
            </a:r>
          </a:p>
        </p:txBody>
      </p:sp>
    </p:spTree>
    <p:extLst>
      <p:ext uri="{BB962C8B-B14F-4D97-AF65-F5344CB8AC3E}">
        <p14:creationId xmlns:p14="http://schemas.microsoft.com/office/powerpoint/2010/main" val="2269102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733260-BC58-370E-722F-6C07DACF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CBFA82F-A4C6-4923-5665-F76892BF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97818" y="605744"/>
            <a:ext cx="9613861" cy="1080938"/>
          </a:xfrm>
        </p:spPr>
        <p:txBody>
          <a:bodyPr>
            <a:normAutofit/>
          </a:bodyPr>
          <a:lstStyle/>
          <a:p>
            <a:pPr algn="r"/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הדינים </a:t>
            </a:r>
            <a:r>
              <a:rPr lang="he-IL" sz="4400" dirty="0" err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לקרבנות</a:t>
            </a:r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המנחה יא-</a:t>
            </a:r>
            <a:r>
              <a:rPr lang="he-IL" sz="4400" dirty="0" err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endParaRPr lang="he-IL" sz="44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A976930-2D88-A9F0-9781-9FEE5C21D1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789470" y="1474840"/>
            <a:ext cx="9989574" cy="488663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he-IL" sz="2400" b="1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לא כל </a:t>
            </a:r>
            <a:r>
              <a:rPr lang="he-IL" sz="2400" b="1" dirty="0" err="1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הקרבנות</a:t>
            </a:r>
            <a:r>
              <a:rPr lang="he-IL" sz="2400" b="1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עולים על האש [קרבן </a:t>
            </a:r>
            <a:r>
              <a:rPr lang="he-IL" sz="2400" b="1" dirty="0" err="1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אשה</a:t>
            </a:r>
            <a:r>
              <a:rPr lang="he-IL" sz="2400" b="1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] </a:t>
            </a:r>
          </a:p>
          <a:p>
            <a:pPr marL="114300" indent="0">
              <a:buNone/>
            </a:pPr>
            <a:r>
              <a:rPr lang="he-IL" sz="2400" b="1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לכן, אנשים עלולים לעשות טעות בגלל שהם מקריבים פירות [ביכורים] וחמץ [שתי הלחם] בשבועות.</a:t>
            </a:r>
            <a:endParaRPr lang="he-IL" sz="2400" dirty="0">
              <a:solidFill>
                <a:schemeClr val="tx1"/>
              </a:solidFill>
              <a:latin typeface="David" panose="020E0502060401010101" pitchFamily="34" charset="-79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398897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552152" y="753228"/>
            <a:ext cx="6512468" cy="1400692"/>
          </a:xfrm>
        </p:spPr>
        <p:txBody>
          <a:bodyPr rtlCol="1">
            <a:normAutofit/>
          </a:bodyPr>
          <a:lstStyle/>
          <a:p>
            <a:pPr algn="r"/>
            <a:r>
              <a:rPr lang="he-IL" sz="4000" dirty="0">
                <a:cs typeface="+mj-cs"/>
              </a:rPr>
              <a:t>הדינים לקורבנות המנחה   (ח-</a:t>
            </a:r>
            <a:r>
              <a:rPr lang="he-IL" sz="4000" dirty="0" err="1">
                <a:cs typeface="+mj-cs"/>
              </a:rPr>
              <a:t>יג</a:t>
            </a:r>
            <a:r>
              <a:rPr lang="he-IL" sz="4000" dirty="0">
                <a:cs typeface="+mj-cs"/>
              </a:rPr>
              <a:t>)</a:t>
            </a:r>
            <a:br>
              <a:rPr lang="he-IL" sz="4000" dirty="0">
                <a:cs typeface="+mj-cs"/>
              </a:rPr>
            </a:br>
            <a:endParaRPr lang="he-IL" sz="4000" dirty="0">
              <a:cs typeface="+mj-cs"/>
            </a:endParaRPr>
          </a:p>
        </p:txBody>
      </p:sp>
      <p:sp>
        <p:nvSpPr>
          <p:cNvPr id="4" name="חץ: למטה 3">
            <a:extLst>
              <a:ext uri="{FF2B5EF4-FFF2-40B4-BE49-F238E27FC236}">
                <a16:creationId xmlns:a16="http://schemas.microsoft.com/office/drawing/2014/main" id="{CCB6497E-8EB5-4BCC-AD8D-56F44B47878C}"/>
              </a:ext>
            </a:extLst>
          </p:cNvPr>
          <p:cNvSpPr/>
          <p:nvPr/>
        </p:nvSpPr>
        <p:spPr>
          <a:xfrm rot="5400000">
            <a:off x="7232108" y="4768885"/>
            <a:ext cx="484632" cy="2957014"/>
          </a:xfrm>
          <a:prstGeom prst="downArrow">
            <a:avLst/>
          </a:prstGeom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B7AFF012-2F26-4B48-AAF0-B3B98D7F3241}"/>
              </a:ext>
            </a:extLst>
          </p:cNvPr>
          <p:cNvSpPr txBox="1"/>
          <p:nvPr/>
        </p:nvSpPr>
        <p:spPr>
          <a:xfrm>
            <a:off x="2621902" y="4891992"/>
            <a:ext cx="3374015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8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קרבן ראשית – שתי הלחם של עצרת (חג השבועות) והוא הקורבן שאפשר להקריב בו שאור ה</a:t>
            </a:r>
            <a:r>
              <a:rPr lang="he-IL" sz="18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נאפה חמץ </a:t>
            </a:r>
            <a:r>
              <a:rPr lang="he-IL" sz="18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וקרבן הביכורים שהוא מפירות ונקרא בלשון התורה </a:t>
            </a:r>
            <a:r>
              <a:rPr lang="he-IL" sz="18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דבש</a:t>
            </a:r>
            <a:r>
              <a:rPr lang="he-IL" sz="18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!     ניתנים רק </a:t>
            </a:r>
            <a:r>
              <a:rPr lang="he-IL" sz="1800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לכהנים</a:t>
            </a:r>
            <a:r>
              <a:rPr lang="he-IL" sz="18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אך </a:t>
            </a:r>
            <a:r>
              <a:rPr lang="he-IL" sz="18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לא עולים למזבח!</a:t>
            </a:r>
          </a:p>
        </p:txBody>
      </p:sp>
      <p:pic>
        <p:nvPicPr>
          <p:cNvPr id="8" name="תמונה 7" descr="תמונה שמכילה כריך, לחם, מזון, ישיבה&#10;&#10;התיאור נוצר באופן אוטומטי">
            <a:extLst>
              <a:ext uri="{FF2B5EF4-FFF2-40B4-BE49-F238E27FC236}">
                <a16:creationId xmlns:a16="http://schemas.microsoft.com/office/drawing/2014/main" id="{43A1D2FD-0677-4274-BD16-5E13E80A3B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185" r="3364"/>
          <a:stretch/>
        </p:blipFill>
        <p:spPr>
          <a:xfrm>
            <a:off x="331411" y="5288655"/>
            <a:ext cx="2152482" cy="1432842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F572F492-39D9-4C8A-B937-438EA0B66F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64" t="24184" b="42794"/>
          <a:stretch/>
        </p:blipFill>
        <p:spPr>
          <a:xfrm>
            <a:off x="2753534" y="318406"/>
            <a:ext cx="3479753" cy="1610436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13" name="תמונה 12" descr="תמונה שמכילה שולחן, קערה, לוח, ישיבה&#10;&#10;התיאור נוצר באופן אוטומטי">
            <a:extLst>
              <a:ext uri="{FF2B5EF4-FFF2-40B4-BE49-F238E27FC236}">
                <a16:creationId xmlns:a16="http://schemas.microsoft.com/office/drawing/2014/main" id="{AFD28AB2-260B-461D-A874-F9C516CA124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593" t="19925" r="47892" b="14711"/>
          <a:stretch>
            <a:fillRect/>
          </a:stretch>
        </p:blipFill>
        <p:spPr>
          <a:xfrm>
            <a:off x="2239348" y="2126464"/>
            <a:ext cx="2715208" cy="2370283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D47AB3EC-7E0D-37FA-49F0-776117C4B1A2}"/>
              </a:ext>
            </a:extLst>
          </p:cNvPr>
          <p:cNvSpPr txBox="1"/>
          <p:nvPr/>
        </p:nvSpPr>
        <p:spPr>
          <a:xfrm>
            <a:off x="5486400" y="3172399"/>
            <a:ext cx="613954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 יא </a:t>
            </a: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כָּל־הַמִּנְחָ֗ה</a:t>
            </a: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אֲשֶׁ֤ר תַּקְרִ֨יבוּ֙ לַֽה֔'</a:t>
            </a:r>
          </a:p>
          <a:p>
            <a:pPr algn="r" rtl="1"/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לֹ֥א תֵֽעָשֶׂ֖ה </a:t>
            </a:r>
            <a:r>
              <a:rPr lang="he-IL" sz="3200" b="1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חָמֵ֑ץ </a:t>
            </a:r>
            <a:endParaRPr lang="he-IL" sz="2800" b="1" dirty="0">
              <a:solidFill>
                <a:srgbClr val="3F3F3F"/>
              </a:solidFill>
              <a:latin typeface="David" panose="020E0502060401010101" pitchFamily="34" charset="-79"/>
              <a:cs typeface="David" panose="020E0502060401010101" pitchFamily="34" charset="-79"/>
              <a:sym typeface="Century Gothic"/>
            </a:endParaRPr>
          </a:p>
          <a:p>
            <a:pPr algn="r" rtl="1"/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כִּ֤י </a:t>
            </a: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כָל־</a:t>
            </a:r>
            <a:r>
              <a:rPr lang="he-IL" sz="2800" b="1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שְׂאֹר</a:t>
            </a:r>
            <a:r>
              <a:rPr lang="he-IL" sz="2800" b="1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֙ </a:t>
            </a: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וְכָל־</a:t>
            </a:r>
            <a:r>
              <a:rPr lang="he-IL" sz="2800" b="1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דְּבַ֔ש</a:t>
            </a:r>
            <a:r>
              <a:rPr lang="he-IL" sz="2800" b="1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ׁ </a:t>
            </a:r>
            <a:br>
              <a:rPr lang="en-US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</a:b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לֹֽא־תַקְטִ֧ירו</a:t>
            </a: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ּ מִמֶּ֛נּוּ </a:t>
            </a: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אִשֶּׁ֖ה</a:t>
            </a: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לַהֽ'׃ </a:t>
            </a:r>
            <a:br>
              <a:rPr lang="en-US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</a:b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יב</a:t>
            </a: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 </a:t>
            </a:r>
            <a:r>
              <a:rPr lang="he-IL" sz="2800" b="1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קָרְבַּ֥ן רֵאשִׁ֛ית </a:t>
            </a: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תַּקְרִ֥יבוּ אֹתָ֖ם לַַֽ֑ה' </a:t>
            </a:r>
            <a:br>
              <a:rPr lang="en-US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</a:b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וְאֶל־הַמִּזְבֵּ֥ח</a:t>
            </a: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ַ </a:t>
            </a: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לֹֽא־יַעֲל֖ו</a:t>
            </a: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ּ </a:t>
            </a:r>
            <a:br>
              <a:rPr lang="en-US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</a:b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לְרֵ֥יחַ </a:t>
            </a: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נִיחֹֽח</a:t>
            </a: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ַ׃ </a:t>
            </a:r>
          </a:p>
        </p:txBody>
      </p:sp>
    </p:spTree>
    <p:extLst>
      <p:ext uri="{BB962C8B-B14F-4D97-AF65-F5344CB8AC3E}">
        <p14:creationId xmlns:p14="http://schemas.microsoft.com/office/powerpoint/2010/main" val="315272582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50" y="2336873"/>
            <a:ext cx="5041628" cy="3599316"/>
          </a:xfrm>
        </p:spPr>
        <p:txBody>
          <a:bodyPr rtlCol="1">
            <a:normAutofit/>
          </a:bodyPr>
          <a:lstStyle/>
          <a:p>
            <a:pPr marL="0" indent="0">
              <a:buNone/>
            </a:pP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וְכָל־קָרְבַּ֣ן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מִנְחָֽתְךָ֮ </a:t>
            </a: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בַּמֶּ֣לַח תִּמְלָח֒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וְלֹ֣א תַשְׁבִּ֗ית </a:t>
            </a: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מֶ֚לַח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בְּרִ֣ית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אֱלֹהֶ֔יך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מֵעַ֖ל מִנְחָתֶ֑ךָ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עַ֥ל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כָּל־קָרְבָּֽנְך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ָ֖ תַּקְרִ֥יב </a:t>
            </a: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מֶֽלַח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׃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500048" y="753228"/>
            <a:ext cx="6550922" cy="1451492"/>
          </a:xfrm>
        </p:spPr>
        <p:txBody>
          <a:bodyPr rtlCol="1">
            <a:normAutofit/>
          </a:bodyPr>
          <a:lstStyle/>
          <a:p>
            <a:pPr algn="r"/>
            <a:r>
              <a:rPr lang="he-IL" sz="4000" dirty="0">
                <a:cs typeface="+mj-cs"/>
              </a:rPr>
              <a:t>הדינים לקורבנות המנחה   (יא-</a:t>
            </a:r>
            <a:r>
              <a:rPr lang="he-IL" sz="4000" dirty="0" err="1">
                <a:cs typeface="+mj-cs"/>
              </a:rPr>
              <a:t>יג</a:t>
            </a:r>
            <a:r>
              <a:rPr lang="he-IL" sz="4000" dirty="0">
                <a:cs typeface="+mj-cs"/>
              </a:rPr>
              <a:t>)</a:t>
            </a:r>
            <a:br>
              <a:rPr lang="he-IL" sz="4000" dirty="0">
                <a:cs typeface="+mj-cs"/>
              </a:rPr>
            </a:br>
            <a:endParaRPr lang="he-IL" sz="4000" dirty="0">
              <a:cs typeface="+mj-cs"/>
            </a:endParaRPr>
          </a:p>
        </p:txBody>
      </p:sp>
      <p:pic>
        <p:nvPicPr>
          <p:cNvPr id="5" name="תמונה 4" descr="תמונה שמכילה ישיבה, סופגנייה, שולחן, מזון&#10;&#10;התיאור נוצר באופן אוטומטי">
            <a:extLst>
              <a:ext uri="{FF2B5EF4-FFF2-40B4-BE49-F238E27FC236}">
                <a16:creationId xmlns:a16="http://schemas.microsoft.com/office/drawing/2014/main" id="{EAF4E227-3592-451D-9B36-B7D24D0EB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22" y="1691185"/>
            <a:ext cx="4819726" cy="4819726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325318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Inverted="1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237026" y="2183642"/>
            <a:ext cx="5663821" cy="4490113"/>
          </a:xfrm>
        </p:spPr>
        <p:txBody>
          <a:bodyPr rtlCol="1">
            <a:normAutofit/>
          </a:bodyPr>
          <a:lstStyle/>
          <a:p>
            <a:pPr marL="0" lvl="0" indent="0">
              <a:lnSpc>
                <a:spcPct val="170000"/>
              </a:lnSpc>
              <a:buNone/>
            </a:pP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 יד 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וְאִם־תַּקְרִ֛יב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מִנְחַ֥ת בִּכּוּרִ֖ים לַַֽ֑ה'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אָבִ֞יב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קָל֤וּי בָּאֵשׁ֙ </a:t>
            </a: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גֶּ֣רֶשׂ כַּרְמֶ֔ל </a:t>
            </a:r>
            <a:b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תַּקְרִ֕יב אֵ֖ת מִנְחַ֥ת בִּכּוּרֶֽיךָ׃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237026" y="753228"/>
            <a:ext cx="5800298" cy="1080938"/>
          </a:xfrm>
        </p:spPr>
        <p:txBody>
          <a:bodyPr rtlCol="1">
            <a:normAutofit/>
          </a:bodyPr>
          <a:lstStyle/>
          <a:p>
            <a:r>
              <a:rPr lang="he-IL" sz="5400" dirty="0">
                <a:cs typeface="+mj-cs"/>
              </a:rPr>
              <a:t>מִנְחַת בִּכּוּרִים </a:t>
            </a:r>
            <a:r>
              <a:rPr lang="he-IL" sz="2000" dirty="0">
                <a:cs typeface="+mj-cs"/>
              </a:rPr>
              <a:t>מנחת חובה   </a:t>
            </a:r>
            <a:r>
              <a:rPr lang="he-IL" dirty="0">
                <a:cs typeface="+mj-cs"/>
              </a:rPr>
              <a:t>(יד-</a:t>
            </a:r>
            <a:r>
              <a:rPr lang="he-IL" dirty="0" err="1">
                <a:cs typeface="+mj-cs"/>
              </a:rPr>
              <a:t>טז</a:t>
            </a:r>
            <a:r>
              <a:rPr lang="he-IL" dirty="0">
                <a:cs typeface="+mj-cs"/>
              </a:rPr>
              <a:t>)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+mj-cs"/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7A699400-7C0D-4863-8D8D-97F5AD9C0CC6}"/>
              </a:ext>
            </a:extLst>
          </p:cNvPr>
          <p:cNvSpPr txBox="1"/>
          <p:nvPr/>
        </p:nvSpPr>
        <p:spPr>
          <a:xfrm>
            <a:off x="550460" y="1384981"/>
            <a:ext cx="5686566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avid" panose="020E0502060401010101" pitchFamily="34" charset="-79"/>
                <a:cs typeface="David" panose="020E0502060401010101" pitchFamily="34" charset="-79"/>
              </a:rPr>
              <a:t>מנחת ביכורים – בארץ ישראל, ביום השני של פסח, </a:t>
            </a:r>
            <a:r>
              <a:rPr lang="he-I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avid" panose="020E0502060401010101" pitchFamily="34" charset="-79"/>
                <a:cs typeface="David" panose="020E0502060401010101" pitchFamily="34" charset="-79"/>
              </a:rPr>
              <a:t>מנחת עומר שעורים </a:t>
            </a:r>
            <a:r>
              <a:rPr lang="he-IL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avid" panose="020E0502060401010101" pitchFamily="34" charset="-79"/>
                <a:cs typeface="David" panose="020E0502060401010101" pitchFamily="34" charset="-79"/>
              </a:rPr>
              <a:t>מהתבואה החדשה. </a:t>
            </a:r>
            <a:r>
              <a:rPr lang="he-IL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avid" panose="020E0502060401010101" pitchFamily="34" charset="-79"/>
                <a:cs typeface="David" panose="020E0502060401010101" pitchFamily="34" charset="-79"/>
              </a:rPr>
              <a:t>מייבשין</a:t>
            </a:r>
            <a:r>
              <a:rPr lang="he-IL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avid" panose="020E0502060401010101" pitchFamily="34" charset="-79"/>
                <a:cs typeface="David" panose="020E0502060401010101" pitchFamily="34" charset="-79"/>
              </a:rPr>
              <a:t> אותה על האור באבוב של קליות (כי היא לחה) ואז טוחנים אותה ולוקחים עשרון נקי. (גרש –טחינה גסה, כרמל – שיבולים לחות.)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710EEE4F-9D69-44B2-8D7F-E4159C069B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12" t="10983" r="4153" b="4080"/>
          <a:stretch/>
        </p:blipFill>
        <p:spPr>
          <a:xfrm>
            <a:off x="944296" y="2883158"/>
            <a:ext cx="5403233" cy="367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01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D85DAF-4488-9441-1C99-41416DE9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סיכום קרבן מנחה:  פרק ב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56D942-23DF-839E-587C-D2FFD723BCF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789471" y="1834166"/>
            <a:ext cx="9722207" cy="4527305"/>
          </a:xfrm>
        </p:spPr>
        <p:txBody>
          <a:bodyPr>
            <a:normAutofit/>
          </a:bodyPr>
          <a:lstStyle/>
          <a:p>
            <a:pPr marL="342900" indent="-342900" defTabSz="457200">
              <a:lnSpc>
                <a:spcPct val="100000"/>
              </a:lnSpc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עני מביא מנחה מהצומח, מקמח. [למרות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הקרבן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 הפשוט,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הקרבן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 רצוי לפני ה']</a:t>
            </a:r>
          </a:p>
          <a:p>
            <a:pPr marL="342900" indent="-342900" defTabSz="457200">
              <a:lnSpc>
                <a:spcPct val="100000"/>
              </a:lnSpc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יש להוסיף לקמח שמן זית, לבונה ומלח.</a:t>
            </a:r>
          </a:p>
          <a:p>
            <a:pPr marL="342900" indent="-342900" defTabSz="457200">
              <a:lnSpc>
                <a:spcPct val="100000"/>
              </a:lnSpc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מהקרבן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 מקטירים רק קומץ על המזבח.</a:t>
            </a:r>
          </a:p>
          <a:p>
            <a:pPr marL="342900" indent="-342900" defTabSz="457200">
              <a:lnSpc>
                <a:spcPct val="100000"/>
              </a:lnSpc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את שאר המנחה אוכלים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הכהנים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.</a:t>
            </a: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endParaRPr lang="he-IL" dirty="0">
              <a:solidFill>
                <a:schemeClr val="tx1"/>
              </a:solidFill>
              <a:latin typeface="David" panose="020E0502060401010101" pitchFamily="34" charset="-79"/>
              <a:ea typeface="+mn-ea"/>
              <a:cs typeface="David" panose="020E0502060401010101" pitchFamily="34" charset="-79"/>
            </a:endParaRP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endParaRPr lang="he-IL" dirty="0">
              <a:solidFill>
                <a:schemeClr val="tx1"/>
              </a:solidFill>
              <a:latin typeface="David" panose="020E0502060401010101" pitchFamily="34" charset="-79"/>
              <a:ea typeface="+mn-ea"/>
              <a:cs typeface="David" panose="020E0502060401010101" pitchFamily="34" charset="-79"/>
            </a:endParaRP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endParaRPr lang="he-IL" dirty="0">
              <a:solidFill>
                <a:schemeClr val="tx1"/>
              </a:solidFill>
              <a:latin typeface="David" panose="020E0502060401010101" pitchFamily="34" charset="-79"/>
              <a:ea typeface="+mn-ea"/>
              <a:cs typeface="David" panose="020E0502060401010101" pitchFamily="34" charset="-79"/>
            </a:endParaRP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endParaRPr lang="he-IL" dirty="0">
              <a:solidFill>
                <a:schemeClr val="tx1"/>
              </a:solidFill>
              <a:latin typeface="David" panose="020E0502060401010101" pitchFamily="34" charset="-79"/>
              <a:ea typeface="+mn-ea"/>
              <a:cs typeface="David" panose="020E0502060401010101" pitchFamily="34" charset="-79"/>
            </a:endParaRP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endParaRPr lang="he-IL" dirty="0">
              <a:solidFill>
                <a:schemeClr val="tx1"/>
              </a:solidFill>
              <a:latin typeface="David" panose="020E0502060401010101" pitchFamily="34" charset="-79"/>
              <a:ea typeface="+mn-ea"/>
              <a:cs typeface="David" panose="020E0502060401010101" pitchFamily="34" charset="-79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F594155-C6A9-F3EC-527B-11F799758324}"/>
              </a:ext>
            </a:extLst>
          </p:cNvPr>
          <p:cNvSpPr txBox="1"/>
          <p:nvPr/>
        </p:nvSpPr>
        <p:spPr>
          <a:xfrm>
            <a:off x="3551379" y="3811760"/>
            <a:ext cx="79879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defTabSz="457200" rtl="1"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אפשר להביא קרבן מנחה בצורות נוספות </a:t>
            </a:r>
            <a:br>
              <a:rPr lang="en-US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</a:b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[תנור, מחבת, מרחשת]</a:t>
            </a:r>
          </a:p>
          <a:p>
            <a:pPr marL="342900" indent="-342900" algn="r" defTabSz="457200" rtl="1"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דינים למנחה: אסור שתוקרב חמץ או עם משהו מתוק, יש להוסיף מלח.</a:t>
            </a:r>
          </a:p>
        </p:txBody>
      </p:sp>
      <p:pic>
        <p:nvPicPr>
          <p:cNvPr id="4" name="תמונה 3" descr="תמונה שמכילה אדם, איש, לבוש, אוכ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C4D4B75-C905-B11C-3212-2F2FDE62D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616" y="1"/>
            <a:ext cx="1268963" cy="19034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תמונה 5" descr="תמונה שמכילה לבוש, אדם, קיר, פני אד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C4C7CFE-DD27-34A2-334B-064CA0339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012" y="1556"/>
            <a:ext cx="1268963" cy="19034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תמונה 10" descr="תמונה שמכילה אדם, קיר, לבוש, בתוך מב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B619778-0024-8CE0-A357-510C2FED6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8995" y="0"/>
            <a:ext cx="1268963" cy="19034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D14D34A0-B182-C732-91CD-78302667E27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364" t="24184" b="42794"/>
          <a:stretch/>
        </p:blipFill>
        <p:spPr>
          <a:xfrm>
            <a:off x="133725" y="1728053"/>
            <a:ext cx="1789489" cy="8281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תמונה 13" descr="תמונה שמכילה שולחן, קערה, לוח, ישיבה&#10;&#10;התיאור נוצר באופן אוטומטי">
            <a:extLst>
              <a:ext uri="{FF2B5EF4-FFF2-40B4-BE49-F238E27FC236}">
                <a16:creationId xmlns:a16="http://schemas.microsoft.com/office/drawing/2014/main" id="{6A669F26-9033-4C88-AB2D-98F2F70D2B4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593" t="19925" r="47892" b="14711"/>
          <a:stretch>
            <a:fillRect/>
          </a:stretch>
        </p:blipFill>
        <p:spPr>
          <a:xfrm>
            <a:off x="292742" y="2926579"/>
            <a:ext cx="1396316" cy="12189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תמונה 14" descr="תמונה שמכילה ישיבה, סופגנייה, שולחן, מזון&#10;&#10;התיאור נוצר באופן אוטומטי">
            <a:extLst>
              <a:ext uri="{FF2B5EF4-FFF2-40B4-BE49-F238E27FC236}">
                <a16:creationId xmlns:a16="http://schemas.microsoft.com/office/drawing/2014/main" id="{A39E440E-90EB-9B8E-490B-7967FE9B18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322" y="4373387"/>
            <a:ext cx="2137523" cy="21375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9145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9A561CF-6804-42FA-BA4B-FA33357D3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קרבן מנחה פרק ב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8258CC3-55B0-4F37-9B07-28BEA02FB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he-IL" sz="40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אדם שרוצה להביא נדר או נדבה, והוא עני מרוד שאין ידו משגת אפילו להביא עוף, יכול להביא מנחת </a:t>
            </a:r>
            <a:r>
              <a:rPr lang="he-IL" sz="4000" dirty="0" err="1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סלת</a:t>
            </a:r>
            <a:r>
              <a:rPr lang="he-IL" sz="40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ומנחה זו חביבה לפני הקב"ה יותר מכל הקורבנות. כי רק בקורבן מנחה נאמר "ונפש כי תקריב" – ללמד אותנו שהעני כאילו הקריב את נפשו.</a:t>
            </a:r>
          </a:p>
          <a:p>
            <a:pPr marL="0" indent="0">
              <a:buNone/>
            </a:pPr>
            <a:r>
              <a:rPr lang="he-IL" sz="40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כל המנחות יהיו רק מצה כי אסור להקריב שום מנחה לה' שתהא חמץ. וגם ללא מיני מתיקות הפרי. כי הם מסמלים גאוה. וקורבנות אלו באו כדי לשבור את לב האדם, </a:t>
            </a:r>
            <a:r>
              <a:rPr lang="he-IL" sz="4000" dirty="0" err="1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שיכנע</a:t>
            </a:r>
            <a:r>
              <a:rPr lang="he-IL" sz="40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ויחזור בתשובה.</a:t>
            </a:r>
          </a:p>
          <a:p>
            <a:pPr marL="0" indent="0">
              <a:buNone/>
            </a:pPr>
            <a:r>
              <a:rPr lang="he-IL" sz="40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"מלח ברית א-</a:t>
            </a:r>
            <a:r>
              <a:rPr lang="he-IL" sz="4000" dirty="0" err="1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להיך</a:t>
            </a:r>
            <a:r>
              <a:rPr lang="he-IL" sz="40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" :שיתקיים הברית עם א-</a:t>
            </a:r>
            <a:r>
              <a:rPr lang="he-IL" sz="4000" dirty="0" err="1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להיך</a:t>
            </a:r>
            <a:r>
              <a:rPr lang="he-IL" sz="40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לתמיד. כמלח שמקיים את הבשר. </a:t>
            </a:r>
          </a:p>
          <a:p>
            <a:pPr marL="0" indent="0">
              <a:buNone/>
            </a:pPr>
            <a:r>
              <a:rPr lang="he-IL" sz="40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ועל קורבן זה נאמר גם :   אחד המרבה ואחד הממעיט ובלבד שיכוון ליבו לשמים.</a:t>
            </a:r>
          </a:p>
          <a:p>
            <a:pPr marL="0" indent="0">
              <a:buNone/>
            </a:pPr>
            <a:endParaRPr lang="he-IL" sz="4000" dirty="0">
              <a:solidFill>
                <a:srgbClr val="262626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265827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15870BA-05DA-6D54-9655-0E2E29AD7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8078" y="1424474"/>
            <a:ext cx="8915400" cy="3777622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he-IL" sz="2400" b="1" u="sng" dirty="0"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משימת כתיבה:</a:t>
            </a:r>
            <a:endParaRPr lang="en-US" sz="2400" dirty="0">
              <a:effectLst/>
              <a:latin typeface="David" panose="020E0502060401010101" pitchFamily="34" charset="-79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e-IL" sz="2400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2400" dirty="0"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כיצד ניתן ללמוד שמה שרצוי לפני ה' הם  כוונת הלב, ההשקעה והמאמצים של האדם</a:t>
            </a:r>
            <a:r>
              <a:rPr lang="he-IL" sz="2400" b="1" dirty="0"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2400" dirty="0"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ולאו דווקא גודל </a:t>
            </a:r>
            <a:r>
              <a:rPr lang="he-IL" sz="2400" dirty="0" err="1"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הקרבן</a:t>
            </a:r>
            <a:r>
              <a:rPr lang="he-IL" sz="2400" dirty="0"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?</a:t>
            </a:r>
            <a:endParaRPr lang="en-US" sz="2400" dirty="0">
              <a:effectLst/>
              <a:latin typeface="David" panose="020E0502060401010101" pitchFamily="34" charset="-79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e-IL" sz="2400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2400" dirty="0"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הביאו דוגמא מהחיים שלכם בה ההשקעה והכוונה יותר משמעותיים מסכום כסף גדול.</a:t>
            </a:r>
            <a:br>
              <a:rPr lang="he-IL" sz="2400" dirty="0"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</a:br>
            <a:endParaRPr lang="en-US" sz="2400" dirty="0">
              <a:effectLst/>
              <a:latin typeface="David" panose="020E0502060401010101" pitchFamily="34" charset="-79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>
              <a:buFont typeface="Wingdings" panose="05000000000000000000" pitchFamily="2" charset="2"/>
              <a:buChar char="v"/>
            </a:pPr>
            <a:endParaRPr lang="he-IL" sz="36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456797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12D77CB7-BF6E-FB72-5A84-9992AA8C1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תמונה 31">
            <a:extLst>
              <a:ext uri="{FF2B5EF4-FFF2-40B4-BE49-F238E27FC236}">
                <a16:creationId xmlns:a16="http://schemas.microsoft.com/office/drawing/2014/main" id="{815EEC46-84A5-6A52-8809-DA57362C5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247" y="20386"/>
            <a:ext cx="6696816" cy="3098817"/>
          </a:xfrm>
          <a:prstGeom prst="rect">
            <a:avLst/>
          </a:prstGeom>
        </p:spPr>
      </p:pic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A047BB79-1080-21FD-4BB3-518E34D4062F}"/>
              </a:ext>
            </a:extLst>
          </p:cNvPr>
          <p:cNvSpPr txBox="1"/>
          <p:nvPr/>
        </p:nvSpPr>
        <p:spPr>
          <a:xfrm>
            <a:off x="3930060" y="2053236"/>
            <a:ext cx="6648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1">
              <a:spcBef>
                <a:spcPts val="0"/>
              </a:spcBef>
              <a:buSzPts val="3200"/>
              <a:buNone/>
            </a:pPr>
            <a:r>
              <a:rPr lang="he-IL" dirty="0" err="1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סלת</a:t>
            </a:r>
            <a:r>
              <a:rPr lang="he-IL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                                 שמן                                   לבונה</a:t>
            </a:r>
          </a:p>
        </p:txBody>
      </p:sp>
      <p:pic>
        <p:nvPicPr>
          <p:cNvPr id="34" name="תמונה 33">
            <a:extLst>
              <a:ext uri="{FF2B5EF4-FFF2-40B4-BE49-F238E27FC236}">
                <a16:creationId xmlns:a16="http://schemas.microsoft.com/office/drawing/2014/main" id="{721A82D1-1E6C-1724-7247-958EF4441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314" y="3236103"/>
            <a:ext cx="6733686" cy="3098817"/>
          </a:xfrm>
          <a:prstGeom prst="rect">
            <a:avLst/>
          </a:prstGeom>
        </p:spPr>
      </p:pic>
      <p:sp>
        <p:nvSpPr>
          <p:cNvPr id="35" name="מציין מיקום תוכן 2">
            <a:extLst>
              <a:ext uri="{FF2B5EF4-FFF2-40B4-BE49-F238E27FC236}">
                <a16:creationId xmlns:a16="http://schemas.microsoft.com/office/drawing/2014/main" id="{50CD1C02-B9F2-F319-71B6-9DB2FA282D0B}"/>
              </a:ext>
            </a:extLst>
          </p:cNvPr>
          <p:cNvSpPr txBox="1">
            <a:spLocks/>
          </p:cNvSpPr>
          <p:nvPr/>
        </p:nvSpPr>
        <p:spPr>
          <a:xfrm>
            <a:off x="36533" y="167068"/>
            <a:ext cx="5369899" cy="6304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he-IL" sz="1600" b="1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א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 וְנֶ֗פֶשׁ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כִּֽי־תַקְרִ֞יב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 קָרְבַּ֤ן מִנְחָה֙ לַֽה'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סֹ֖לֶת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 יִֽהְיֶ֣ה קָרְבָּנ֑וֹ וְיָצַ֤ק עָלֶ֨יהָ֙ שֶׁ֔מֶן וְנָתַ֥ן עָלֶ֖יהָ לְבֹנָֽה׃ </a:t>
            </a:r>
            <a:br>
              <a:rPr lang="en-US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</a:br>
            <a:r>
              <a:rPr lang="he-IL" sz="1600" b="1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ב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 וֶֽהֱבִיאָ֗הּ אֶל־בְּנֵ֣י אַֽהֲרֹן֮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הַכֹּֽהֲנִים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 וְקָמַ֨ץ מִשָּׁ֜ם מְלֹ֣א קֻמְצ֗וֹ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מִסָּלְתָּה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ּ֙ וּמִשַּׁמְנָ֔הּ עַ֖ל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כָּל־לְבֹֽנָתָ֑ה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ּ  וְהִקְטִ֨יר הַכֹּהֵ֜ן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אֶת־אַזְכָּֽרָתָה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ּ֙ הַמִּזְבֵּ֔חָה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אִשֵּׁ֛ה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 רֵ֥יחַ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נִיחֹ֖ח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ַ לַֽה'׃ </a:t>
            </a:r>
            <a:br>
              <a:rPr lang="en-US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</a:br>
            <a:r>
              <a:rPr lang="he-IL" sz="1600" b="1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ג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 וְהַנּוֹתֶ֨רֶת֙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מִן־הַמִּנְחָ֔ה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 לְאַֽהֲרֹ֖ן וּלְבָנָ֑יו קֹ֥דֶשׁ קָֽדָשִׁ֖ים מֵֽאִשֵּׁ֥י ה'׃</a:t>
            </a:r>
          </a:p>
          <a:p>
            <a:pPr marL="0" indent="0">
              <a:buFont typeface="Noto Sans Symbols"/>
              <a:buNone/>
            </a:pPr>
            <a:endParaRPr lang="he-IL" sz="1600" dirty="0">
              <a:solidFill>
                <a:schemeClr val="bg2">
                  <a:lumMod val="75000"/>
                </a:schemeClr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Font typeface="Noto Sans Symbols"/>
              <a:buNone/>
            </a:pPr>
            <a:r>
              <a:rPr lang="he-IL" sz="1600" b="1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ח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וְהֵבֵאתָ אֶת-הַמִּנְחָה, אֲשֶׁר יֵעָשֶׂה מֵאֵלֶּה לַה'; וְהִקְרִיבָהּ, אֶל-הַכֹּהֵן, וְהִגִּישָׁהּ, אֶל-הַמִּזְבֵּחַ.  </a:t>
            </a:r>
            <a:br>
              <a:rPr lang="en-US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1600" b="1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ט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וְהֵרִים הַכֹּהֵן מִן-הַמִּנְחָה אֶת-אַזְכָּרָתָהּ, וְהִקְטִיר הַמִּזְבֵּחָה--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אִשֵּׁה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רֵיחַ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נִיחֹח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ַ, לַה'.  </a:t>
            </a:r>
            <a:br>
              <a:rPr lang="en-US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1600" b="1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וְהַנּוֹתֶרֶת, מִן-הַמִּנְחָה--לְאַהֲרֹן, וּלְבָנָיו:  קֹדֶשׁ קָדָשִׁים, מֵאִשֵּׁי ה'. </a:t>
            </a:r>
          </a:p>
          <a:p>
            <a:pPr marL="0" indent="0">
              <a:buFont typeface="Noto Sans Symbols"/>
              <a:buNone/>
            </a:pPr>
            <a:r>
              <a:rPr lang="he-IL" sz="1600" b="1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יא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כָּל-הַמִּנְחָה, אֲשֶׁר תַּקְרִיבוּ לַה' -לֹא תֵעָשֶׂה, חָמֵץ:  כִּי כָל-שְׂאֹר וְכָל-דְּבַשׁ, לֹא-תַקְטִירוּ מִמֶּנּוּ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אִשֶּׁה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לַה'.  </a:t>
            </a:r>
            <a:br>
              <a:rPr lang="en-US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1600" b="1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יב</a:t>
            </a:r>
            <a:r>
              <a:rPr lang="he-IL" sz="1600" b="1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קָרְבַּן רֵאשִׁית תַּקְרִיבוּ אֹתָם, לַה'; וְאֶל-הַמִּזְבֵּחַ לֹא-יַעֲלוּ, לְרֵיחַ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נִיחֹח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ַ.  </a:t>
            </a:r>
            <a:br>
              <a:rPr lang="en-US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1600" b="1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1600" b="1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וְכָל-קָרְבַּן מִנְחָתְךָ, בַּמֶּלַח תִּמְלָח, וְלֹא תַשְׁבִּית מֶלַח בְּרִית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אֱל-ֹהֶיך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ָ, מֵעַל מִנְחָתֶךָ; עַל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כָּל-קָרְבָּנְך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ָ, תַּקְרִיב מֶלַח. </a:t>
            </a:r>
            <a:endParaRPr lang="he-IL" sz="1600" dirty="0">
              <a:solidFill>
                <a:schemeClr val="bg2">
                  <a:lumMod val="75000"/>
                </a:schemeClr>
              </a:solidFill>
              <a:latin typeface="David" panose="020E0502060401010101" pitchFamily="34" charset="-79"/>
              <a:cs typeface="David" panose="020E0502060401010101" pitchFamily="34" charset="-79"/>
              <a:sym typeface="Arial"/>
            </a:endParaRPr>
          </a:p>
        </p:txBody>
      </p:sp>
      <p:sp>
        <p:nvSpPr>
          <p:cNvPr id="36" name="תיבת טקסט 35">
            <a:extLst>
              <a:ext uri="{FF2B5EF4-FFF2-40B4-BE49-F238E27FC236}">
                <a16:creationId xmlns:a16="http://schemas.microsoft.com/office/drawing/2014/main" id="{66C6CA31-C119-B41B-94F2-AA40BA9536C0}"/>
              </a:ext>
            </a:extLst>
          </p:cNvPr>
          <p:cNvSpPr txBox="1"/>
          <p:nvPr/>
        </p:nvSpPr>
        <p:spPr>
          <a:xfrm>
            <a:off x="2822620" y="2398676"/>
            <a:ext cx="6648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1">
              <a:spcBef>
                <a:spcPts val="0"/>
              </a:spcBef>
              <a:buSzPts val="3200"/>
              <a:buNone/>
            </a:pPr>
            <a:r>
              <a:rPr lang="he-IL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בני                   אהרן                </a:t>
            </a:r>
            <a:r>
              <a:rPr lang="he-IL" dirty="0" err="1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הכהנים</a:t>
            </a:r>
            <a:endParaRPr lang="he-IL" dirty="0">
              <a:latin typeface="David" panose="020E0502060401010101" pitchFamily="34" charset="-79"/>
              <a:ea typeface="David"/>
              <a:cs typeface="David" panose="020E0502060401010101" pitchFamily="34" charset="-79"/>
              <a:sym typeface="David"/>
            </a:endParaRPr>
          </a:p>
        </p:txBody>
      </p:sp>
      <p:sp>
        <p:nvSpPr>
          <p:cNvPr id="37" name="תיבת טקסט 36">
            <a:extLst>
              <a:ext uri="{FF2B5EF4-FFF2-40B4-BE49-F238E27FC236}">
                <a16:creationId xmlns:a16="http://schemas.microsoft.com/office/drawing/2014/main" id="{061A07D2-F159-D36E-C055-B47B43750FED}"/>
              </a:ext>
            </a:extLst>
          </p:cNvPr>
          <p:cNvSpPr txBox="1"/>
          <p:nvPr/>
        </p:nvSpPr>
        <p:spPr>
          <a:xfrm>
            <a:off x="4082460" y="2764436"/>
            <a:ext cx="6648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1">
              <a:spcBef>
                <a:spcPts val="0"/>
              </a:spcBef>
              <a:buSzPts val="3200"/>
              <a:buNone/>
            </a:pPr>
            <a:r>
              <a:rPr lang="he-IL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קמצו                                       המזבח                                       ניחוח</a:t>
            </a:r>
          </a:p>
        </p:txBody>
      </p:sp>
      <p:sp>
        <p:nvSpPr>
          <p:cNvPr id="38" name="תיבת טקסט 37">
            <a:extLst>
              <a:ext uri="{FF2B5EF4-FFF2-40B4-BE49-F238E27FC236}">
                <a16:creationId xmlns:a16="http://schemas.microsoft.com/office/drawing/2014/main" id="{433180AC-848A-9CEC-C659-BA24DED30EAA}"/>
              </a:ext>
            </a:extLst>
          </p:cNvPr>
          <p:cNvSpPr txBox="1"/>
          <p:nvPr/>
        </p:nvSpPr>
        <p:spPr>
          <a:xfrm>
            <a:off x="1044620" y="3831236"/>
            <a:ext cx="664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1">
              <a:spcBef>
                <a:spcPts val="0"/>
              </a:spcBef>
              <a:buSzPts val="3200"/>
              <a:buNone/>
            </a:pPr>
            <a:r>
              <a:rPr lang="he-IL" sz="1800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הכהן</a:t>
            </a:r>
          </a:p>
        </p:txBody>
      </p:sp>
      <p:sp>
        <p:nvSpPr>
          <p:cNvPr id="39" name="תיבת טקסט 38">
            <a:extLst>
              <a:ext uri="{FF2B5EF4-FFF2-40B4-BE49-F238E27FC236}">
                <a16:creationId xmlns:a16="http://schemas.microsoft.com/office/drawing/2014/main" id="{484B0A4D-A463-D703-B831-5A56B004A205}"/>
              </a:ext>
            </a:extLst>
          </p:cNvPr>
          <p:cNvSpPr txBox="1"/>
          <p:nvPr/>
        </p:nvSpPr>
        <p:spPr>
          <a:xfrm>
            <a:off x="2497500" y="4257956"/>
            <a:ext cx="664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1">
              <a:spcBef>
                <a:spcPts val="0"/>
              </a:spcBef>
              <a:buSzPts val="3200"/>
              <a:buNone/>
            </a:pPr>
            <a:r>
              <a:rPr lang="he-IL" sz="1800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המזבח</a:t>
            </a:r>
            <a:endParaRPr lang="he-IL" dirty="0">
              <a:latin typeface="David" panose="020E0502060401010101" pitchFamily="34" charset="-79"/>
              <a:ea typeface="David"/>
              <a:cs typeface="David" panose="020E0502060401010101" pitchFamily="34" charset="-79"/>
              <a:sym typeface="David"/>
            </a:endParaRPr>
          </a:p>
        </p:txBody>
      </p:sp>
      <p:sp>
        <p:nvSpPr>
          <p:cNvPr id="40" name="תיבת טקסט 39">
            <a:extLst>
              <a:ext uri="{FF2B5EF4-FFF2-40B4-BE49-F238E27FC236}">
                <a16:creationId xmlns:a16="http://schemas.microsoft.com/office/drawing/2014/main" id="{11F649C1-88BD-840B-F11C-0FB2EA591AFB}"/>
              </a:ext>
            </a:extLst>
          </p:cNvPr>
          <p:cNvSpPr txBox="1"/>
          <p:nvPr/>
        </p:nvSpPr>
        <p:spPr>
          <a:xfrm>
            <a:off x="3117260" y="4674516"/>
            <a:ext cx="66482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1">
              <a:spcBef>
                <a:spcPts val="0"/>
              </a:spcBef>
              <a:buSzPts val="3200"/>
              <a:buNone/>
            </a:pPr>
            <a:r>
              <a:rPr lang="he-IL" sz="1600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ירים/יקמוץ                                                 אזכרתה</a:t>
            </a:r>
            <a:endParaRPr lang="he-IL" sz="1200" dirty="0">
              <a:latin typeface="David" panose="020E0502060401010101" pitchFamily="34" charset="-79"/>
              <a:ea typeface="David"/>
              <a:cs typeface="David" panose="020E0502060401010101" pitchFamily="34" charset="-79"/>
              <a:sym typeface="David"/>
            </a:endParaRPr>
          </a:p>
        </p:txBody>
      </p:sp>
      <p:sp>
        <p:nvSpPr>
          <p:cNvPr id="41" name="תיבת טקסט 40">
            <a:extLst>
              <a:ext uri="{FF2B5EF4-FFF2-40B4-BE49-F238E27FC236}">
                <a16:creationId xmlns:a16="http://schemas.microsoft.com/office/drawing/2014/main" id="{7DE6DE8C-BA61-0C8D-DEBB-E69AD290F86F}"/>
              </a:ext>
            </a:extLst>
          </p:cNvPr>
          <p:cNvSpPr txBox="1"/>
          <p:nvPr/>
        </p:nvSpPr>
        <p:spPr>
          <a:xfrm>
            <a:off x="1735500" y="5070756"/>
            <a:ext cx="664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1">
              <a:spcBef>
                <a:spcPts val="0"/>
              </a:spcBef>
              <a:buSzPts val="3200"/>
              <a:buNone/>
            </a:pPr>
            <a:r>
              <a:rPr lang="he-IL" sz="1800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לאהרן ולבניו [</a:t>
            </a:r>
            <a:r>
              <a:rPr lang="he-IL" sz="1800" dirty="0" err="1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לכהנים</a:t>
            </a:r>
            <a:r>
              <a:rPr lang="he-IL" sz="1800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]</a:t>
            </a:r>
            <a:endParaRPr lang="he-IL" dirty="0">
              <a:latin typeface="David" panose="020E0502060401010101" pitchFamily="34" charset="-79"/>
              <a:ea typeface="David"/>
              <a:cs typeface="David" panose="020E0502060401010101" pitchFamily="34" charset="-79"/>
              <a:sym typeface="David"/>
            </a:endParaRPr>
          </a:p>
        </p:txBody>
      </p:sp>
      <p:sp>
        <p:nvSpPr>
          <p:cNvPr id="42" name="תיבת טקסט 41">
            <a:extLst>
              <a:ext uri="{FF2B5EF4-FFF2-40B4-BE49-F238E27FC236}">
                <a16:creationId xmlns:a16="http://schemas.microsoft.com/office/drawing/2014/main" id="{F03E69D4-078D-12E0-9FEA-F732C9D071B3}"/>
              </a:ext>
            </a:extLst>
          </p:cNvPr>
          <p:cNvSpPr txBox="1"/>
          <p:nvPr/>
        </p:nvSpPr>
        <p:spPr>
          <a:xfrm>
            <a:off x="4998652" y="5493606"/>
            <a:ext cx="664822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1">
              <a:spcBef>
                <a:spcPts val="0"/>
              </a:spcBef>
              <a:buSzPts val="3200"/>
              <a:buNone/>
            </a:pPr>
            <a:r>
              <a:rPr lang="he-IL" sz="1800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                                                                                 חמץ</a:t>
            </a:r>
          </a:p>
          <a:p>
            <a:pPr marL="0" lvl="0" indent="0" algn="r" rtl="1">
              <a:spcBef>
                <a:spcPts val="0"/>
              </a:spcBef>
              <a:buSzPts val="3200"/>
              <a:buNone/>
            </a:pPr>
            <a:endParaRPr lang="he-IL" sz="1100" dirty="0">
              <a:latin typeface="David" panose="020E0502060401010101" pitchFamily="34" charset="-79"/>
              <a:ea typeface="David"/>
              <a:cs typeface="David" panose="020E0502060401010101" pitchFamily="34" charset="-79"/>
              <a:sym typeface="David"/>
            </a:endParaRPr>
          </a:p>
          <a:p>
            <a:pPr lvl="0" algn="r" rtl="1">
              <a:buSzPts val="3200"/>
            </a:pPr>
            <a:r>
              <a:rPr lang="he-IL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          </a:t>
            </a:r>
            <a:r>
              <a:rPr lang="he-IL" sz="1600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ש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ְׂאֹר              דְּבַשׁ              תַקְטִירוּ </a:t>
            </a:r>
            <a:endParaRPr lang="he-IL" sz="1600" dirty="0">
              <a:latin typeface="David" panose="020E0502060401010101" pitchFamily="34" charset="-79"/>
              <a:ea typeface="David"/>
              <a:cs typeface="David" panose="020E0502060401010101" pitchFamily="34" charset="-79"/>
              <a:sym typeface="David"/>
            </a:endParaRPr>
          </a:p>
        </p:txBody>
      </p:sp>
    </p:spTree>
    <p:extLst>
      <p:ext uri="{BB962C8B-B14F-4D97-AF65-F5344CB8AC3E}">
        <p14:creationId xmlns:p14="http://schemas.microsoft.com/office/powerpoint/2010/main" val="61020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theme/theme1.xml><?xml version="1.0" encoding="utf-8"?>
<a:theme xmlns:a="http://schemas.openxmlformats.org/drawingml/2006/main" name="עשן מתפתל">
  <a:themeElements>
    <a:clrScheme name="עשן מתפתל">
      <a:dk1>
        <a:srgbClr val="000000"/>
      </a:dk1>
      <a:lt1>
        <a:srgbClr val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41053</TotalTime>
  <Words>1974</Words>
  <Application>Microsoft Office PowerPoint</Application>
  <PresentationFormat>מסך רחב</PresentationFormat>
  <Paragraphs>140</Paragraphs>
  <Slides>35</Slides>
  <Notes>16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9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35</vt:i4>
      </vt:variant>
    </vt:vector>
  </HeadingPairs>
  <TitlesOfParts>
    <vt:vector size="45" baseType="lpstr">
      <vt:lpstr>Noto Sans Symbols</vt:lpstr>
      <vt:lpstr>David</vt:lpstr>
      <vt:lpstr>Century Gothic</vt:lpstr>
      <vt:lpstr>Wingdings</vt:lpstr>
      <vt:lpstr>Tahoma</vt:lpstr>
      <vt:lpstr>Times New Roman</vt:lpstr>
      <vt:lpstr>Calibri</vt:lpstr>
      <vt:lpstr>Arial</vt:lpstr>
      <vt:lpstr>Wingdings 3</vt:lpstr>
      <vt:lpstr>עשן מתפתל</vt:lpstr>
      <vt:lpstr>מצגת של PowerPoint‏</vt:lpstr>
      <vt:lpstr>סיפור.. רחמים מאוד אוהב את ה' ורוצה מאוד להקריב קרבן, הבעיה היא שרחמים הוא אדם עני מאוד ואין לו כסף אפילו לקניית תורים או בני יונה. </vt:lpstr>
      <vt:lpstr>עיינו בפסוקים שלפניכם ואימרו: 1. מה שם הקרבן בלשון התורה? 2. מאילו חומרים הוא עשוי?</vt:lpstr>
      <vt:lpstr>מצגת של PowerPoint‏</vt:lpstr>
      <vt:lpstr>מצגת של PowerPoint‏</vt:lpstr>
      <vt:lpstr>מצגת של PowerPoint‏</vt:lpstr>
      <vt:lpstr>1. מנחת סולת  (א-ג)</vt:lpstr>
      <vt:lpstr>מנחת סולת  (א-ג)</vt:lpstr>
      <vt:lpstr>מנחת סולת  (א-ג)</vt:lpstr>
      <vt:lpstr>מנחת סולת  (א-ג)</vt:lpstr>
      <vt:lpstr>מנחת סולת  (א-ג)</vt:lpstr>
      <vt:lpstr>מצגת של PowerPoint‏</vt:lpstr>
      <vt:lpstr>מנחת סולת  (א-ג)</vt:lpstr>
      <vt:lpstr>מנחת סולת  (א-ג)</vt:lpstr>
      <vt:lpstr>מצגת של PowerPoint‏</vt:lpstr>
      <vt:lpstr>מנחת סולת  (א-ג)</vt:lpstr>
      <vt:lpstr>מצגת של PowerPoint‏</vt:lpstr>
      <vt:lpstr>סיכום קרבן מנחה:  פרק ב פסוקים א-ג</vt:lpstr>
      <vt:lpstr>סוגים שונים של מנחות [פסוקים ד-ז]</vt:lpstr>
      <vt:lpstr>סוגים שונים של מנחות</vt:lpstr>
      <vt:lpstr>סוגים שונים של מנחות</vt:lpstr>
      <vt:lpstr>מנחת מאפה תנור  (ד)</vt:lpstr>
      <vt:lpstr>מנחת מחבת  (ה-ו)</vt:lpstr>
      <vt:lpstr>מנחת מרחשת   (ז)</vt:lpstr>
      <vt:lpstr>הדינים לקרבנות המנחה ח-יג</vt:lpstr>
      <vt:lpstr>הדינים לקרבנות המנחה יא-יג</vt:lpstr>
      <vt:lpstr>הדינים לקרבנות המנחה יא-יג</vt:lpstr>
      <vt:lpstr>הדינים לקרבנות המנחה יא-יג</vt:lpstr>
      <vt:lpstr>הדינים לקורבנות המנחה   (ח-יג) </vt:lpstr>
      <vt:lpstr>הדינים לקורבנות המנחה   (יא-יג) </vt:lpstr>
      <vt:lpstr>מִנְחַת בִּכּוּרִים מנחת חובה   (יד-טז)</vt:lpstr>
      <vt:lpstr>סיכום קרבן מנחה:  פרק ב</vt:lpstr>
      <vt:lpstr>קרבן מנחה פרק ב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ישראל יוקל</dc:creator>
  <cp:lastModifiedBy>ישראל יוקל</cp:lastModifiedBy>
  <cp:revision>117</cp:revision>
  <dcterms:created xsi:type="dcterms:W3CDTF">2020-04-10T08:32:11Z</dcterms:created>
  <dcterms:modified xsi:type="dcterms:W3CDTF">2025-09-30T09:03:22Z</dcterms:modified>
</cp:coreProperties>
</file>