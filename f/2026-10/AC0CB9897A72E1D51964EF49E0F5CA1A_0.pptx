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683" r:id="rId3"/>
    <p:sldId id="420" r:id="rId4"/>
    <p:sldId id="704" r:id="rId5"/>
    <p:sldId id="265" r:id="rId6"/>
    <p:sldId id="269" r:id="rId7"/>
    <p:sldId id="705" r:id="rId8"/>
    <p:sldId id="706" r:id="rId9"/>
    <p:sldId id="710" r:id="rId10"/>
    <p:sldId id="707" r:id="rId11"/>
    <p:sldId id="709" r:id="rId12"/>
    <p:sldId id="708" r:id="rId13"/>
    <p:sldId id="259" r:id="rId14"/>
    <p:sldId id="279" r:id="rId15"/>
    <p:sldId id="712" r:id="rId16"/>
    <p:sldId id="278" r:id="rId17"/>
    <p:sldId id="277" r:id="rId18"/>
    <p:sldId id="711" r:id="rId19"/>
    <p:sldId id="262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</p:sldIdLst>
  <p:sldSz cx="12192000" cy="6858000"/>
  <p:notesSz cx="6858000" cy="9144000"/>
  <p:embeddedFontLst>
    <p:embeddedFont>
      <p:font typeface="Century Gothic" panose="020B0502020202020204" pitchFamily="34" charset="0"/>
      <p:regular r:id="rId31"/>
      <p:bold r:id="rId32"/>
      <p:italic r:id="rId33"/>
      <p:boldItalic r:id="rId34"/>
    </p:embeddedFont>
    <p:embeddedFont>
      <p:font typeface="David" panose="020E0502060401010101" pitchFamily="34" charset="-79"/>
      <p:regular r:id="rId35"/>
      <p:bold r:id="rId36"/>
    </p:embeddedFont>
    <p:embeddedFont>
      <p:font typeface="Guttman Drogolin" panose="02010401010101010101" pitchFamily="2" charset="-79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8" roundtripDataSignature="AMtx7mhJBz4dsuTAtiEe2JNns1bll+FX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9583"/>
    <a:srgbClr val="EAB1A5"/>
    <a:srgbClr val="CBC8CB"/>
    <a:srgbClr val="DBDBDB"/>
    <a:srgbClr val="F5F3E4"/>
    <a:srgbClr val="FBF4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0C69057-1A02-47DD-AF06-93E455CED6F4}">
  <a:tblStyle styleId="{D0C69057-1A02-47DD-AF06-93E455CED6F4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AEDE6"/>
          </a:solidFill>
        </a:fill>
      </a:tcStyle>
    </a:wholeTbl>
    <a:band1H>
      <a:tcTxStyle/>
      <a:tcStyle>
        <a:tcBdr/>
        <a:fill>
          <a:solidFill>
            <a:srgbClr val="F6D9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6D9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C2D0967-56BA-41BF-AB3F-858ADA425C4A}" styleName="Table_1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5" autoAdjust="0"/>
    <p:restoredTop sz="8596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58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5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1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1</a:t>
            </a:fld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כותרת ותוכן" type="obj">
  <p:cSld name="OBJEC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6" name="Google Shape;46;p19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19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כותרת בלבד" type="titleOnly">
  <p:cSld name="TITLE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4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4" name="Google Shape;84;p24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5" name="Google Shape;85;p24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24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תוכן עם כיתוב" type="objTx">
  <p:cSld name="OBJECT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6"/>
          <p:cNvSpPr txBox="1"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sz="20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6"/>
          <p:cNvSpPr txBox="1">
            <a:spLocks noGrp="1"/>
          </p:cNvSpPr>
          <p:nvPr>
            <p:ph type="body" idx="1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95" name="Google Shape;95;p26"/>
          <p:cNvSpPr txBox="1">
            <a:spLocks noGrp="1"/>
          </p:cNvSpPr>
          <p:nvPr>
            <p:ph type="body" idx="2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6" name="Google Shape;96;p26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7" name="Google Shape;97;p26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8" name="Google Shape;98;p26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26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תמונה עם כיתוב" type="picTx">
  <p:cSld name="PICTURE_WITH_CAPTION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7"/>
          <p:cNvSpPr txBox="1"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sz="24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7"/>
          <p:cNvSpPr>
            <a:spLocks noGrp="1"/>
          </p:cNvSpPr>
          <p:nvPr>
            <p:ph type="pic" idx="2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7"/>
          <p:cNvSpPr txBox="1">
            <a:spLocks noGrp="1"/>
          </p:cNvSpPr>
          <p:nvPr>
            <p:ph type="body" idx="1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" name="Google Shape;104;p27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5" name="Google Shape;105;p27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6" name="Google Shape;106;p27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27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כותרת וכיתוב">
  <p:cSld name="כותרת וכיתוב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8"/>
          <p:cNvSpPr txBox="1"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8"/>
          <p:cNvSpPr txBox="1"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 rt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28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2" name="Google Shape;112;p28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3" name="Google Shape;113;p28"/>
          <p:cNvSpPr/>
          <p:nvPr/>
        </p:nvSpPr>
        <p:spPr>
          <a:xfrm rot="10800000" flipH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28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ציטוט עם כיתוב">
  <p:cSld name="ציטוט עם כיתוב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9"/>
          <p:cNvSpPr txBox="1">
            <a:spLocks noGrp="1"/>
          </p:cNvSpPr>
          <p:nvPr>
            <p:ph type="body" idx="1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18" name="Google Shape;118;p29"/>
          <p:cNvSpPr txBox="1">
            <a:spLocks noGrp="1"/>
          </p:cNvSpPr>
          <p:nvPr>
            <p:ph type="body" idx="2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 rt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29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0" name="Google Shape;120;p29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1" name="Google Shape;121;p29"/>
          <p:cNvSpPr/>
          <p:nvPr/>
        </p:nvSpPr>
        <p:spPr>
          <a:xfrm rot="10800000" flipH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2" name="Google Shape;122;p29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  <p:sp>
        <p:nvSpPr>
          <p:cNvPr id="123" name="Google Shape;123;p29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dirty="0"/>
          </a:p>
        </p:txBody>
      </p:sp>
      <p:sp>
        <p:nvSpPr>
          <p:cNvPr id="124" name="Google Shape;124;p29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כרטיס שם">
  <p:cSld name="כרטיס שם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0"/>
          <p:cNvSpPr txBox="1">
            <a:spLocks noGrp="1"/>
          </p:cNvSpPr>
          <p:nvPr>
            <p:ph type="body" idx="1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28" name="Google Shape;128;p30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9" name="Google Shape;129;p30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0" name="Google Shape;130;p30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1" name="Google Shape;131;p30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כרטיס שם עם ציטוט">
  <p:cSld name="כרטיס שם עם ציטוט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 txBox="1"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1"/>
          <p:cNvSpPr txBox="1">
            <a:spLocks noGrp="1"/>
          </p:cNvSpPr>
          <p:nvPr>
            <p:ph type="body" idx="1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35" name="Google Shape;135;p31"/>
          <p:cNvSpPr txBox="1">
            <a:spLocks noGrp="1"/>
          </p:cNvSpPr>
          <p:nvPr>
            <p:ph type="body" idx="2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36" name="Google Shape;136;p31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7" name="Google Shape;137;p31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8" name="Google Shape;138;p31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9" name="Google Shape;139;p31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  <p:sp>
        <p:nvSpPr>
          <p:cNvPr id="140" name="Google Shape;140;p31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dirty="0"/>
          </a:p>
        </p:txBody>
      </p:sp>
      <p:sp>
        <p:nvSpPr>
          <p:cNvPr id="141" name="Google Shape;141;p31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rue או False">
  <p:cSld name="True או False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2"/>
          <p:cNvSpPr txBox="1">
            <a:spLocks noGrp="1"/>
          </p:cNvSpPr>
          <p:nvPr>
            <p:ph type="body" idx="1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45" name="Google Shape;145;p32"/>
          <p:cNvSpPr txBox="1">
            <a:spLocks noGrp="1"/>
          </p:cNvSpPr>
          <p:nvPr>
            <p:ph type="body" idx="2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46" name="Google Shape;146;p32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7" name="Google Shape;147;p32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8" name="Google Shape;148;p32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9" name="Google Shape;149;p32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כותרת וטקסט אנכי" type="vertTx">
  <p:cSld name="VERTICAL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3"/>
          <p:cNvSpPr txBox="1">
            <a:spLocks noGrp="1"/>
          </p:cNvSpPr>
          <p:nvPr>
            <p:ph type="body" idx="1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53" name="Google Shape;153;p33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4" name="Google Shape;154;p33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5" name="Google Shape;155;p33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33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כותרת אנכית וטקסט" type="vertTitleAndTx">
  <p:cSld name="VERTICAL_TITLE_AND_VERTICAL_TEX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 txBox="1">
            <a:spLocks noGrp="1"/>
          </p:cNvSpPr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4"/>
          <p:cNvSpPr txBox="1">
            <a:spLocks noGrp="1"/>
          </p:cNvSpPr>
          <p:nvPr>
            <p:ph type="body" idx="1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60" name="Google Shape;160;p34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1" name="Google Shape;161;p34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2" name="Google Shape;162;p34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3" name="Google Shape;163;p34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9F96C073-3D9A-41FC-B241-157E6B30B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67734-209C-401C-88AF-4E6097931418}" type="datetimeFigureOut">
              <a:rPr lang="he-IL" smtClean="0"/>
              <a:t>כ"ז/תשרי/תשפ"ו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7D30956A-6714-4954-ABAF-3B85DE49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B44660B-1FAE-4D4F-A8F7-D3397D0BD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693CD-1E7F-4B70-AF58-886A428725A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78916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4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8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11" name="Google Shape;11;p18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12;p18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3;p18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14;p18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15;p18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16;p18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17;p18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18;p18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19;p18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20;p18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21;p18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22;p18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3" name="Google Shape;23;p18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24" name="Google Shape;24;p18"/>
            <p:cNvSpPr/>
            <p:nvPr/>
          </p:nvSpPr>
          <p:spPr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25;p18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26;p18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27;p18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28;p18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29;p18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" name="Google Shape;30;p18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31;p18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32;p18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" name="Google Shape;33;p18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" name="Google Shape;34;p18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" name="Google Shape;35;p18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6" name="Google Shape;36;p18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 dirty="0"/>
          </a:p>
        </p:txBody>
      </p:sp>
      <p:sp>
        <p:nvSpPr>
          <p:cNvPr id="40" name="Google Shape;40;p18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 dirty="0"/>
          </a:p>
        </p:txBody>
      </p:sp>
      <p:sp>
        <p:nvSpPr>
          <p:cNvPr id="41" name="Google Shape;41;p18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erviciodelenguajeyliteratura.blogspot.mx/2011/11/el-objetivo-del-trabajo-es-exponer-una.html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erviciodelenguajeyliteratura.blogspot.mx/2011/11/el-objetivo-del-trabajo-es-exponer-una.html" TargetMode="Externa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erviciodelenguajeyliteratura.blogspot.mx/2011/11/el-objetivo-del-trabajo-es-exponer-una.html" TargetMode="Externa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erviciodelenguajeyliteratura.blogspot.mx/2011/11/el-objetivo-del-trabajo-es-exponer-una.html" TargetMode="Externa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"/>
          <p:cNvSpPr txBox="1">
            <a:spLocks noGrp="1"/>
          </p:cNvSpPr>
          <p:nvPr>
            <p:ph type="body" idx="1"/>
          </p:nvPr>
        </p:nvSpPr>
        <p:spPr>
          <a:xfrm>
            <a:off x="1866122" y="794327"/>
            <a:ext cx="9171333" cy="3777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lvl="0" indent="-342900" algn="ctr" rtl="1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he-IL" sz="11500" b="1" dirty="0">
                <a:latin typeface="David"/>
                <a:ea typeface="David"/>
                <a:cs typeface="David"/>
                <a:sym typeface="David"/>
              </a:rPr>
              <a:t>פרשת צו</a:t>
            </a:r>
            <a:endParaRPr lang="he-IL" sz="7100" b="1" dirty="0">
              <a:latin typeface="David"/>
              <a:cs typeface="David"/>
              <a:sym typeface="David"/>
            </a:endParaRPr>
          </a:p>
          <a:p>
            <a:pPr marL="342900" lvl="0" indent="-342900" algn="ctr" rtl="1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he-IL" sz="11500" b="1" dirty="0">
                <a:latin typeface="David"/>
                <a:cs typeface="David"/>
                <a:sym typeface="David"/>
              </a:rPr>
              <a:t>פרק ו'- </a:t>
            </a:r>
            <a:br>
              <a:rPr lang="en-US" sz="11500" b="1" dirty="0">
                <a:latin typeface="David"/>
                <a:cs typeface="David"/>
                <a:sym typeface="David"/>
              </a:rPr>
            </a:br>
            <a:r>
              <a:rPr lang="he-IL" sz="11500" b="1" dirty="0">
                <a:latin typeface="David"/>
                <a:cs typeface="David"/>
                <a:sym typeface="David"/>
              </a:rPr>
              <a:t>תורת העולה</a:t>
            </a:r>
          </a:p>
          <a:p>
            <a:pPr marL="342900" lvl="0" indent="-342900" algn="ctr" rtl="1"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sz="1300" dirty="0"/>
          </a:p>
        </p:txBody>
      </p:sp>
      <p:pic>
        <p:nvPicPr>
          <p:cNvPr id="8" name="תמונה 7" descr="תמונה שמכילה טבע, חום, ענבר, תמו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CB190EE-09E5-7344-7A16-B4E62E60B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-1" t="1988" r="53303" b="28003"/>
          <a:stretch>
            <a:fillRect/>
          </a:stretch>
        </p:blipFill>
        <p:spPr>
          <a:xfrm>
            <a:off x="9470609" y="1366454"/>
            <a:ext cx="2006044" cy="37593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63576E-2969-2493-6A1B-FAF475374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e-IL" b="1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מה דעתכם על הילדים האלו?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6D19EFB-BF7A-23EF-42BD-C58B4738E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במשפחת יהלומי כמעט תמיד פורצת מריבה ברגע שמבקשים להכניס כלים למדיח ולנקות את הכיור, כל הילדים טוענים שהם נגעלים מהלכלוך ומעדיפים שמישהו אחר יעשה זאת במקומם.</a:t>
            </a:r>
          </a:p>
          <a:p>
            <a:pPr marL="114300" indent="0">
              <a:buNone/>
            </a:pP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מה דעתכם? יש לכם פתרון? </a:t>
            </a:r>
          </a:p>
        </p:txBody>
      </p:sp>
      <p:pic>
        <p:nvPicPr>
          <p:cNvPr id="5" name="תמונה 4" descr="תמונה שמכילה אדם, פני אדם, לבוש, ילד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9613437-E926-236C-4714-EBF8B9F4D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49" y="2864498"/>
            <a:ext cx="3993502" cy="399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663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B8BB6BAB-A02E-4CC1-A68C-92D08DBC7E1A}"/>
              </a:ext>
            </a:extLst>
          </p:cNvPr>
          <p:cNvSpPr txBox="1"/>
          <p:nvPr/>
        </p:nvSpPr>
        <p:spPr>
          <a:xfrm>
            <a:off x="3287688" y="764704"/>
            <a:ext cx="561662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000" b="1" dirty="0">
                <a:solidFill>
                  <a:schemeClr val="accent5">
                    <a:lumMod val="75000"/>
                  </a:schemeClr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"מבט על" על הקרבנות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74D9C278-39FE-41C8-BA3A-3804919929A2}"/>
              </a:ext>
            </a:extLst>
          </p:cNvPr>
          <p:cNvSpPr txBox="1"/>
          <p:nvPr/>
        </p:nvSpPr>
        <p:spPr>
          <a:xfrm>
            <a:off x="6528048" y="1556792"/>
            <a:ext cx="2880320" cy="486287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txBody>
          <a:bodyPr wrap="square" rtlCol="1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he-IL" b="1" dirty="0">
                <a:solidFill>
                  <a:srgbClr val="002060"/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פרשת ויקרא</a:t>
            </a:r>
          </a:p>
          <a:p>
            <a:pPr algn="r" rtl="1">
              <a:lnSpc>
                <a:spcPct val="200000"/>
              </a:lnSpc>
            </a:pPr>
            <a:r>
              <a:rPr lang="he-IL" b="1" dirty="0">
                <a:solidFill>
                  <a:srgbClr val="002060"/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פרק א: </a:t>
            </a:r>
            <a:r>
              <a:rPr lang="he-IL" sz="2000" b="1" dirty="0">
                <a:solidFill>
                  <a:schemeClr val="accent5">
                    <a:lumMod val="75000"/>
                  </a:schemeClr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עולה</a:t>
            </a:r>
          </a:p>
          <a:p>
            <a:pPr algn="r" rtl="1">
              <a:lnSpc>
                <a:spcPct val="200000"/>
              </a:lnSpc>
            </a:pPr>
            <a:r>
              <a:rPr lang="he-IL" b="1" dirty="0">
                <a:solidFill>
                  <a:srgbClr val="002060"/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פרק ב: </a:t>
            </a:r>
            <a:r>
              <a:rPr lang="he-IL" sz="2000" b="1" dirty="0">
                <a:solidFill>
                  <a:schemeClr val="accent5">
                    <a:lumMod val="75000"/>
                  </a:schemeClr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מנחה</a:t>
            </a:r>
          </a:p>
          <a:p>
            <a:pPr algn="r" rtl="1">
              <a:lnSpc>
                <a:spcPct val="200000"/>
              </a:lnSpc>
            </a:pPr>
            <a:r>
              <a:rPr lang="he-IL" b="1" dirty="0">
                <a:solidFill>
                  <a:srgbClr val="002060"/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פרק ג: </a:t>
            </a:r>
            <a:r>
              <a:rPr lang="he-IL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Guttman Drogolin" panose="02010401010101010101" pitchFamily="2" charset="-79"/>
                <a:cs typeface="Guttman Drogolin" panose="02010401010101010101" pitchFamily="2" charset="-79"/>
              </a:rPr>
              <a:t>שלמים</a:t>
            </a:r>
          </a:p>
          <a:p>
            <a:pPr algn="r" rtl="1">
              <a:lnSpc>
                <a:spcPct val="200000"/>
              </a:lnSpc>
            </a:pPr>
            <a:r>
              <a:rPr lang="he-IL" b="1" dirty="0">
                <a:solidFill>
                  <a:srgbClr val="002060"/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פרק ד: </a:t>
            </a:r>
            <a:r>
              <a:rPr lang="he-IL" sz="2000" b="1" dirty="0">
                <a:solidFill>
                  <a:schemeClr val="accent2">
                    <a:lumMod val="75000"/>
                  </a:schemeClr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חטאת</a:t>
            </a:r>
            <a:endParaRPr lang="he-IL" b="1" dirty="0">
              <a:solidFill>
                <a:schemeClr val="accent2">
                  <a:lumMod val="75000"/>
                </a:schemeClr>
              </a:solidFill>
              <a:latin typeface="Guttman Drogolin" panose="02010401010101010101" pitchFamily="2" charset="-79"/>
              <a:cs typeface="Guttman Drogolin" panose="02010401010101010101" pitchFamily="2" charset="-79"/>
            </a:endParaRPr>
          </a:p>
          <a:p>
            <a:pPr algn="r" rtl="1">
              <a:lnSpc>
                <a:spcPct val="200000"/>
              </a:lnSpc>
            </a:pPr>
            <a:r>
              <a:rPr lang="he-IL" b="1" dirty="0">
                <a:solidFill>
                  <a:srgbClr val="002060"/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פרק ה: </a:t>
            </a:r>
            <a:r>
              <a:rPr lang="he-IL" sz="2000" b="1" dirty="0">
                <a:solidFill>
                  <a:schemeClr val="accent2">
                    <a:lumMod val="75000"/>
                  </a:schemeClr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חטאת "עולה ויורד"</a:t>
            </a:r>
          </a:p>
          <a:p>
            <a:pPr algn="r" rtl="1">
              <a:lnSpc>
                <a:spcPct val="200000"/>
              </a:lnSpc>
            </a:pPr>
            <a:r>
              <a:rPr lang="he-IL" b="1" dirty="0">
                <a:solidFill>
                  <a:schemeClr val="accent2">
                    <a:lumMod val="75000"/>
                  </a:schemeClr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        </a:t>
            </a:r>
            <a:r>
              <a:rPr lang="he-IL" sz="2000" b="1" dirty="0">
                <a:solidFill>
                  <a:schemeClr val="accent2">
                    <a:lumMod val="75000"/>
                  </a:schemeClr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אשם</a:t>
            </a:r>
            <a:endParaRPr lang="he-IL" b="1" dirty="0">
              <a:solidFill>
                <a:schemeClr val="accent2">
                  <a:lumMod val="75000"/>
                </a:schemeClr>
              </a:solidFill>
              <a:latin typeface="Guttman Drogolin" panose="02010401010101010101" pitchFamily="2" charset="-79"/>
              <a:cs typeface="Guttman Drogolin" panose="02010401010101010101" pitchFamily="2" charset="-79"/>
            </a:endParaRPr>
          </a:p>
          <a:p>
            <a:pPr algn="r" rtl="1">
              <a:lnSpc>
                <a:spcPct val="200000"/>
              </a:lnSpc>
            </a:pPr>
            <a:endParaRPr lang="he-IL" b="1" dirty="0">
              <a:solidFill>
                <a:schemeClr val="accent5">
                  <a:lumMod val="75000"/>
                </a:schemeClr>
              </a:solidFill>
              <a:latin typeface="Guttman Drogolin" panose="02010401010101010101" pitchFamily="2" charset="-79"/>
              <a:cs typeface="Guttman Drogolin" panose="02010401010101010101" pitchFamily="2" charset="-79"/>
            </a:endParaRPr>
          </a:p>
          <a:p>
            <a:endParaRPr lang="he-IL" dirty="0"/>
          </a:p>
        </p:txBody>
      </p:sp>
      <p:sp>
        <p:nvSpPr>
          <p:cNvPr id="4" name="סוגר מסולסל שמאלי 3">
            <a:extLst>
              <a:ext uri="{FF2B5EF4-FFF2-40B4-BE49-F238E27FC236}">
                <a16:creationId xmlns:a16="http://schemas.microsoft.com/office/drawing/2014/main" id="{B5D1385F-176E-4631-A3E8-CFD4AE761814}"/>
              </a:ext>
            </a:extLst>
          </p:cNvPr>
          <p:cNvSpPr/>
          <p:nvPr/>
        </p:nvSpPr>
        <p:spPr>
          <a:xfrm>
            <a:off x="7392144" y="2420888"/>
            <a:ext cx="288032" cy="1440160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סוגר מסולסל שמאלי 4">
            <a:extLst>
              <a:ext uri="{FF2B5EF4-FFF2-40B4-BE49-F238E27FC236}">
                <a16:creationId xmlns:a16="http://schemas.microsoft.com/office/drawing/2014/main" id="{CF6E15D5-504A-46E7-A032-39C8783B999A}"/>
              </a:ext>
            </a:extLst>
          </p:cNvPr>
          <p:cNvSpPr/>
          <p:nvPr/>
        </p:nvSpPr>
        <p:spPr>
          <a:xfrm>
            <a:off x="5807968" y="4292039"/>
            <a:ext cx="1440160" cy="1368152"/>
          </a:xfrm>
          <a:prstGeom prst="leftBrac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8D392A3B-1CB2-449D-8885-6DD300DF24F8}"/>
              </a:ext>
            </a:extLst>
          </p:cNvPr>
          <p:cNvSpPr txBox="1"/>
          <p:nvPr/>
        </p:nvSpPr>
        <p:spPr>
          <a:xfrm>
            <a:off x="6142856" y="2673342"/>
            <a:ext cx="1152128" cy="9771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algn="ctr">
              <a:lnSpc>
                <a:spcPct val="150000"/>
              </a:lnSpc>
            </a:pPr>
            <a:r>
              <a:rPr lang="he-IL" sz="2000" b="1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Guttman Drogolin" panose="02010401010101010101" pitchFamily="2" charset="-79"/>
                <a:cs typeface="Guttman Drogolin" panose="02010401010101010101" pitchFamily="2" charset="-79"/>
              </a:rPr>
              <a:t>קרבנות</a:t>
            </a:r>
            <a:r>
              <a:rPr lang="he-IL" sz="2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Guttman Drogolin" panose="02010401010101010101" pitchFamily="2" charset="-79"/>
                <a:cs typeface="Guttman Drogolin" panose="02010401010101010101" pitchFamily="2" charset="-79"/>
              </a:rPr>
              <a:t> נדבה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9C5C9E9F-6150-4E68-A559-C2D499895CD3}"/>
              </a:ext>
            </a:extLst>
          </p:cNvPr>
          <p:cNvSpPr txBox="1"/>
          <p:nvPr/>
        </p:nvSpPr>
        <p:spPr>
          <a:xfrm>
            <a:off x="5377644" y="4487520"/>
            <a:ext cx="957808" cy="977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algn="ctr">
              <a:lnSpc>
                <a:spcPct val="150000"/>
              </a:lnSpc>
            </a:pPr>
            <a:r>
              <a:rPr lang="he-IL" sz="2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קרבנות</a:t>
            </a:r>
            <a:r>
              <a:rPr lang="he-IL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 חובה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FADAF492-74BA-45AD-8ABA-0747415F002E}"/>
              </a:ext>
            </a:extLst>
          </p:cNvPr>
          <p:cNvSpPr txBox="1"/>
          <p:nvPr/>
        </p:nvSpPr>
        <p:spPr>
          <a:xfrm>
            <a:off x="2448744" y="1581174"/>
            <a:ext cx="2880320" cy="5232202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txBody>
          <a:bodyPr wrap="square" rtlCol="1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he-IL" b="1" dirty="0">
                <a:solidFill>
                  <a:srgbClr val="002060"/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פרשת צו</a:t>
            </a:r>
          </a:p>
          <a:p>
            <a:pPr algn="r" rtl="1">
              <a:lnSpc>
                <a:spcPct val="200000"/>
              </a:lnSpc>
            </a:pPr>
            <a:r>
              <a:rPr lang="he-IL" b="1" dirty="0">
                <a:solidFill>
                  <a:srgbClr val="002060"/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פרק ו: </a:t>
            </a:r>
            <a:r>
              <a:rPr lang="he-IL" sz="2000" b="1" dirty="0">
                <a:solidFill>
                  <a:schemeClr val="accent5">
                    <a:lumMod val="75000"/>
                  </a:schemeClr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תורת העולה</a:t>
            </a:r>
          </a:p>
          <a:p>
            <a:pPr algn="r" rtl="1">
              <a:lnSpc>
                <a:spcPct val="200000"/>
              </a:lnSpc>
            </a:pPr>
            <a:r>
              <a:rPr lang="he-IL" sz="2000" b="1" dirty="0">
                <a:solidFill>
                  <a:schemeClr val="accent5">
                    <a:lumMod val="75000"/>
                  </a:schemeClr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       תורת המנחה</a:t>
            </a:r>
          </a:p>
          <a:p>
            <a:pPr algn="r" rtl="1">
              <a:lnSpc>
                <a:spcPct val="200000"/>
              </a:lnSpc>
            </a:pPr>
            <a:r>
              <a:rPr lang="he-IL" sz="2000" b="1" dirty="0">
                <a:solidFill>
                  <a:schemeClr val="accent5">
                    <a:lumMod val="75000"/>
                  </a:schemeClr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       תורת החטאת</a:t>
            </a:r>
          </a:p>
          <a:p>
            <a:pPr algn="r" rtl="1">
              <a:lnSpc>
                <a:spcPct val="200000"/>
              </a:lnSpc>
            </a:pPr>
            <a:r>
              <a:rPr lang="he-IL" sz="2000" b="1" dirty="0">
                <a:solidFill>
                  <a:srgbClr val="002060"/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פרק ז: </a:t>
            </a:r>
            <a:r>
              <a:rPr lang="he-IL" sz="2000" b="1" dirty="0">
                <a:solidFill>
                  <a:schemeClr val="accent5">
                    <a:lumMod val="75000"/>
                  </a:schemeClr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תורת האשם</a:t>
            </a:r>
          </a:p>
          <a:p>
            <a:pPr algn="r" rtl="1">
              <a:lnSpc>
                <a:spcPct val="200000"/>
              </a:lnSpc>
            </a:pPr>
            <a:r>
              <a:rPr lang="he-IL" sz="2000" b="1" dirty="0">
                <a:solidFill>
                  <a:schemeClr val="accent5">
                    <a:lumMod val="75000"/>
                  </a:schemeClr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        </a:t>
            </a:r>
            <a:r>
              <a:rPr lang="he-IL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Guttman Drogolin" panose="02010401010101010101" pitchFamily="2" charset="-79"/>
                <a:cs typeface="Guttman Drogolin" panose="02010401010101010101" pitchFamily="2" charset="-79"/>
              </a:rPr>
              <a:t>תורת זבח השלמים</a:t>
            </a:r>
          </a:p>
          <a:p>
            <a:pPr algn="r" rtl="1">
              <a:lnSpc>
                <a:spcPct val="200000"/>
              </a:lnSpc>
            </a:pPr>
            <a:r>
              <a:rPr lang="he-IL" sz="2000" b="1" dirty="0">
                <a:solidFill>
                  <a:schemeClr val="accent5">
                    <a:lumMod val="75000"/>
                  </a:schemeClr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 </a:t>
            </a:r>
          </a:p>
          <a:p>
            <a:pPr algn="r" rtl="1">
              <a:lnSpc>
                <a:spcPct val="200000"/>
              </a:lnSpc>
            </a:pPr>
            <a:r>
              <a:rPr lang="he-IL" sz="2000" b="1" dirty="0">
                <a:solidFill>
                  <a:schemeClr val="accent5">
                    <a:lumMod val="75000"/>
                  </a:schemeClr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       </a:t>
            </a:r>
            <a:endParaRPr lang="he-IL" b="1" dirty="0">
              <a:solidFill>
                <a:schemeClr val="accent5">
                  <a:lumMod val="75000"/>
                </a:schemeClr>
              </a:solidFill>
              <a:latin typeface="Guttman Drogolin" panose="02010401010101010101" pitchFamily="2" charset="-79"/>
              <a:cs typeface="Guttman Drogolin" panose="02010401010101010101" pitchFamily="2" charset="-79"/>
            </a:endParaRPr>
          </a:p>
          <a:p>
            <a:pPr algn="r" rtl="1"/>
            <a:endParaRPr lang="he-IL" dirty="0"/>
          </a:p>
        </p:txBody>
      </p:sp>
      <p:sp>
        <p:nvSpPr>
          <p:cNvPr id="9" name="אליפסה 8">
            <a:extLst>
              <a:ext uri="{FF2B5EF4-FFF2-40B4-BE49-F238E27FC236}">
                <a16:creationId xmlns:a16="http://schemas.microsoft.com/office/drawing/2014/main" id="{FD732F89-8459-41D7-854A-8D2314B94BF6}"/>
              </a:ext>
            </a:extLst>
          </p:cNvPr>
          <p:cNvSpPr/>
          <p:nvPr/>
        </p:nvSpPr>
        <p:spPr>
          <a:xfrm>
            <a:off x="6672064" y="1052737"/>
            <a:ext cx="2520280" cy="7266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b="1" dirty="0">
                <a:solidFill>
                  <a:schemeClr val="accent5">
                    <a:lumMod val="75000"/>
                  </a:schemeClr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החלוקה על פי גורם ההקרבה</a:t>
            </a:r>
          </a:p>
        </p:txBody>
      </p:sp>
      <p:sp>
        <p:nvSpPr>
          <p:cNvPr id="10" name="אליפסה 9">
            <a:extLst>
              <a:ext uri="{FF2B5EF4-FFF2-40B4-BE49-F238E27FC236}">
                <a16:creationId xmlns:a16="http://schemas.microsoft.com/office/drawing/2014/main" id="{F7FB2F04-D76E-4742-A068-FB45F1EE010D}"/>
              </a:ext>
            </a:extLst>
          </p:cNvPr>
          <p:cNvSpPr/>
          <p:nvPr/>
        </p:nvSpPr>
        <p:spPr>
          <a:xfrm>
            <a:off x="2699991" y="1069018"/>
            <a:ext cx="2520280" cy="7266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b="1" dirty="0">
                <a:solidFill>
                  <a:schemeClr val="accent5">
                    <a:lumMod val="75000"/>
                  </a:schemeClr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החלוקה על פי רמת הקדושה</a:t>
            </a:r>
          </a:p>
        </p:txBody>
      </p:sp>
      <p:sp>
        <p:nvSpPr>
          <p:cNvPr id="11" name="סוגר מסולסל שמאלי 10">
            <a:extLst>
              <a:ext uri="{FF2B5EF4-FFF2-40B4-BE49-F238E27FC236}">
                <a16:creationId xmlns:a16="http://schemas.microsoft.com/office/drawing/2014/main" id="{340FEE98-826B-406A-B53D-735B25767B6C}"/>
              </a:ext>
            </a:extLst>
          </p:cNvPr>
          <p:cNvSpPr/>
          <p:nvPr/>
        </p:nvSpPr>
        <p:spPr>
          <a:xfrm>
            <a:off x="2904756" y="2503909"/>
            <a:ext cx="216024" cy="1850183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45E1BEEF-4774-4462-8F2D-52880B4FF8E7}"/>
              </a:ext>
            </a:extLst>
          </p:cNvPr>
          <p:cNvSpPr txBox="1"/>
          <p:nvPr/>
        </p:nvSpPr>
        <p:spPr>
          <a:xfrm>
            <a:off x="1710364" y="2883858"/>
            <a:ext cx="1152128" cy="97719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algn="ctr">
              <a:lnSpc>
                <a:spcPct val="150000"/>
              </a:lnSpc>
            </a:pPr>
            <a:r>
              <a:rPr lang="he-IL" sz="2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Guttman Drogolin" panose="02010401010101010101" pitchFamily="2" charset="-79"/>
                <a:cs typeface="Guttman Drogolin" panose="02010401010101010101" pitchFamily="2" charset="-79"/>
              </a:rPr>
              <a:t>קדשי קדשים</a:t>
            </a:r>
          </a:p>
        </p:txBody>
      </p:sp>
      <p:pic>
        <p:nvPicPr>
          <p:cNvPr id="14" name="גרפיקה 13" descr="חץ קו ישר">
            <a:extLst>
              <a:ext uri="{FF2B5EF4-FFF2-40B4-BE49-F238E27FC236}">
                <a16:creationId xmlns:a16="http://schemas.microsoft.com/office/drawing/2014/main" id="{222B9C1C-921B-4850-91E4-8A3B7AAD9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3496606" y="5028872"/>
            <a:ext cx="625500" cy="914400"/>
          </a:xfrm>
          <a:prstGeom prst="rect">
            <a:avLst/>
          </a:prstGeom>
        </p:spPr>
      </p:pic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0B1F8108-477A-43B4-9093-F4ADD349653B}"/>
              </a:ext>
            </a:extLst>
          </p:cNvPr>
          <p:cNvSpPr txBox="1"/>
          <p:nvPr/>
        </p:nvSpPr>
        <p:spPr>
          <a:xfrm>
            <a:off x="2812054" y="5798822"/>
            <a:ext cx="2011714" cy="51552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1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he-IL" sz="2000" b="1" dirty="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Guttman Drogolin" panose="02010401010101010101" pitchFamily="2" charset="-79"/>
                <a:cs typeface="Guttman Drogolin" panose="02010401010101010101" pitchFamily="2" charset="-79"/>
              </a:rPr>
              <a:t>קדשים קלים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D98BFA0D-6069-4289-8AA2-D306E1875E59}"/>
              </a:ext>
            </a:extLst>
          </p:cNvPr>
          <p:cNvSpPr/>
          <p:nvPr/>
        </p:nvSpPr>
        <p:spPr>
          <a:xfrm rot="20371347">
            <a:off x="1715912" y="887799"/>
            <a:ext cx="2882520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he-IL" dirty="0">
                <a:solidFill>
                  <a:schemeClr val="bg1"/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 צַ֤ו </a:t>
            </a:r>
            <a:r>
              <a:rPr lang="he-IL" dirty="0" err="1">
                <a:solidFill>
                  <a:schemeClr val="bg1"/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אֶֽת־אַהֲרֹן</a:t>
            </a:r>
            <a:r>
              <a:rPr lang="he-IL" dirty="0">
                <a:solidFill>
                  <a:schemeClr val="bg1"/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֙ </a:t>
            </a:r>
            <a:r>
              <a:rPr lang="he-IL" dirty="0" err="1">
                <a:solidFill>
                  <a:schemeClr val="bg1"/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וְאֶת־בָּנָ֣יו</a:t>
            </a:r>
            <a:r>
              <a:rPr lang="he-IL" dirty="0">
                <a:solidFill>
                  <a:schemeClr val="bg1"/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 </a:t>
            </a:r>
            <a:r>
              <a:rPr lang="he-IL" dirty="0" err="1">
                <a:solidFill>
                  <a:schemeClr val="bg1"/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לֵאמֹ֔ר</a:t>
            </a:r>
            <a:r>
              <a:rPr lang="he-IL" dirty="0">
                <a:solidFill>
                  <a:schemeClr val="bg1"/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 </a:t>
            </a: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57CDA156-8540-4748-BFD5-9CD7B2340DDE}"/>
              </a:ext>
            </a:extLst>
          </p:cNvPr>
          <p:cNvSpPr/>
          <p:nvPr/>
        </p:nvSpPr>
        <p:spPr>
          <a:xfrm rot="1487755">
            <a:off x="7601165" y="884350"/>
            <a:ext cx="2374369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he-IL" dirty="0">
                <a:solidFill>
                  <a:schemeClr val="bg1"/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    דַּבֵּ֞ר אֶל־בְּנֵ֤י יִשְׂרָאֵל֙  </a:t>
            </a:r>
          </a:p>
        </p:txBody>
      </p:sp>
    </p:spTree>
    <p:extLst>
      <p:ext uri="{BB962C8B-B14F-4D97-AF65-F5344CB8AC3E}">
        <p14:creationId xmlns:p14="http://schemas.microsoft.com/office/powerpoint/2010/main" val="11542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5" grpId="0" animBg="1"/>
      <p:bldP spid="13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שני עניינים חשובים לפני שנכנסים אל פרשת צו: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ct val="100000"/>
              <a:buFont typeface="Wingdings" panose="05000000000000000000" pitchFamily="2" charset="2"/>
              <a:buChar char="§"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מעבר לפרטי ההקרבה על ידי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הכהנים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[יש שלומדים ומרחיבים בכך בימינו]</a:t>
            </a:r>
            <a:endParaRPr lang="he-IL" sz="647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buSzPct val="100000"/>
              <a:buFont typeface="Wingdings" panose="05000000000000000000" pitchFamily="2" charset="2"/>
              <a:buChar char="§"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"תורה"- קובץ הוראות [תורת העולה, תורת ה..., תורת ה..., תורת ה..., תורת השלמים. ]</a:t>
            </a:r>
            <a:endParaRPr lang="he-IL" sz="36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endParaRPr lang="he-IL" sz="36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11939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3B2FE27-396E-E574-C441-EFDEB4B99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משימה לפני קריאה!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B36283B-F82B-8FE3-C8DD-9330788C9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 algn="ctr">
              <a:spcBef>
                <a:spcPts val="0"/>
              </a:spcBef>
              <a:buClr>
                <a:srgbClr val="262626"/>
              </a:buClr>
              <a:buNone/>
            </a:pPr>
            <a:r>
              <a:rPr lang="he-IL" sz="2800" dirty="0" err="1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קיראו</a:t>
            </a:r>
            <a:r>
              <a:rPr lang="he-IL" sz="2800" dirty="0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את פסוקים א-ו מהחומש, </a:t>
            </a:r>
            <a:r>
              <a:rPr lang="he-IL" sz="2800" dirty="0" err="1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מיצאו</a:t>
            </a:r>
            <a:r>
              <a:rPr lang="he-IL" sz="2800" dirty="0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מילים [או נושאים/צירופים] החוזרות על עצמן יותר מפעמיים.</a:t>
            </a:r>
          </a:p>
        </p:txBody>
      </p:sp>
    </p:spTree>
    <p:extLst>
      <p:ext uri="{BB962C8B-B14F-4D97-AF65-F5344CB8AC3E}">
        <p14:creationId xmlns:p14="http://schemas.microsoft.com/office/powerpoint/2010/main" val="191709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C8FA901-F862-71C7-20E0-3854791C4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F4A5E57-F03F-BE6F-054F-E328A0577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60" y="188640"/>
            <a:ext cx="8229600" cy="1143000"/>
          </a:xfrm>
        </p:spPr>
        <p:txBody>
          <a:bodyPr>
            <a:normAutofit/>
          </a:bodyPr>
          <a:lstStyle/>
          <a:p>
            <a:pPr algn="r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תורת העולה- פרק ו'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17FC0AB-7AF4-D6CE-C950-5755C050F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8684" y="1136915"/>
            <a:ext cx="8229600" cy="43891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וַיְדַבֵּ֥ר ה֖'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אֶל־מֹשֶׁ֥ה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לֵּאמֹֽר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׃ 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צַ֤ו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אֶֽת־אַהֲרֹן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֙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וְאֶת־בָּנָ֣יו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לֵאמֹ֔ר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זֹ֥את תּוֹרַ֖ת הָֽעֹלָ֑ה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הִ֣וא הָֽעֹלָ֡ה עַל֩ מֽוֹקְדָ֨ה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עַל־הַמִּזְבֵּ֤ח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כָּל־הַלַּ֨יְלָה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֙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עַד־הַבֹּ֔קֶר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וְאֵ֥שׁ הַמִּזְבֵּ֖חַ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תּ֥וּקַד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בּֽוֹ׃ 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וְלָבַ֨שׁ הַכֹּהֵ֜ן מִדּ֣וֹ בַ֗ד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וּמִֽכְנְסֵי־בַד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֮ יִלְבַּ֣שׁ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עַל־בְּשָׂרו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ֹ֒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וְהֵרִ֣ים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אֶת־הַדֶּ֗שֶׁן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אֲשֶׁ֨ר תֹּאכַ֥ל הָאֵ֛שׁ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אֶת־הָֽעֹלָ֖ה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עַל־הַמִּזְבֵּ֑ח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וְשָׂמ֕וֹ אֵ֖צֶל הַמִּזְבֵּֽחַ׃ 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endParaRPr lang="he-IL" sz="28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4" name="מציין מיקום תוכן 2">
            <a:extLst>
              <a:ext uri="{FF2B5EF4-FFF2-40B4-BE49-F238E27FC236}">
                <a16:creationId xmlns:a16="http://schemas.microsoft.com/office/drawing/2014/main" id="{0986D61E-476C-04DA-800C-5DC20FD1BEAA}"/>
              </a:ext>
            </a:extLst>
          </p:cNvPr>
          <p:cNvSpPr txBox="1">
            <a:spLocks/>
          </p:cNvSpPr>
          <p:nvPr/>
        </p:nvSpPr>
        <p:spPr>
          <a:xfrm>
            <a:off x="-1979240" y="123444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r" rtl="1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r" rtl="1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r" rtl="1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r" rtl="1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r" rtl="1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r" rtl="1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r" rtl="1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r" rtl="1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r" rtl="1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ד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וּפָשַׁט֙ </a:t>
            </a:r>
            <a:r>
              <a:rPr lang="he-IL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אֶת־בְּגָדָ֔יו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וְלָבַ֖שׁ בְּגָדִ֣ים אֲחֵרִ֑ים </a:t>
            </a:r>
            <a:br>
              <a:rPr lang="en-US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וְהוֹצִ֤יא </a:t>
            </a:r>
            <a:r>
              <a:rPr lang="he-IL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אֶת־הַדֶּ֨שֶׁן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֙ </a:t>
            </a:r>
            <a:r>
              <a:rPr lang="he-IL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אֶל־מִח֣וּץ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לַֽמַּחֲנֶ֔ה </a:t>
            </a:r>
            <a:br>
              <a:rPr lang="en-US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אֶל־מָק֖וֹם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טָהֽוֹר׃ </a:t>
            </a:r>
            <a:br>
              <a:rPr lang="en-US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וְהָאֵ֨שׁ </a:t>
            </a:r>
            <a:r>
              <a:rPr lang="he-IL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עַל־הַמִּזְבֵּ֤ח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ַ </a:t>
            </a:r>
            <a:r>
              <a:rPr lang="he-IL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תּֽוּקַד־בּו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ֹ֙ לֹ֣א תִכְבֶּ֔ה </a:t>
            </a:r>
            <a:br>
              <a:rPr lang="en-US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</a:b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וּבִעֵ֨ר עָלֶ֧יהָ הַכֹּהֵ֛ן עֵצִ֖ים בַּבֹּ֣קֶר </a:t>
            </a:r>
            <a:r>
              <a:rPr lang="he-IL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בַּבֹּ֑קֶר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 </a:t>
            </a:r>
            <a:br>
              <a:rPr lang="en-US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</a:b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וְעָרַ֤ךְ עָלֶ֨יהָ֙ הָֽעֹלָ֔ה </a:t>
            </a:r>
            <a:br>
              <a:rPr lang="en-US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</a:b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וְהִ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קְטִ֥יר עָלֶ֖יהָ חֶלְבֵ֥י הַשְּׁלָמִֽים׃ </a:t>
            </a:r>
            <a:br>
              <a:rPr lang="en-US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 אֵ֗שׁ תָּמִ֛יד </a:t>
            </a:r>
            <a:r>
              <a:rPr lang="he-IL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תּוּקַ֥ד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 </a:t>
            </a:r>
            <a:r>
              <a:rPr lang="he-IL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עַל־הַמִּזְבֵּ֖ח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ַ לֹ֥א תִכְבֶּֽה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׃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13985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AB07A45-79AF-1633-7F75-51F672EB0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3157464-0949-F48E-8DCD-73AB26C3A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60" y="188640"/>
            <a:ext cx="8229600" cy="1143000"/>
          </a:xfrm>
        </p:spPr>
        <p:txBody>
          <a:bodyPr>
            <a:normAutofit/>
          </a:bodyPr>
          <a:lstStyle/>
          <a:p>
            <a:pPr algn="r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תורת העולה- פרק ו'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3906061-301A-A0C8-1145-47DF735A9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8684" y="1136915"/>
            <a:ext cx="8229600" cy="43891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וַיְדַבֵּ֥ר  ה֖'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אֶל־מֹשֶׁ֥ה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לֵּאמֹֽר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׃ 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צַ֤ו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אֶֽת־אַהֲרֹן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֙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וְאֶת־בָּנָ֣יו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לֵאמֹ֔ר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זֹ֥את תּוֹרַ֖ת </a:t>
            </a:r>
            <a:r>
              <a:rPr lang="he-IL" sz="2800" b="1" dirty="0">
                <a:solidFill>
                  <a:schemeClr val="accent4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הָֽעֹלָ֑ה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הִ֣וא </a:t>
            </a:r>
            <a:r>
              <a:rPr lang="he-IL" sz="2800" b="1" dirty="0">
                <a:solidFill>
                  <a:schemeClr val="accent4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הָֽעֹלָ֡ה 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עַל֩ מֽוֹקְדָ֨ה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עַל־הַמִּזְבֵּ֤ח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כָּל־הַלַּ֨יְלָה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֙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עַד־הַבֹּ֔קֶר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וְאֵ֥שׁ הַמִּזְבֵּ֖חַ </a:t>
            </a:r>
            <a:r>
              <a:rPr lang="he-IL" sz="2800" b="1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תּ֥וּקַד</a:t>
            </a:r>
            <a:r>
              <a:rPr lang="he-IL" sz="28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בּֽוֹ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׃ 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וְלָבַ֨שׁ הַכֹּהֵ֜ן מִדּ֣וֹ בַ֗ד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וּמִֽכְנְסֵי־בַד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֮ יִלְבַּ֣שׁ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עַל־בְּשָׂרו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ֹ֒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וְהֵרִ֣ים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אֶת־הַדֶּ֗שֶׁן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אֲשֶׁ֨ר תֹּאכַ֥ל </a:t>
            </a:r>
            <a:r>
              <a:rPr lang="he-IL" sz="28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הָאֵ֛שׁ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אֶת־הָֽעֹלָ֖ה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עַל־הַמִּזְבֵּ֑ח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וְשָׂמ֕וֹ אֵ֖צֶל הַמִּזְבֵּֽחַ׃ 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endParaRPr lang="he-IL" sz="28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4" name="מציין מיקום תוכן 2">
            <a:extLst>
              <a:ext uri="{FF2B5EF4-FFF2-40B4-BE49-F238E27FC236}">
                <a16:creationId xmlns:a16="http://schemas.microsoft.com/office/drawing/2014/main" id="{ACBBDE65-ABE3-3CD2-529E-BBE30C44F998}"/>
              </a:ext>
            </a:extLst>
          </p:cNvPr>
          <p:cNvSpPr txBox="1">
            <a:spLocks/>
          </p:cNvSpPr>
          <p:nvPr/>
        </p:nvSpPr>
        <p:spPr>
          <a:xfrm>
            <a:off x="-1979240" y="123444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r" rtl="1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r" rtl="1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r" rtl="1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r" rtl="1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r" rtl="1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r" rtl="1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r" rtl="1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r" rtl="1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r" rtl="1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ד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וּפָשַׁט֙ </a:t>
            </a:r>
            <a:r>
              <a:rPr lang="he-IL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אֶת־בְּגָדָ֔יו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וְלָבַ֖שׁ בְּגָדִ֣ים אֲחֵרִ֑ים </a:t>
            </a:r>
            <a:br>
              <a:rPr lang="en-US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וְהוֹצִ֤יא </a:t>
            </a:r>
            <a:r>
              <a:rPr lang="he-IL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אֶת־הַדֶּ֨שֶׁן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֙ </a:t>
            </a:r>
            <a:r>
              <a:rPr lang="he-IL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אֶל־מִח֣וּץ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לַֽמַּחֲנֶ֔ה </a:t>
            </a:r>
            <a:br>
              <a:rPr lang="en-US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אֶל־מָק֖וֹם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טָהֽוֹר׃ </a:t>
            </a:r>
            <a:br>
              <a:rPr lang="en-US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וְהָאֵ֨שׁ </a:t>
            </a:r>
            <a:r>
              <a:rPr lang="he-IL" b="1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עַל־הַמִּזְבֵּ֤ח</a:t>
            </a:r>
            <a:r>
              <a:rPr lang="he-IL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</a:t>
            </a:r>
            <a:r>
              <a:rPr lang="he-IL" b="1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תּֽוּקַד־בּו</a:t>
            </a:r>
            <a:r>
              <a:rPr lang="he-IL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ֹ֙ לֹ֣א תִכְבֶּ֔ה </a:t>
            </a:r>
            <a:br>
              <a:rPr lang="en-US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וּבִעֵ֨ר עָלֶ֧יהָ הַכֹּהֵ֛ן עֵצִ֖ים בַּבֹּ֣קֶר </a:t>
            </a:r>
            <a:r>
              <a:rPr lang="he-IL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בַּבֹּ֑קֶר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וְעָרַ֤ךְ עָלֶ֨יהָ֙ </a:t>
            </a:r>
            <a:r>
              <a:rPr lang="he-IL" b="1" dirty="0">
                <a:solidFill>
                  <a:schemeClr val="accent4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הָֽעֹלָ֔ה </a:t>
            </a:r>
            <a:br>
              <a:rPr lang="en-US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וְהִקְטִ֥יר עָלֶ֖יהָ חֶלְבֵ֥י הַשְּׁלָמִֽים׃ </a:t>
            </a:r>
            <a:br>
              <a:rPr lang="en-US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אֵ֗שׁ תָּמִ֛יד </a:t>
            </a:r>
            <a:r>
              <a:rPr lang="he-IL" b="1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תּוּקַ֥ד</a:t>
            </a:r>
            <a:r>
              <a:rPr lang="he-IL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b="1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עַל־הַמִּזְבֵּ֖ח</a:t>
            </a:r>
            <a:r>
              <a:rPr lang="he-IL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לֹ֥א תִכְבֶּֽה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׃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878335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49C8E82-BEEC-61D8-4CD7-5B664BACE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B31F0B3-1905-8484-F886-1D9C84B0F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60" y="188640"/>
            <a:ext cx="8229600" cy="1143000"/>
          </a:xfrm>
        </p:spPr>
        <p:txBody>
          <a:bodyPr>
            <a:normAutofit/>
          </a:bodyPr>
          <a:lstStyle/>
          <a:p>
            <a:pPr algn="r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תורת העולה- פרק ו'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A3F4C89-1131-22AC-B5C5-15ECF887A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8684" y="1136915"/>
            <a:ext cx="8229600" cy="4389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וַיְדַבֵּ֥ר ה֖'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אֶל־מֹשֶׁ֥ה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לֵּאמֹֽר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׃ 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צַ֤ו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אֶֽת־אַהֲרֹן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֙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וְאֶת־בָּנָ֣יו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לֵאמֹ֔ר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זֹ֥את תּוֹרַ֖ת הָֽעֹלָ֑ה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הִ֣וא הָֽעֹלָ֡ה עַל֩ מֽוֹקְדָ֨ה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עַל־הַמִּזְבֵּ֤ח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כָּל־הַלַּ֨יְלָה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֙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עַד־הַבֹּ֔קֶר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וְאֵ֥שׁ הַמִּזְבֵּ֖חַ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תּ֥וּקַד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בּֽוֹ׃ 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endParaRPr lang="he-IL" sz="28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5" name="תמונה 4" descr="תמונה שמכילה טבע, חום, ענבר, תמו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D8F21F0-D127-F29F-933B-B90C27936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-1" t="1988" r="53303" b="28003"/>
          <a:stretch>
            <a:fillRect/>
          </a:stretch>
        </p:blipFill>
        <p:spPr>
          <a:xfrm>
            <a:off x="2929850" y="526699"/>
            <a:ext cx="2006044" cy="375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229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7CD50B3-4CF2-4F4A-6C30-CB50DC7DE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92F6116-2BEA-E438-CE9D-860257C2F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60" y="188640"/>
            <a:ext cx="8229600" cy="1143000"/>
          </a:xfrm>
        </p:spPr>
        <p:txBody>
          <a:bodyPr>
            <a:normAutofit/>
          </a:bodyPr>
          <a:lstStyle/>
          <a:p>
            <a:pPr algn="r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תורת העולה- פרק ו'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6467B81-0C1B-7199-EB11-4DFFC2525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8684" y="1136915"/>
            <a:ext cx="8229600" cy="4389120"/>
          </a:xfrm>
        </p:spPr>
        <p:txBody>
          <a:bodyPr>
            <a:normAutofit/>
          </a:bodyPr>
          <a:lstStyle/>
          <a:p>
            <a:pPr indent="-457200">
              <a:buClr>
                <a:srgbClr val="FF0000"/>
              </a:buClr>
              <a:buSzPct val="70000"/>
              <a:buFont typeface="Wingdings" panose="05000000000000000000" pitchFamily="2" charset="2"/>
              <a:buChar char="§"/>
            </a:pP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את כל העולה שורפים- מה נשאר על המזבח?</a:t>
            </a:r>
          </a:p>
          <a:p>
            <a:pPr indent="-457200">
              <a:buClr>
                <a:srgbClr val="FF0000"/>
              </a:buClr>
              <a:buSzPct val="70000"/>
              <a:buFont typeface="Wingdings" panose="05000000000000000000" pitchFamily="2" charset="2"/>
              <a:buChar char="§"/>
            </a:pP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הדשן הוא שאריות של </a:t>
            </a:r>
            <a:r>
              <a:rPr lang="he-IL" sz="28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קרבנות</a:t>
            </a: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- הוא קדוש.</a:t>
            </a:r>
            <a:br>
              <a:rPr lang="en-US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מה יעשו </a:t>
            </a:r>
            <a:r>
              <a:rPr lang="he-IL" sz="28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איתו</a:t>
            </a: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?</a:t>
            </a:r>
            <a:endParaRPr lang="he-IL" sz="28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5" name="תמונה 4" descr="תמונה שמכילה טבע, חום, ענבר, תמו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7F53221-7BDF-4DA5-B9C7-E8AD7D194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-1" t="1988" r="53303" b="28003"/>
          <a:stretch>
            <a:fillRect/>
          </a:stretch>
        </p:blipFill>
        <p:spPr>
          <a:xfrm>
            <a:off x="2929850" y="526699"/>
            <a:ext cx="2006044" cy="3759325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37B175D1-A80C-A3CA-9C14-151B7C7B43DC}"/>
              </a:ext>
            </a:extLst>
          </p:cNvPr>
          <p:cNvSpPr txBox="1"/>
          <p:nvPr/>
        </p:nvSpPr>
        <p:spPr>
          <a:xfrm>
            <a:off x="248477" y="1565605"/>
            <a:ext cx="1517376" cy="2308324"/>
          </a:xfrm>
          <a:prstGeom prst="rect">
            <a:avLst/>
          </a:prstGeom>
          <a:solidFill>
            <a:srgbClr val="00FF00"/>
          </a:solidFill>
        </p:spPr>
        <p:txBody>
          <a:bodyPr wrap="square" rtlCol="1">
            <a:spAutoFit/>
          </a:bodyPr>
          <a:lstStyle/>
          <a:p>
            <a:pPr algn="ctr"/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הדשן הוא שאריות של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קרבנות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– הוא קדוש. מה יעשו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איתו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86462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5E3D347-6382-AD3E-0181-65D422D3C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F83A2E2-87EA-3F07-DF34-76833527F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60" y="188640"/>
            <a:ext cx="8229600" cy="1143000"/>
          </a:xfrm>
        </p:spPr>
        <p:txBody>
          <a:bodyPr>
            <a:normAutofit/>
          </a:bodyPr>
          <a:lstStyle/>
          <a:p>
            <a:pPr algn="r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תורת העולה- פרק ו'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2C32197-8CB0-266F-CEAF-3B77B334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8684" y="1136915"/>
            <a:ext cx="8229600" cy="43891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וְלָבַ֨שׁ הַכֹּהֵ֜ן מִדּ֣וֹ בַ֗ד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וּמִֽכְנְסֵי־בַד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֮ יִלְבַּ֣שׁ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עַל־בְּשָׂרו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ֹ֒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וְהֵרִ֣ים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אֶת־הַדֶּ֗שֶׁן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אֲשֶׁ֨ר תֹּאכַ֥ל הָאֵ֛שׁ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אֶת־הָֽעֹלָ֖ה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עַל־הַמִּזְבֵּ֑ח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וְשָׂמ֕וֹ אֵ֖צֶל הַמִּזְבֵּֽחַ׃ 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ד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וּפָשַׁט֙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אֶת־בְּגָדָ֔יו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וְלָבַ֖שׁ בְּגָדִ֣ים אֲחֵרִ֑ים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וְהוֹצִ֤יא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אֶת־הַדֶּ֨שֶׁן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֙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אֶל־מִח֣וּץ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לַֽמַּחֲנֶ֔ה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אֶל־מָק֖וֹם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טָהֽוֹר׃ </a:t>
            </a:r>
            <a:endParaRPr lang="he-IL" sz="28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buNone/>
            </a:pPr>
            <a:endParaRPr lang="he-IL" sz="28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4" name="מציין מיקום תוכן 2">
            <a:extLst>
              <a:ext uri="{FF2B5EF4-FFF2-40B4-BE49-F238E27FC236}">
                <a16:creationId xmlns:a16="http://schemas.microsoft.com/office/drawing/2014/main" id="{3C7E327D-551B-8CFB-8099-C24CC583C4D6}"/>
              </a:ext>
            </a:extLst>
          </p:cNvPr>
          <p:cNvSpPr txBox="1">
            <a:spLocks/>
          </p:cNvSpPr>
          <p:nvPr/>
        </p:nvSpPr>
        <p:spPr>
          <a:xfrm>
            <a:off x="-1979240" y="123444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r" rtl="1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r" rtl="1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r" rtl="1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r" rtl="1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r" rtl="1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r" rtl="1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r" rtl="1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r" rtl="1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r" rtl="1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6" name="תמונה 5" descr="תמונה שמכילה שמיים, לבוש, קרקע, אד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CD8980A-3746-42D4-7A9F-3AD4E499B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76" y="1331640"/>
            <a:ext cx="5809799" cy="3873199"/>
          </a:xfrm>
          <a:prstGeom prst="rect">
            <a:avLst/>
          </a:prstGeo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75C5986F-C4BF-85F9-FCD9-DCA248F840A2}"/>
              </a:ext>
            </a:extLst>
          </p:cNvPr>
          <p:cNvSpPr txBox="1"/>
          <p:nvPr/>
        </p:nvSpPr>
        <p:spPr>
          <a:xfrm>
            <a:off x="803717" y="5526035"/>
            <a:ext cx="100130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e-IL" sz="2000" b="1" dirty="0">
                <a:latin typeface="David" panose="020E0502060401010101" pitchFamily="34" charset="-79"/>
                <a:cs typeface="David" panose="020E0502060401010101" pitchFamily="34" charset="-79"/>
              </a:rPr>
              <a:t>הרמת דשן:</a:t>
            </a:r>
          </a:p>
          <a:p>
            <a:pPr algn="r"/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מדי</a:t>
            </a:r>
            <a:r>
              <a:rPr lang="he-IL" sz="2000" dirty="0"/>
              <a:t> 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יום הכהן מרים כמות של אפר מהמזבח על ידי מחתה ומניח אותה על רצפת המשכן לצד המזבח. </a:t>
            </a:r>
          </a:p>
          <a:p>
            <a:pPr algn="r"/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בעבודה זו נפתחה עבודת היום מדי בקר במקדש. 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41200AA7-F053-A9C8-989A-041F1D9A72FE}"/>
              </a:ext>
            </a:extLst>
          </p:cNvPr>
          <p:cNvSpPr txBox="1"/>
          <p:nvPr/>
        </p:nvSpPr>
        <p:spPr>
          <a:xfrm>
            <a:off x="-4051311" y="4690945"/>
            <a:ext cx="100130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avid" panose="020E0502060401010101" pitchFamily="34" charset="-79"/>
                <a:cs typeface="David" panose="020E0502060401010101" pitchFamily="34" charset="-79"/>
              </a:rPr>
              <a:t>כהנים על גבי המזבח בשעת פינוי הדשן.</a:t>
            </a:r>
            <a:endParaRPr lang="he-IL" sz="20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59554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AEAEC6D-632C-4B35-5DDA-8C436A470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00DA40E-14F1-4A64-31B6-E16BECC4C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60" y="188640"/>
            <a:ext cx="8229600" cy="1143000"/>
          </a:xfrm>
        </p:spPr>
        <p:txBody>
          <a:bodyPr>
            <a:normAutofit/>
          </a:bodyPr>
          <a:lstStyle/>
          <a:p>
            <a:pPr algn="r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תורת העולה- פרק ו'</a:t>
            </a:r>
          </a:p>
        </p:txBody>
      </p:sp>
      <p:sp>
        <p:nvSpPr>
          <p:cNvPr id="4" name="מציין מיקום תוכן 2">
            <a:extLst>
              <a:ext uri="{FF2B5EF4-FFF2-40B4-BE49-F238E27FC236}">
                <a16:creationId xmlns:a16="http://schemas.microsoft.com/office/drawing/2014/main" id="{2092FA47-3379-4052-B99E-6B957C402DC8}"/>
              </a:ext>
            </a:extLst>
          </p:cNvPr>
          <p:cNvSpPr txBox="1">
            <a:spLocks/>
          </p:cNvSpPr>
          <p:nvPr/>
        </p:nvSpPr>
        <p:spPr>
          <a:xfrm>
            <a:off x="2854017" y="133164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r" rtl="1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r" rtl="1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r" rtl="1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r" rtl="1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r" rtl="1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r" rtl="1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r" rtl="1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r" rtl="1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r" rtl="1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en-US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וְהָאֵ֨שׁ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עַל־הַמִּזְבֵּ֤ח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ַ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תּֽוּקַד־בּו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ֹ֙ לֹ֣א תִכְבֶּ֔ה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וּבִעֵ֨ר עָלֶ֧יהָ הַכֹּהֵ֛ן עֵצִ֖ים בַּבֹּ֣קֶר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בַּבֹּ֑קֶר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וְעָרַ֤ךְ עָלֶ֨יהָ֙ הָֽעֹלָ֔ה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וְהִ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קְטִ֥יר עָלֶ֖יהָ חֶלְבֵ֥י הַשְּׁלָמִֽים׃ 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endParaRPr lang="he-IL" sz="28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11" name="תמונה 10" descr="תמונה שמכילה בתוך מב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77AA316-4767-C37B-19C3-6B11C11E8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844" l="4297" r="95801">
                        <a14:foregroundMark x1="90723" y1="45410" x2="94629" y2="35742"/>
                        <a14:foregroundMark x1="94629" y1="35742" x2="90918" y2="44336"/>
                        <a14:foregroundMark x1="90918" y1="44336" x2="90918" y2="45410"/>
                        <a14:foregroundMark x1="95898" y1="38965" x2="94531" y2="35742"/>
                        <a14:foregroundMark x1="4297" y1="36523" x2="4492" y2="3759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4032" y="760140"/>
            <a:ext cx="5274310" cy="527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92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278043-08A9-8322-4567-82FD9C607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39F06DD-D4BD-33A1-CC8C-B3A316E38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60" y="188640"/>
            <a:ext cx="8229600" cy="1143000"/>
          </a:xfrm>
        </p:spPr>
        <p:txBody>
          <a:bodyPr>
            <a:normAutofit/>
          </a:bodyPr>
          <a:lstStyle/>
          <a:p>
            <a:pPr algn="r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תורת העולה- פרק ו'</a:t>
            </a:r>
          </a:p>
        </p:txBody>
      </p:sp>
      <p:sp>
        <p:nvSpPr>
          <p:cNvPr id="4" name="מציין מיקום תוכן 2">
            <a:extLst>
              <a:ext uri="{FF2B5EF4-FFF2-40B4-BE49-F238E27FC236}">
                <a16:creationId xmlns:a16="http://schemas.microsoft.com/office/drawing/2014/main" id="{1BA1CF3B-B4BA-BA74-455E-D5CD3BF7AC40}"/>
              </a:ext>
            </a:extLst>
          </p:cNvPr>
          <p:cNvSpPr txBox="1">
            <a:spLocks/>
          </p:cNvSpPr>
          <p:nvPr/>
        </p:nvSpPr>
        <p:spPr>
          <a:xfrm>
            <a:off x="2854017" y="133164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r" rtl="1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r" rtl="1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r" rtl="1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r" rtl="1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r" rtl="1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r" rtl="1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r" rtl="1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r" rtl="1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r" rtl="1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en-US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וְהָאֵ֨שׁ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עַל־הַמִּזְבֵּ֤ח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ַ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תּֽוּקַד־בּו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ֹ֙ לֹ֣א תִכְבֶּ֔ה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וּבִעֵ֨ר עָלֶ֧יהָ הַכֹּהֵ֛ן עֵצִ֖ים בַּבֹּ֣קֶר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בַּבֹּ֑קֶר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וְעָרַ֤ךְ עָלֶ֨יהָ֙ הָֽעֹלָ֔ה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וְהִ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קְטִ֥יר עָלֶ֖יהָ חֶלְבֵ֥י הַשְּׁלָמִֽים׃ 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 אֵ֗שׁ תָּמִ֛יד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תּוּקַ֥ד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עַל־הַמִּזְבֵּ֖ח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ַ לֹ֥א תִכְבֶּֽה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׃</a:t>
            </a:r>
            <a:endParaRPr lang="he-IL" sz="28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8" name="תמונה 7" descr="תמונה שמכילה תמונה, אומנות, אש, לבוש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F4270FF-E129-5644-7594-0D90FD6B4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07" y="1970302"/>
            <a:ext cx="5516196" cy="36774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57278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981200" y="332656"/>
            <a:ext cx="8229600" cy="1143000"/>
          </a:xfrm>
        </p:spPr>
        <p:txBody>
          <a:bodyPr>
            <a:normAutofit/>
          </a:bodyPr>
          <a:lstStyle/>
          <a:p>
            <a:pPr algn="r"/>
            <a:r>
              <a:rPr lang="he-IL" sz="44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"</a:t>
            </a:r>
            <a:r>
              <a:rPr lang="he-IL" sz="4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אֵ֗שׁ תָּמִ֛יד </a:t>
            </a:r>
            <a:r>
              <a:rPr lang="he-IL" sz="44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תּוּקַ֥ד</a:t>
            </a:r>
            <a:r>
              <a:rPr lang="he-IL" sz="4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44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עַל־הַמִּזְבֵּ֖ח</a:t>
            </a:r>
            <a:r>
              <a:rPr lang="he-IL" sz="4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לֹ֥א תִכְבֶּֽה"</a:t>
            </a:r>
            <a:endParaRPr lang="he-IL" sz="44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8" name="כותרת 1"/>
          <p:cNvSpPr txBox="1">
            <a:spLocks/>
          </p:cNvSpPr>
          <p:nvPr/>
        </p:nvSpPr>
        <p:spPr>
          <a:xfrm>
            <a:off x="2189440" y="3429000"/>
            <a:ext cx="8229600" cy="1209204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1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457200" indent="-457200" algn="r">
              <a:buFont typeface="Arial" panose="020B0604020202020204" pitchFamily="34" charset="0"/>
              <a:buChar char="•"/>
            </a:pPr>
            <a:endParaRPr lang="he-IL" sz="2000" dirty="0">
              <a:solidFill>
                <a:srgbClr val="000000"/>
              </a:solidFill>
              <a:latin typeface="David" panose="020E0502060401010101" pitchFamily="34" charset="-79"/>
              <a:ea typeface="Century Gothic"/>
              <a:cs typeface="David" panose="020E0502060401010101" pitchFamily="34" charset="-79"/>
              <a:sym typeface="Century Gothic"/>
            </a:endParaRPr>
          </a:p>
          <a:p>
            <a:pPr marL="457200" indent="-457200" algn="r">
              <a:buFont typeface="Arial" panose="020B0604020202020204" pitchFamily="34" charset="0"/>
              <a:buChar char="•"/>
            </a:pPr>
            <a:endParaRPr lang="he-IL" sz="2000" dirty="0">
              <a:solidFill>
                <a:srgbClr val="000000"/>
              </a:solidFill>
              <a:latin typeface="David" panose="020E0502060401010101" pitchFamily="34" charset="-79"/>
              <a:ea typeface="Century Gothic"/>
              <a:cs typeface="David" panose="020E0502060401010101" pitchFamily="34" charset="-79"/>
              <a:sym typeface="Century Gothic"/>
            </a:endParaRPr>
          </a:p>
          <a:p>
            <a:pPr marL="457200" indent="-457200" algn="r">
              <a:buFont typeface="Arial" panose="020B0604020202020204" pitchFamily="34" charset="0"/>
              <a:buChar char="•"/>
            </a:pPr>
            <a:endParaRPr lang="he-IL" sz="2000" dirty="0">
              <a:solidFill>
                <a:srgbClr val="000000"/>
              </a:solidFill>
              <a:latin typeface="David" panose="020E0502060401010101" pitchFamily="34" charset="-79"/>
              <a:ea typeface="Century Gothic"/>
              <a:cs typeface="David" panose="020E0502060401010101" pitchFamily="34" charset="-79"/>
              <a:sym typeface="Century Gothic"/>
            </a:endParaRPr>
          </a:p>
          <a:p>
            <a:pPr marL="457200" indent="-457200" algn="r">
              <a:buFont typeface="Arial" panose="020B0604020202020204" pitchFamily="34" charset="0"/>
              <a:buChar char="•"/>
            </a:pPr>
            <a:endParaRPr lang="he-IL" sz="2000" dirty="0">
              <a:solidFill>
                <a:srgbClr val="000000"/>
              </a:solidFill>
              <a:latin typeface="David" panose="020E0502060401010101" pitchFamily="34" charset="-79"/>
              <a:ea typeface="Century Gothic"/>
              <a:cs typeface="David" panose="020E0502060401010101" pitchFamily="34" charset="-79"/>
              <a:sym typeface="Century Gothic"/>
            </a:endParaRPr>
          </a:p>
          <a:p>
            <a:pPr algn="r"/>
            <a:r>
              <a:rPr lang="he-IL" sz="3600" b="1" dirty="0">
                <a:solidFill>
                  <a:srgbClr val="000000"/>
                </a:solidFill>
                <a:latin typeface="David" panose="020E0502060401010101" pitchFamily="34" charset="-79"/>
                <a:ea typeface="Century Gothic"/>
                <a:cs typeface="David" panose="020E0502060401010101" pitchFamily="34" charset="-79"/>
                <a:sym typeface="Century Gothic"/>
              </a:rPr>
              <a:t>                                    דיון</a:t>
            </a:r>
          </a:p>
          <a:p>
            <a:pPr marL="457200" indent="-457200" algn="r">
              <a:buFont typeface="Arial" panose="020B0604020202020204" pitchFamily="34" charset="0"/>
              <a:buChar char="•"/>
            </a:pP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ea typeface="Century Gothic"/>
                <a:cs typeface="David" panose="020E0502060401010101" pitchFamily="34" charset="-79"/>
                <a:sym typeface="Century Gothic"/>
              </a:rPr>
              <a:t>מה מסמלת אש תמיד?</a:t>
            </a:r>
          </a:p>
          <a:p>
            <a:pPr marL="457200" indent="-457200" algn="r">
              <a:buFont typeface="Arial" panose="020B0604020202020204" pitchFamily="34" charset="0"/>
              <a:buChar char="•"/>
            </a:pP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ea typeface="Century Gothic"/>
                <a:cs typeface="David" panose="020E0502060401010101" pitchFamily="34" charset="-79"/>
                <a:sym typeface="Century Gothic"/>
              </a:rPr>
              <a:t>איך אפשר לקיים אש תמיד?</a:t>
            </a:r>
          </a:p>
          <a:p>
            <a:pPr marL="457200" indent="-457200" algn="r">
              <a:buFont typeface="Arial" panose="020B0604020202020204" pitchFamily="34" charset="0"/>
              <a:buChar char="•"/>
            </a:pP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ea typeface="Century Gothic"/>
                <a:cs typeface="David" panose="020E0502060401010101" pitchFamily="34" charset="-79"/>
                <a:sym typeface="Century Gothic"/>
              </a:rPr>
              <a:t>מי דאג לכך?</a:t>
            </a:r>
          </a:p>
          <a:p>
            <a:pPr marL="457200" indent="-457200" algn="r">
              <a:buFont typeface="Arial" panose="020B0604020202020204" pitchFamily="34" charset="0"/>
              <a:buChar char="•"/>
            </a:pP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ea typeface="Century Gothic"/>
                <a:cs typeface="David" panose="020E0502060401010101" pitchFamily="34" charset="-79"/>
                <a:sym typeface="Century Gothic"/>
              </a:rPr>
              <a:t>מה עושים עם כל האפר?</a:t>
            </a:r>
          </a:p>
          <a:p>
            <a:pPr marL="457200" indent="-457200" algn="r">
              <a:buFont typeface="Arial" panose="020B0604020202020204" pitchFamily="34" charset="0"/>
              <a:buChar char="•"/>
            </a:pP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ea typeface="Century Gothic"/>
                <a:cs typeface="David" panose="020E0502060401010101" pitchFamily="34" charset="-79"/>
                <a:sym typeface="Century Gothic"/>
              </a:rPr>
              <a:t>האם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ea typeface="Century Gothic"/>
                <a:cs typeface="David" panose="020E0502060401010101" pitchFamily="34" charset="-79"/>
                <a:sym typeface="Century Gothic"/>
              </a:rPr>
              <a:t>הכהנים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ea typeface="Century Gothic"/>
                <a:cs typeface="David" panose="020E0502060401010101" pitchFamily="34" charset="-79"/>
                <a:sym typeface="Century Gothic"/>
              </a:rPr>
              <a:t> רצו לעשות את עבודת "תרומת הדשן"?</a:t>
            </a:r>
          </a:p>
        </p:txBody>
      </p:sp>
    </p:spTree>
    <p:extLst>
      <p:ext uri="{BB962C8B-B14F-4D97-AF65-F5344CB8AC3E}">
        <p14:creationId xmlns:p14="http://schemas.microsoft.com/office/powerpoint/2010/main" val="1957275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9E59505-76CA-13B7-7117-8F3371301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>
              <a:buClr>
                <a:srgbClr val="000000"/>
              </a:buClr>
              <a:buFont typeface="Arial"/>
            </a:pPr>
            <a:r>
              <a:rPr lang="he-IL" sz="44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איזו אש תמיד אנו מכירים?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50F066A-C2B4-BA40-C69A-E3485FD8F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FFD6D33F-FC34-2217-4FEB-36A33A47A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712" y="1685485"/>
            <a:ext cx="3943900" cy="2553056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F45294DA-2AA2-9C06-8B23-6E37C5614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704" y="946778"/>
            <a:ext cx="2702396" cy="3520363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042CB1EF-B551-A839-DD81-5B43F62B1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360" y="4467141"/>
            <a:ext cx="4477375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653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FD31A9-D7CB-435F-D021-9896552AC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F94A846-621E-6330-77CF-A1317D0EB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>
              <a:buClr>
                <a:srgbClr val="000000"/>
              </a:buClr>
              <a:buFont typeface="Arial"/>
            </a:pPr>
            <a:r>
              <a:rPr lang="he-IL" sz="44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משמעות אש התמיד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573B1EC-3EF1-D76E-A8BC-31D6662BE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אש זו ממשיכה את האש שירדה מן השמים אל המזבח בתחילת עבודת המשכן.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לבערת אש התמיד - משמעות רוחנית ביחס לעבודת ה' ולקשר עם </a:t>
            </a:r>
            <a:br>
              <a:rPr lang="en-US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רבש"ע, שאיננו פוסק.   </a:t>
            </a:r>
          </a:p>
        </p:txBody>
      </p:sp>
      <p:pic>
        <p:nvPicPr>
          <p:cNvPr id="4" name="תמונה 3" descr="תמונה שמכילה טבע, חום, ענבר, תמו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45575E7-A015-E623-ABD0-E43493A38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-1" t="1988" r="53303" b="28003"/>
          <a:stretch>
            <a:fillRect/>
          </a:stretch>
        </p:blipFill>
        <p:spPr>
          <a:xfrm>
            <a:off x="867785" y="946778"/>
            <a:ext cx="2006044" cy="375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342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D03DE86-F19D-477A-96FA-39715957A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buClr>
                <a:srgbClr val="000000"/>
              </a:buClr>
              <a:buFont typeface="Arial"/>
            </a:pPr>
            <a:r>
              <a:rPr lang="he-IL" sz="40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תורת העולה- פרק ו' פסוקים א-ה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C17BC1B-D30A-D70B-8D70-584C14D67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פרשת צו עוסקת בהוראות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לכהנים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 המקריבים את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הקרבנות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.</a:t>
            </a:r>
          </a:p>
          <a:p>
            <a:pPr marL="11430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חלקי קרבן העולה נשרפים על המזבח כל הלילה.</a:t>
            </a:r>
          </a:p>
          <a:p>
            <a:pPr marL="11430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בבוקר צריכים לפנות את האפר [הדשן] אל מחוץ למחנה [עבודה זו נחשבה עבודה חשובה ומכובדת].</a:t>
            </a:r>
          </a:p>
          <a:p>
            <a:pPr marL="11430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על המזבח בערה תמיד אש ולכן היא נקראה ''אש תמיד''.</a:t>
            </a:r>
          </a:p>
          <a:p>
            <a:pPr marL="114300" indent="0">
              <a:spcBef>
                <a:spcPts val="0"/>
              </a:spcBef>
              <a:buClr>
                <a:srgbClr val="000000"/>
              </a:buClr>
              <a:buNone/>
            </a:pPr>
            <a:endParaRPr lang="he-IL" sz="2000" dirty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  <a:sym typeface="Arial"/>
            </a:endParaRPr>
          </a:p>
          <a:p>
            <a:pPr marL="114300" indent="0">
              <a:spcBef>
                <a:spcPts val="0"/>
              </a:spcBef>
              <a:buClr>
                <a:srgbClr val="000000"/>
              </a:buClr>
              <a:buNone/>
            </a:pPr>
            <a:endParaRPr lang="he-IL" sz="2000" dirty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  <a:sym typeface="Arial"/>
            </a:endParaRPr>
          </a:p>
          <a:p>
            <a:pPr marL="114300" indent="0">
              <a:spcBef>
                <a:spcPts val="0"/>
              </a:spcBef>
              <a:buClr>
                <a:srgbClr val="000000"/>
              </a:buClr>
              <a:buNone/>
            </a:pPr>
            <a:endParaRPr lang="he-IL" sz="2000" dirty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  <a:sym typeface="Arial"/>
            </a:endParaRPr>
          </a:p>
          <a:p>
            <a:pPr marL="114300" indent="0">
              <a:spcBef>
                <a:spcPts val="0"/>
              </a:spcBef>
              <a:buClr>
                <a:srgbClr val="000000"/>
              </a:buClr>
              <a:buNone/>
            </a:pPr>
            <a:endParaRPr lang="he-IL" sz="2000" dirty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  <a:sym typeface="Arial"/>
            </a:endParaRPr>
          </a:p>
          <a:p>
            <a:pPr marL="114300" indent="0">
              <a:spcBef>
                <a:spcPts val="0"/>
              </a:spcBef>
              <a:buClr>
                <a:srgbClr val="000000"/>
              </a:buClr>
              <a:buNone/>
            </a:pPr>
            <a:endParaRPr lang="he-IL" sz="2000" dirty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  <a:sym typeface="Arial"/>
            </a:endParaRPr>
          </a:p>
          <a:p>
            <a:pPr>
              <a:spcBef>
                <a:spcPts val="0"/>
              </a:spcBef>
              <a:buClr>
                <a:srgbClr val="000000"/>
              </a:buClr>
              <a:buFont typeface="Arial"/>
            </a:pPr>
            <a:endParaRPr lang="he-IL" dirty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  <a:sym typeface="Arial"/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BCAE788F-E91F-BFC7-B25D-DDBDA785A02C}"/>
              </a:ext>
            </a:extLst>
          </p:cNvPr>
          <p:cNvSpPr txBox="1"/>
          <p:nvPr/>
        </p:nvSpPr>
        <p:spPr>
          <a:xfrm>
            <a:off x="5521390" y="5518705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spcBef>
                <a:spcPts val="0"/>
              </a:spcBef>
              <a:buClr>
                <a:srgbClr val="000000"/>
              </a:buClr>
              <a:buNone/>
            </a:pPr>
            <a:endParaRPr lang="he-IL" sz="1800" dirty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  <a:sym typeface="Arial"/>
            </a:endParaRPr>
          </a:p>
          <a:p>
            <a:pPr marL="114300" indent="0" algn="r">
              <a:spcBef>
                <a:spcPts val="0"/>
              </a:spcBef>
              <a:buClr>
                <a:srgbClr val="000000"/>
              </a:buClr>
              <a:buNone/>
            </a:pPr>
            <a:r>
              <a:rPr lang="he-IL" sz="1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בחוברת, עמוד 21 שאלות 1-5</a:t>
            </a:r>
          </a:p>
        </p:txBody>
      </p:sp>
    </p:spTree>
    <p:extLst>
      <p:ext uri="{BB962C8B-B14F-4D97-AF65-F5344CB8AC3E}">
        <p14:creationId xmlns:p14="http://schemas.microsoft.com/office/powerpoint/2010/main" val="1437348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3CD25C8-6CE6-0FA1-FC8B-D7F9D8866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32B04BA-16F6-D7FD-378A-69ABCED6F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B062276-C8F0-8D3B-D9AB-46D776B3E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06931117-757F-D91D-BB52-3E1273D85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88641"/>
            <a:ext cx="9144000" cy="4874895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EA9D4E0D-21F1-2D41-1D99-CD745AB812B9}"/>
              </a:ext>
            </a:extLst>
          </p:cNvPr>
          <p:cNvSpPr txBox="1"/>
          <p:nvPr/>
        </p:nvSpPr>
        <p:spPr>
          <a:xfrm>
            <a:off x="6600056" y="1196753"/>
            <a:ext cx="288032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800" dirty="0"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עד הבוקר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420E4752-8544-8096-3CF4-5129D795FADC}"/>
              </a:ext>
            </a:extLst>
          </p:cNvPr>
          <p:cNvSpPr txBox="1"/>
          <p:nvPr/>
        </p:nvSpPr>
        <p:spPr>
          <a:xfrm>
            <a:off x="3215680" y="1700809"/>
            <a:ext cx="288032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800" dirty="0">
                <a:latin typeface="David" panose="020E0502060401010101" pitchFamily="34" charset="-79"/>
                <a:cs typeface="David" panose="020E0502060401010101" pitchFamily="34" charset="-79"/>
              </a:rPr>
              <a:t>האש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382E588C-32E8-F057-F077-5004F5042427}"/>
              </a:ext>
            </a:extLst>
          </p:cNvPr>
          <p:cNvSpPr txBox="1"/>
          <p:nvPr/>
        </p:nvSpPr>
        <p:spPr>
          <a:xfrm>
            <a:off x="5807968" y="2132857"/>
            <a:ext cx="288032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1800" dirty="0">
                <a:latin typeface="David" panose="020E0502060401010101" pitchFamily="34" charset="-79"/>
                <a:cs typeface="David" panose="020E0502060401010101" pitchFamily="34" charset="-79"/>
              </a:rPr>
              <a:t>מזבח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B889F33C-4833-5940-5B11-1FC4132DDFC2}"/>
              </a:ext>
            </a:extLst>
          </p:cNvPr>
          <p:cNvSpPr txBox="1"/>
          <p:nvPr/>
        </p:nvSpPr>
        <p:spPr>
          <a:xfrm>
            <a:off x="5960368" y="2996953"/>
            <a:ext cx="288032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800" dirty="0">
                <a:latin typeface="David" panose="020E0502060401010101" pitchFamily="34" charset="-79"/>
                <a:cs typeface="David" panose="020E0502060401010101" pitchFamily="34" charset="-79"/>
              </a:rPr>
              <a:t>דשן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A2707A67-B519-7AB1-501D-9CDA7BBE39B7}"/>
              </a:ext>
            </a:extLst>
          </p:cNvPr>
          <p:cNvSpPr txBox="1"/>
          <p:nvPr/>
        </p:nvSpPr>
        <p:spPr>
          <a:xfrm>
            <a:off x="4198776" y="3847445"/>
            <a:ext cx="5615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800" dirty="0" err="1">
                <a:latin typeface="David" panose="020E0502060401010101" pitchFamily="34" charset="-79"/>
                <a:cs typeface="David" panose="020E0502060401010101" pitchFamily="34" charset="-79"/>
              </a:rPr>
              <a:t>גדים</a:t>
            </a:r>
            <a:r>
              <a:rPr lang="he-IL" sz="1800" dirty="0">
                <a:latin typeface="David" panose="020E0502060401010101" pitchFamily="34" charset="-79"/>
                <a:cs typeface="David" panose="020E0502060401010101" pitchFamily="34" charset="-79"/>
              </a:rPr>
              <a:t>        </a:t>
            </a:r>
            <a:r>
              <a:rPr lang="he-IL" sz="1800" dirty="0" err="1">
                <a:latin typeface="David" panose="020E0502060401010101" pitchFamily="34" charset="-79"/>
                <a:cs typeface="David" panose="020E0502060401010101" pitchFamily="34" charset="-79"/>
              </a:rPr>
              <a:t>חרים</a:t>
            </a:r>
            <a:r>
              <a:rPr lang="he-IL" sz="1800" dirty="0">
                <a:latin typeface="David" panose="020E0502060401010101" pitchFamily="34" charset="-79"/>
                <a:cs typeface="David" panose="020E0502060401010101" pitchFamily="34" charset="-79"/>
              </a:rPr>
              <a:t>                            דשן               חוץ           למחנה 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50FFD539-2003-BEC3-7209-43F1EDA90CB5}"/>
              </a:ext>
            </a:extLst>
          </p:cNvPr>
          <p:cNvSpPr txBox="1"/>
          <p:nvPr/>
        </p:nvSpPr>
        <p:spPr>
          <a:xfrm>
            <a:off x="2351584" y="4743807"/>
            <a:ext cx="4581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800" dirty="0">
                <a:latin typeface="David" panose="020E0502060401010101" pitchFamily="34" charset="-79"/>
                <a:cs typeface="David" panose="020E0502060401010101" pitchFamily="34" charset="-79"/>
              </a:rPr>
              <a:t>ש      מיד</a:t>
            </a:r>
          </a:p>
        </p:txBody>
      </p:sp>
    </p:spTree>
    <p:extLst>
      <p:ext uri="{BB962C8B-B14F-4D97-AF65-F5344CB8AC3E}">
        <p14:creationId xmlns:p14="http://schemas.microsoft.com/office/powerpoint/2010/main" val="3856949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10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F5F7226-5F70-8833-E34A-C7D86AF51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4A0EA35-CE2D-EE0C-91B7-D1A577705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>
              <a:spcBef>
                <a:spcPct val="0"/>
              </a:spcBef>
              <a:buClr>
                <a:srgbClr val="000000"/>
              </a:buClr>
            </a:pPr>
            <a:r>
              <a:rPr lang="he-IL" sz="5000" b="1" kern="1200" dirty="0">
                <a:solidFill>
                  <a:srgbClr val="FF0000"/>
                </a:solidFill>
                <a:latin typeface="David" panose="020E0502060401010101" pitchFamily="34" charset="-79"/>
                <a:ea typeface="+mj-ea"/>
                <a:cs typeface="David" panose="020E0502060401010101" pitchFamily="34" charset="-79"/>
                <a:sym typeface="Arial"/>
              </a:rPr>
              <a:t>באיזה קרבן עוסקים הפסוקים הבאים?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CC68E83-19D0-22DB-C782-2215D87D3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520" y="1935480"/>
            <a:ext cx="8435280" cy="4733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ז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וְזֹ֥את תּוֹרַ֖ת הַמִּנְחָ֑ה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הַקְרֵ֨ב אֹתָ֤הּ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בְּנֵֽי־אַהֲרֹן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֙ לִפְנֵ֣י ה' אֶל־פְּנֵ֖י הַמִּזְבֵּֽחַ׃ </a:t>
            </a:r>
          </a:p>
          <a:p>
            <a:pPr marL="0" indent="0">
              <a:buNone/>
            </a:pPr>
            <a:r>
              <a:rPr lang="he-IL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ח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וְהֵרִ֨ים מִמֶּ֜נּוּ בְּקֻמְצ֗וֹ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מִסֹּ֤לֶת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הַמִּנְחָה֙ וּמִשַּׁמְנָ֔הּ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וְאֵת֙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כָּל־הַלְּבֹנָ֔ה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אֲשֶׁ֖ר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עַל־הַמִּנְחָ֑ה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וְהִקְטִ֣יר הַמִּזְבֵּ֗חַ רֵ֧יחַ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נִיחֹ֛ח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ַ אַזְכָּֽרָתָ֖הּ לַֽה'׃ </a:t>
            </a:r>
          </a:p>
          <a:p>
            <a:pPr marL="0" indent="0">
              <a:buNone/>
            </a:pPr>
            <a:r>
              <a:rPr lang="he-IL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ט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וְהַנּוֹתֶ֣רֶת מִמֶּ֔נָּה יֹֽאכְל֖וּ אַֽהֲרֹ֣ן וּבָנָ֑יו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מַצּ֤וֹת תֵּֽאָכֵל֙ בְּמָק֣וֹם קָדֹ֔שׁ בַּֽחֲצַ֥ר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אֹֽהֶל־מוֹעֵ֖ד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יֹֽאכְלֽוּהָ׃ </a:t>
            </a:r>
          </a:p>
          <a:p>
            <a:pPr marL="0" indent="0">
              <a:buNone/>
            </a:pPr>
            <a:r>
              <a:rPr lang="he-IL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י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לֹ֤א תֵֽאָפֶה֙ חָמֵ֔ץ חֶלְקָ֛ם נָתַ֥תִּי אֹתָ֖הּ מֵֽאִשָּׁ֑י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קֹ֤דֶשׁ קָֽדָשִׁים֙ הִ֔וא כַּֽחַטָּ֖את וְכָֽאָשָֽׁם׃ </a:t>
            </a:r>
          </a:p>
          <a:p>
            <a:pPr marL="0" indent="0">
              <a:buNone/>
            </a:pPr>
            <a:r>
              <a:rPr lang="he-IL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יא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כָּל־זָכָ֞ר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בִּבְנֵ֤י אַֽהֲרֹן֙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יֹֽאכְלֶ֔נָּה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חָק־עוֹלָם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֙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לְדֹרֹ֣תֵיכֶ֔ם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מֵֽאִשֵּׁ֖י ה' כֹּ֛ל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אֲשֶׁר־יִגַּ֥ע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בָּהֶ֖ם יִקְדָּֽשׁ׃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39383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>
              <a:spcBef>
                <a:spcPct val="0"/>
              </a:spcBef>
              <a:buClr>
                <a:srgbClr val="000000"/>
              </a:buClr>
            </a:pPr>
            <a:r>
              <a:rPr lang="he-IL" sz="5000" b="1" kern="1200" dirty="0">
                <a:solidFill>
                  <a:srgbClr val="FF0000"/>
                </a:solidFill>
                <a:latin typeface="David" panose="020E0502060401010101" pitchFamily="34" charset="-79"/>
                <a:ea typeface="+mj-ea"/>
                <a:cs typeface="David" panose="020E0502060401010101" pitchFamily="34" charset="-79"/>
                <a:sym typeface="Arial"/>
              </a:rPr>
              <a:t>תורת המנחה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775520" y="1935480"/>
            <a:ext cx="8435280" cy="4733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ז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b="1" kern="1200" dirty="0">
                <a:solidFill>
                  <a:srgbClr val="FF0000"/>
                </a:solidFill>
                <a:latin typeface="David" panose="020E0502060401010101" pitchFamily="34" charset="-79"/>
                <a:ea typeface="+mj-ea"/>
                <a:cs typeface="David" panose="020E0502060401010101" pitchFamily="34" charset="-79"/>
                <a:sym typeface="Arial"/>
              </a:rPr>
              <a:t>וְזֹ֥את תּוֹרַ֖ת הַמִּנְחָ֑ה </a:t>
            </a:r>
            <a:endParaRPr lang="he-IL" sz="5000" b="1" kern="1200" dirty="0">
              <a:solidFill>
                <a:srgbClr val="FF0000"/>
              </a:solidFill>
              <a:latin typeface="David" panose="020E0502060401010101" pitchFamily="34" charset="-79"/>
              <a:ea typeface="+mj-ea"/>
              <a:cs typeface="David" panose="020E0502060401010101" pitchFamily="34" charset="-79"/>
              <a:sym typeface="Arial"/>
            </a:endParaRP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הַקְרֵ֨ב אֹתָ֤הּ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בְּנֵֽי־אַהֲרֹן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֙ לִפְנֵ֣י ה' אֶל־פְּנֵ֖י הַמִּזְבֵּֽחַ׃ </a:t>
            </a:r>
          </a:p>
          <a:p>
            <a:pPr marL="0" indent="0">
              <a:buNone/>
            </a:pPr>
            <a:r>
              <a:rPr lang="he-IL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ח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וְהֵרִ֨ים מִמֶּ֜נּוּ בְּקֻמְצ֗וֹ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מִסֹּ֤לֶת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הַמִּנְחָה֙ וּמִשַּׁמְנָ֔הּ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וְאֵת֙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כָּל־הַלְּבֹנָ֔ה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אֲשֶׁ֖ר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עַל־הַמִּנְחָ֑ה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וְהִקְטִ֣יר הַמִּזְבֵּ֗חַ רֵ֧יחַ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נִיחֹ֛ח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ַ אַזְכָּֽרָתָ֖הּ לַֽה'׃ </a:t>
            </a:r>
          </a:p>
          <a:p>
            <a:pPr marL="0" indent="0">
              <a:buNone/>
            </a:pPr>
            <a:r>
              <a:rPr lang="he-IL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ט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וְהַנּוֹתֶ֣רֶת מִמֶּ֔נָּה יֹֽאכְל֖וּ אַֽהֲרֹ֣ן וּבָנָ֑יו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מַצּ֤וֹת תֵּֽאָכֵל֙ בְּמָק֣וֹם קָדֹ֔שׁ בַּֽחֲצַ֥ר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אֹֽהֶל־מוֹעֵ֖ד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יֹֽאכְלֽוּהָ׃ </a:t>
            </a:r>
          </a:p>
          <a:p>
            <a:pPr marL="0" indent="0">
              <a:buNone/>
            </a:pPr>
            <a:r>
              <a:rPr lang="he-IL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י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לֹ֤א תֵֽאָפֶה֙ חָמֵ֔ץ חֶלְקָ֛ם נָתַ֥תִּי אֹתָ֖הּ מֵֽאִשָּׁ֑י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קֹ֤דֶשׁ קָֽדָשִׁים֙ הִ֔וא כַּֽחַטָּ֖את וְכָֽאָשָֽׁם׃ </a:t>
            </a:r>
          </a:p>
          <a:p>
            <a:pPr marL="0" indent="0">
              <a:buNone/>
            </a:pPr>
            <a:r>
              <a:rPr lang="he-IL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יא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כָּל־זָכָ֞ר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בִּבְנֵ֤י אַֽהֲרֹן֙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יֹֽאכְלֶ֔נָּה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חָק־עוֹלָם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֙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לְדֹרֹ֣תֵיכֶ֔ם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מֵֽאִשֵּׁ֖י ה' כֹּ֛ל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אֲשֶׁר־יִגַּ֥ע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בָּהֶ֖ם יִקְדָּֽשׁ׃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0398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48A93D-2A6B-A080-1410-829331FDE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00BE22D-787F-E45A-9274-E0C278467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520" y="1935480"/>
            <a:ext cx="8435280" cy="4733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ז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וְזֹ֥את תּוֹרַ֖ת הַמִּנְחָ֑ה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הַקְרֵ֨ב אֹתָ֤הּ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בְּנֵֽי־אַהֲרֹן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֙ לִפְנֵ֣י ה' אֶל־פְּנֵ֖י הַמִּזְבֵּֽחַ׃ </a:t>
            </a:r>
          </a:p>
          <a:p>
            <a:pPr marL="0" indent="0">
              <a:buNone/>
            </a:pPr>
            <a:r>
              <a:rPr lang="he-IL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ח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b="1" i="0" dirty="0">
                <a:solidFill>
                  <a:srgbClr val="FF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וְהֵרִ֨ים מִמֶּ֜נּוּ בְּקֻמְצ֗וֹ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מִסֹּ֤לֶת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הַמִּנְחָה֙ וּמִשַּׁמְנָ֔הּ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וְאֵת֙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כָּל־הַלְּבֹנָ֔ה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אֲשֶׁ֖ר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עַל־הַמִּנְחָ֑ה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  <a:p>
            <a:pPr marL="0" indent="0">
              <a:buNone/>
            </a:pP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וְהִקְטִ֣יר הַמִּזְבֵּ֗חַ</a:t>
            </a:r>
            <a:r>
              <a:rPr lang="he-IL" i="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רֵ֧יחַ </a:t>
            </a:r>
            <a:r>
              <a:rPr lang="he-IL" b="0" i="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נִיחֹ֛ח</a:t>
            </a:r>
            <a:r>
              <a:rPr lang="he-IL" b="0" i="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ַ אַזְכָּֽרָתָ֖הּ לַֽה'׃ </a:t>
            </a:r>
          </a:p>
          <a:p>
            <a:pPr marL="0" indent="0">
              <a:buNone/>
            </a:pPr>
            <a:r>
              <a:rPr lang="he-IL" b="1" i="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ט</a:t>
            </a:r>
            <a:r>
              <a:rPr lang="he-IL" b="0" i="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וְהַנּוֹתֶ֣רֶת מִמֶּ֔נָּה 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יֹֽאכְל֖וּ אַֽהֲרֹ֣ן וּבָנָ֑יו </a:t>
            </a:r>
          </a:p>
          <a:p>
            <a:pPr marL="0" indent="0">
              <a:buNone/>
            </a:pPr>
            <a:r>
              <a:rPr lang="he-IL" b="0" i="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מַצּ֤וֹת תֵּֽאָכֵל֙ בְּמָק֣וֹם קָדֹ֔שׁ בַּֽחֲצַ֥ר </a:t>
            </a:r>
            <a:r>
              <a:rPr lang="he-IL" b="0" i="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אֹֽהֶל־מוֹעֵ֖ד</a:t>
            </a:r>
            <a:r>
              <a:rPr lang="he-IL" b="0" i="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יֹֽאכְלֽוּהָ׃ </a:t>
            </a:r>
          </a:p>
          <a:p>
            <a:pPr marL="0" indent="0">
              <a:buNone/>
            </a:pPr>
            <a:r>
              <a:rPr lang="he-IL" b="1" i="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י</a:t>
            </a:r>
            <a:r>
              <a:rPr lang="he-IL" b="0" i="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לֹ֤א תֵֽאָפֶה֙ חָמֵ֔ץ </a:t>
            </a:r>
            <a:r>
              <a:rPr lang="he-IL" b="0" i="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חֶלְקָ֛ם נָתַ֥תִּי אֹתָ֖הּ מֵֽאִשָּׁ֑י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קֹ֤דֶשׁ קָֽדָשִׁים֙ הִ֔וא כַּֽחַטָּ֖את וְכָֽאָשָֽׁם׃ </a:t>
            </a:r>
          </a:p>
          <a:p>
            <a:pPr marL="0" indent="0">
              <a:buNone/>
            </a:pPr>
            <a:r>
              <a:rPr lang="he-IL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יא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כָּל־זָכָ֞ר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בִּבְנֵ֤י אַֽהֲרֹן֙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יֹֽאכְלֶ֔נָּה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חָק־עוֹלָם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֙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לְדֹרֹ֣תֵיכֶ֔ם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מֵֽאִשֵּׁ֖י ה' כֹּ֛ל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אֲשֶׁר־יִגַּ֥ע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בָּהֶ֖ם יִקְדָּֽשׁ׃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4" name="כותרת 1">
            <a:extLst>
              <a:ext uri="{FF2B5EF4-FFF2-40B4-BE49-F238E27FC236}">
                <a16:creationId xmlns:a16="http://schemas.microsoft.com/office/drawing/2014/main" id="{CB81073E-CA6B-3953-5531-4DD55FEC6A1E}"/>
              </a:ext>
            </a:extLst>
          </p:cNvPr>
          <p:cNvSpPr txBox="1">
            <a:spLocks/>
          </p:cNvSpPr>
          <p:nvPr/>
        </p:nvSpPr>
        <p:spPr>
          <a:xfrm>
            <a:off x="2133600" y="188640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>
            <a:lvl1pPr algn="l" rtl="1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הלכות המנחה: 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[חזרה קצרה]</a:t>
            </a:r>
            <a:endParaRPr lang="he-IL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B5C9E169-3474-F0D1-41A3-46517A4BA4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09" t="62716" r="7183" b="1975"/>
          <a:stretch/>
        </p:blipFill>
        <p:spPr>
          <a:xfrm>
            <a:off x="2423592" y="271645"/>
            <a:ext cx="1328640" cy="17116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0"/>
          </a:effectLst>
        </p:spPr>
      </p:pic>
      <p:grpSp>
        <p:nvGrpSpPr>
          <p:cNvPr id="9" name="קבוצה 8">
            <a:extLst>
              <a:ext uri="{FF2B5EF4-FFF2-40B4-BE49-F238E27FC236}">
                <a16:creationId xmlns:a16="http://schemas.microsoft.com/office/drawing/2014/main" id="{0B27FBD5-EDC0-9A78-4347-8CD3180014BA}"/>
              </a:ext>
            </a:extLst>
          </p:cNvPr>
          <p:cNvGrpSpPr/>
          <p:nvPr/>
        </p:nvGrpSpPr>
        <p:grpSpPr>
          <a:xfrm>
            <a:off x="1383611" y="1983317"/>
            <a:ext cx="2955126" cy="4489498"/>
            <a:chOff x="760750" y="823726"/>
            <a:chExt cx="3261995" cy="4893310"/>
          </a:xfrm>
        </p:grpSpPr>
        <p:pic>
          <p:nvPicPr>
            <p:cNvPr id="10" name="תמונה 9" descr="תמונה שמכילה אדם, לבוש, קערה, קערת ערבוב&#10;&#10;תוכן בינה מלאכותית גנרטיבית עשוי להיות שגוי.">
              <a:extLst>
                <a:ext uri="{FF2B5EF4-FFF2-40B4-BE49-F238E27FC236}">
                  <a16:creationId xmlns:a16="http://schemas.microsoft.com/office/drawing/2014/main" id="{D53A34D3-C295-89E6-94F8-D10921CDF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750" y="823726"/>
              <a:ext cx="3261995" cy="489331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11" name="תמונה 10">
              <a:extLst>
                <a:ext uri="{FF2B5EF4-FFF2-40B4-BE49-F238E27FC236}">
                  <a16:creationId xmlns:a16="http://schemas.microsoft.com/office/drawing/2014/main" id="{1F412F39-E01F-6EA6-8D9F-7DA1FFFF80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6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5820" b="94434" l="67773" r="89990">
                          <a14:foregroundMark x1="67822" y1="70752" x2="67822" y2="70752"/>
                          <a14:foregroundMark x1="86035" y1="65820" x2="86035" y2="65820"/>
                          <a14:backgroundMark x1="89307" y1="90820" x2="89111" y2="89990"/>
                          <a14:backgroundMark x1="88623" y1="89502" x2="90283" y2="91309"/>
                          <a14:backgroundMark x1="87646" y1="88672" x2="86963" y2="87988"/>
                          <a14:backgroundMark x1="90918" y1="90332" x2="90625" y2="90479"/>
                          <a14:backgroundMark x1="88965" y1="90137" x2="88770" y2="90137"/>
                        </a14:backgroundRemoval>
                      </a14:imgEffect>
                      <a14:imgEffect>
                        <a14:colorTemperature colorTemp="5300"/>
                      </a14:imgEffect>
                      <a14:imgEffect>
                        <a14:saturation sat="19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409" t="62716" r="7183" b="1975"/>
            <a:stretch/>
          </p:blipFill>
          <p:spPr>
            <a:xfrm rot="3933051" flipH="1">
              <a:off x="2500967" y="2047054"/>
              <a:ext cx="640715" cy="778510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</p:spTree>
    <p:extLst>
      <p:ext uri="{BB962C8B-B14F-4D97-AF65-F5344CB8AC3E}">
        <p14:creationId xmlns:p14="http://schemas.microsoft.com/office/powerpoint/2010/main" val="3007773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174167-B46B-A72B-BD21-6C5AC72E5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B940287-61E8-B986-E970-6D012377F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520" y="1935480"/>
            <a:ext cx="8435280" cy="4733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ז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וְזֹ֥את תּוֹרַ֖ת הַמִּנְחָ֑ה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הַקְרֵ֨ב אֹתָ֤הּ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בְּנֵֽי־אַהֲרֹן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֙ לִפְנֵ֣י ה' אֶל־פְּנֵ֖י הַמִּזְבֵּֽחַ׃ </a:t>
            </a:r>
          </a:p>
          <a:p>
            <a:pPr marL="0" indent="0">
              <a:buNone/>
            </a:pPr>
            <a:r>
              <a:rPr lang="he-IL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ח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b="1" i="0" dirty="0">
                <a:solidFill>
                  <a:srgbClr val="FF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וְהֵרִ֨ים מִמֶּ֜נּוּ בְּקֻמְצ֗וֹ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מִסֹּ֤לֶת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הַמִּנְחָה֙ וּמִשַּׁמְנָ֔הּ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וְאֵת֙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כָּל־הַלְּבֹנָ֔ה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אֲשֶׁ֖ר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עַל־הַמִּנְחָ֑ה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  <a:p>
            <a:pPr marL="0" indent="0">
              <a:buNone/>
            </a:pPr>
            <a:r>
              <a:rPr lang="he-IL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וְהִקְטִ֣יר הַמִּזְבֵּ֗חַ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רֵ֧יחַ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נִיחֹ֛ח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ַ אַזְכָּֽרָתָ֖הּ לַֽה'׃ </a:t>
            </a:r>
          </a:p>
          <a:p>
            <a:pPr marL="0" indent="0">
              <a:buNone/>
            </a:pPr>
            <a:r>
              <a:rPr lang="he-IL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ט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וְהַנּוֹתֶ֣רֶת מִמֶּ֔נָּה 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יֹֽאכְל֖וּ אַֽהֲרֹ֣ן וּבָנָ֑יו</a:t>
            </a:r>
            <a:r>
              <a:rPr lang="he-IL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מַצּ֤וֹת תֵּֽאָכֵל֙ בְּמָק֣וֹם קָדֹ֔שׁ בַּֽחֲצַ֥ר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אֹֽהֶל־מוֹעֵ֖ד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יֹֽאכְלֽוּהָ׃ </a:t>
            </a:r>
          </a:p>
          <a:p>
            <a:pPr marL="0" indent="0">
              <a:buNone/>
            </a:pPr>
            <a:r>
              <a:rPr lang="he-IL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י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לֹ֤א תֵֽאָפֶה֙ חָמֵ֔ץ 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חֶלְקָ֛ם נָתַ֥תִּי אֹתָ֖הּ מֵֽאִשָּׁ֑י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קֹ֤דֶשׁ קָֽדָשִׁים֙ הִ֔וא כַּֽחַטָּ֖את וְכָֽאָשָֽׁם׃ </a:t>
            </a:r>
          </a:p>
          <a:p>
            <a:pPr marL="0" indent="0">
              <a:buNone/>
            </a:pPr>
            <a:r>
              <a:rPr lang="he-IL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יא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כָּל־זָכָ֞ר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בִּבְנֵ֤י אַֽהֲרֹן֙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יֹֽאכְלֶ֔נָּה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חָק־עוֹלָם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֙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לְדֹרֹ֣תֵיכֶ֔ם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מֵֽאִשֵּׁ֖י ה' כֹּ֛ל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אֲשֶׁר־יִגַּ֥ע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בָּהֶ֖ם יִקְדָּֽשׁ׃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5" name="כותרת 1">
            <a:extLst>
              <a:ext uri="{FF2B5EF4-FFF2-40B4-BE49-F238E27FC236}">
                <a16:creationId xmlns:a16="http://schemas.microsoft.com/office/drawing/2014/main" id="{547DC19B-940F-6BA6-7C32-123610BE25F1}"/>
              </a:ext>
            </a:extLst>
          </p:cNvPr>
          <p:cNvSpPr txBox="1">
            <a:spLocks/>
          </p:cNvSpPr>
          <p:nvPr/>
        </p:nvSpPr>
        <p:spPr>
          <a:xfrm>
            <a:off x="2233846" y="414142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>
            <a:lvl1pPr algn="l" rtl="1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הלכות המנחה:</a:t>
            </a:r>
          </a:p>
        </p:txBody>
      </p:sp>
      <p:pic>
        <p:nvPicPr>
          <p:cNvPr id="6" name="תמונה 5" descr="תמונה שמכילה לבוש, פני אדם, תמונה, אד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3813CA7-91F9-369D-AB88-DE4F4B8D6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494" y="940132"/>
            <a:ext cx="3766457" cy="56496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1794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7B7931-0A53-247C-CB77-3DD63E223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6100DC5-E002-09E4-3063-CF2EE424C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520" y="1935480"/>
            <a:ext cx="8435280" cy="4733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ז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וְזֹ֥את תּוֹרַ֖ת הַמִּנְחָ֑ה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הַקְרֵ֨ב אֹתָ֤הּ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בְּנֵֽי־אַהֲרֹן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֙ לִפְנֵ֣י ה' אֶל־פְּנֵ֖י הַמִּזְבֵּֽחַ׃ </a:t>
            </a:r>
          </a:p>
          <a:p>
            <a:pPr marL="0" indent="0">
              <a:buNone/>
            </a:pPr>
            <a:r>
              <a:rPr lang="he-IL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ח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וְהֵרִ֨ים מִמֶּ֜נּוּ בְּקֻמְצ֗וֹ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מִסֹּ֤לֶת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הַמִּנְחָה֙ וּמִשַּׁמְנָ֔הּ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וְאֵת֙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כָּל־הַלְּבֹנָ֔ה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אֲשֶׁ֖ר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עַל־הַמִּנְחָ֑ה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  <a:p>
            <a:pPr marL="0" indent="0">
              <a:buNone/>
            </a:pP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וְהִקְטִ֣יר הַמִּזְבֵּ֗חַ רֵ֧יחַ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נִיחֹ֛ח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ַ אַזְכָּֽרָתָ֖הּ לַֽה'׃ </a:t>
            </a:r>
          </a:p>
          <a:p>
            <a:pPr marL="0" indent="0">
              <a:buNone/>
            </a:pPr>
            <a:r>
              <a:rPr lang="he-IL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ט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וְהַנּוֹתֶ֣רֶת מִמֶּ֔נָּה יֹֽאכְל֖וּ אַֽהֲרֹ֣ן וּבָנָ֑יו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מַצּ֤וֹת תֵּֽאָכֵל֙ בְּמָק֣וֹם קָדֹ֔שׁ בַּֽחֲצַ֥ר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אֹֽהֶל־מוֹעֵ֖ד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יֹֽאכְלֽוּהָ׃ </a:t>
            </a:r>
          </a:p>
          <a:p>
            <a:pPr marL="0" indent="0">
              <a:buNone/>
            </a:pPr>
            <a:r>
              <a:rPr lang="he-IL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י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לֹ֤א תֵֽאָפֶה֙ חָמֵ֔ץ חֶלְקָ֛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ם נָתַ֥תִּי אֹתָ֖הּ מֵֽאִשָּׁ֑י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קֹ֤דֶשׁ קָֽדָשִׁים֙ הִ֔וא 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כַּֽחַטָּ֖את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וְכָֽאָשָֽׁם׃ </a:t>
            </a:r>
          </a:p>
          <a:p>
            <a:pPr marL="0" indent="0">
              <a:buNone/>
            </a:pPr>
            <a:r>
              <a:rPr lang="he-IL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יא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b="1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כָּל־זָכָ֞ר</a:t>
            </a:r>
            <a:r>
              <a:rPr lang="he-IL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בִּבְנֵ֤י אַֽהֲרֹן֙ </a:t>
            </a:r>
            <a:r>
              <a:rPr lang="he-IL" b="1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יֹֽאכְלֶ֔נָּה</a:t>
            </a:r>
            <a:r>
              <a:rPr lang="he-IL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חָק־עוֹלָם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֙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לְדֹרֹ֣תֵיכֶ֔ם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  <a:p>
            <a:pPr marL="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מֵֽאִשֵּׁ֖י ה' כֹּ֛ל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אֲשֶׁר־יִגַּ֥ע</a:t>
            </a:r>
            <a:r>
              <a:rPr lang="he-IL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בָּהֶ֖ם יִקְדָּֽשׁ׃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3DF5A0D9-95F4-5F20-F754-1309DF2D505C}"/>
              </a:ext>
            </a:extLst>
          </p:cNvPr>
          <p:cNvSpPr txBox="1">
            <a:spLocks/>
          </p:cNvSpPr>
          <p:nvPr/>
        </p:nvSpPr>
        <p:spPr>
          <a:xfrm>
            <a:off x="2133600" y="188640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>
            <a:lvl1pPr algn="l" rtl="1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הלכות המנחה:</a:t>
            </a:r>
          </a:p>
        </p:txBody>
      </p:sp>
      <p:pic>
        <p:nvPicPr>
          <p:cNvPr id="8" name="תמונה 7" descr="תמונה שמכילה אדם, לבוש, פני אדם, קער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1168606-DED7-B991-E7AB-5392901EA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6" y="1082352"/>
            <a:ext cx="5094513" cy="50945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52911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EAE1F14-FCBD-E4CA-E7B7-1B624E80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70CCDF4-7F98-B855-FD38-C0A26355A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012" y="708517"/>
            <a:ext cx="8229600" cy="1143000"/>
          </a:xfrm>
        </p:spPr>
        <p:txBody>
          <a:bodyPr>
            <a:normAutofit/>
          </a:bodyPr>
          <a:lstStyle/>
          <a:p>
            <a:pPr algn="r">
              <a:spcBef>
                <a:spcPct val="0"/>
              </a:spcBef>
              <a:buClr>
                <a:srgbClr val="000000"/>
              </a:buClr>
            </a:pPr>
            <a:r>
              <a:rPr lang="he-IL" sz="5000" b="1" kern="1200" dirty="0">
                <a:solidFill>
                  <a:srgbClr val="FF0000"/>
                </a:solidFill>
                <a:latin typeface="David" panose="020E0502060401010101" pitchFamily="34" charset="-79"/>
                <a:ea typeface="+mj-ea"/>
                <a:cs typeface="David" panose="020E0502060401010101" pitchFamily="34" charset="-79"/>
                <a:sym typeface="Arial"/>
              </a:rPr>
              <a:t>מנחות מיוחדות: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AE422CF-48CB-504A-B2C3-74FA054A4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20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יב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וַיְדַבֵּ֥ר ה' </a:t>
            </a:r>
            <a:r>
              <a:rPr lang="he-IL" sz="20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אֶל־מֹשֶׁ֥ה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0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לֵּאמֹֽר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׃ </a:t>
            </a:r>
            <a:br>
              <a:rPr lang="en-US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0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זֶ֡ה קָרְבַּן֩ אַֽהֲרֹ֨ן וּבָנָ֜יו </a:t>
            </a:r>
            <a:r>
              <a:rPr lang="he-IL" sz="2400" b="1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אֲשֶׁר־יַקְרִ֣יבו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 לַֽה' בְּיוֹם֙ הִמָּשַׁ֣ח אֹת֔וֹ </a:t>
            </a:r>
            <a:br>
              <a:rPr lang="en-US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עֲשִׂירִ֨ת הָֽאֵפָ֥ה </a:t>
            </a:r>
            <a:r>
              <a:rPr lang="he-IL" sz="20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סֹ֛לֶת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מִנְחָ֖ה תָּמִ֑יד מַֽחֲצִיתָ֣הּ בַּבֹּ֔קֶר וּמַֽחֲצִיתָ֖הּ בָּעָֽרֶב׃ </a:t>
            </a:r>
            <a:br>
              <a:rPr lang="en-US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0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יד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20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עַֽל־מַחֲבַ֗ת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בַּשֶּׁ֛מֶן תֵּֽעָשֶׂ֖ה </a:t>
            </a:r>
            <a:r>
              <a:rPr lang="he-IL" sz="20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מֻרְבֶּ֣כֶת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0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תְּבִיאֶ֑נָּה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0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תֻּֽפִינֵי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֙ מִנְחַ֣ת פִּתִּ֔ים תַּקְרִ֥יב </a:t>
            </a:r>
            <a:r>
              <a:rPr lang="he-IL" sz="20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רֵֽיחַ־נִיחֹ֖ח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לַֽה'׃ </a:t>
            </a:r>
            <a:br>
              <a:rPr lang="en-US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0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טו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וְהַכֹּהֵ֨ן הַמָּשִׁ֧יחַ תַּחְתָּ֛יו מִבָּנָ֖יו יַֽעֲשֶׂ֣ה אֹתָ֑הּ </a:t>
            </a:r>
            <a:br>
              <a:rPr lang="en-US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0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חָק־עוֹלָ֕ם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לַֽה' כָּלִ֥יל תָּקְטָֽר׃ </a:t>
            </a:r>
            <a:br>
              <a:rPr lang="en-US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0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טז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20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וְכָל־מִנְחַ֥ת</a:t>
            </a:r>
            <a:br>
              <a:rPr lang="en-US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כֹּהֵ֛ן כָּלִ֥יל תִּֽהְיֶ֖ה לֹ֥א תֵֽאָכֵֽל׃</a:t>
            </a:r>
            <a:endParaRPr lang="he-IL" sz="2800" dirty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39C44CC8-9FA8-42B5-85DF-4C7BCA000B45}"/>
              </a:ext>
            </a:extLst>
          </p:cNvPr>
          <p:cNvSpPr txBox="1"/>
          <p:nvPr/>
        </p:nvSpPr>
        <p:spPr>
          <a:xfrm>
            <a:off x="1775520" y="2060848"/>
            <a:ext cx="1512168" cy="96949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spcBef>
                <a:spcPct val="0"/>
              </a:spcBef>
            </a:pPr>
            <a:r>
              <a:rPr lang="he-IL" sz="1900" dirty="0">
                <a:latin typeface="David" panose="020E0502060401010101" pitchFamily="34" charset="-79"/>
                <a:ea typeface="Century Gothic"/>
                <a:cs typeface="David" panose="020E0502060401010101" pitchFamily="34" charset="-79"/>
                <a:sym typeface="Century Gothic"/>
              </a:rPr>
              <a:t>מנחת חינוך- מקריבים כהנים חדשים.</a:t>
            </a:r>
          </a:p>
        </p:txBody>
      </p:sp>
    </p:spTree>
    <p:extLst>
      <p:ext uri="{BB962C8B-B14F-4D97-AF65-F5344CB8AC3E}">
        <p14:creationId xmlns:p14="http://schemas.microsoft.com/office/powerpoint/2010/main" val="3351635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23F364-E837-6691-7897-5E0D45CF3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CCA8101-7FA8-1C39-4EE0-8DFC2C071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20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יב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וַיְדַבֵּ֥ר ה' </a:t>
            </a:r>
            <a:r>
              <a:rPr lang="he-IL" sz="20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אֶל־מֹשֶׁ֥ה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0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לֵּאמֹֽר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׃ </a:t>
            </a:r>
            <a:br>
              <a:rPr lang="en-US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0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21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זֶ֡ה קָרְבַּן֩ אַֽהֲרֹ֨ן וּבָנָ֜יו </a:t>
            </a:r>
            <a:r>
              <a:rPr lang="he-IL" sz="21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אֲשֶׁר־יַקְרִ֣יבו</a:t>
            </a:r>
            <a:r>
              <a:rPr lang="he-IL" sz="21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 לַֽה' בְּיוֹם֙ הִמָּשַׁ֣ח אֹת֔וֹ </a:t>
            </a:r>
            <a:br>
              <a:rPr lang="en-US" sz="21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1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עֲשִׂירִ֨ת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הָֽאֵפָ֥ה </a:t>
            </a:r>
            <a:r>
              <a:rPr lang="he-IL" sz="20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סֹ֛לֶת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מִנְחָ֖ה תָּמִ֑יד מַֽחֲצִיתָ֣הּ בַּבֹּ֔קֶר וּמַֽחֲצִיתָ֖הּ בָּעָֽרֶב׃ </a:t>
            </a:r>
            <a:br>
              <a:rPr lang="en-US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0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יד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20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עַֽל־מַחֲבַ֗ת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בַּשֶּׁ֛מֶן תֵּֽעָשֶׂ֖ה </a:t>
            </a:r>
            <a:r>
              <a:rPr lang="he-IL" sz="20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מֻרְבֶּ֣כֶת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0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תְּבִיאֶ֑נָּה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0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תֻּֽפִינֵי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֙ מִנְחַ֣ת פִּתִּ֔ים תַּקְרִ֥יב </a:t>
            </a:r>
            <a:r>
              <a:rPr lang="he-IL" sz="20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רֵֽיחַ־נִיחֹ֖ח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לַֽה'׃ </a:t>
            </a:r>
            <a:br>
              <a:rPr lang="en-US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0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טו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וְהַכֹּהֵ֨ן הַמָּשִׁ֧יחַ תַּחְתָּ֛יו מִבָּנָ֖יו יַֽעֲשֶׂ֣ה אֹתָ֑הּ </a:t>
            </a:r>
            <a:br>
              <a:rPr lang="en-US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0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חָק־עוֹלָ֕ם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לַֽה' כָּלִ֥יל תָּקְטָֽר׃ </a:t>
            </a:r>
            <a:br>
              <a:rPr lang="en-US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0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טז</a:t>
            </a: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20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וְכָל־מִנְחַ֥ת</a:t>
            </a:r>
            <a:br>
              <a:rPr lang="en-US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כֹּהֵ֛ן כָּלִ֥יל תִּֽהְיֶ֖ה לֹ֥א תֵֽאָכֵֽל׃</a:t>
            </a:r>
            <a:endParaRPr lang="he-IL" sz="2800" dirty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DBEEDF16-F10B-E5A3-71EB-D446F633BFE3}"/>
              </a:ext>
            </a:extLst>
          </p:cNvPr>
          <p:cNvSpPr txBox="1"/>
          <p:nvPr/>
        </p:nvSpPr>
        <p:spPr>
          <a:xfrm>
            <a:off x="1981200" y="4427781"/>
            <a:ext cx="1512168" cy="96949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1900" dirty="0">
                <a:latin typeface="David" panose="020E0502060401010101" pitchFamily="34" charset="-79"/>
                <a:ea typeface="Century Gothic"/>
                <a:cs typeface="David" panose="020E0502060401010101" pitchFamily="34" charset="-79"/>
                <a:sym typeface="Century Gothic"/>
              </a:rPr>
              <a:t>מנחת </a:t>
            </a:r>
            <a:r>
              <a:rPr lang="he-IL" sz="1900" dirty="0" err="1">
                <a:latin typeface="David" panose="020E0502060401010101" pitchFamily="34" charset="-79"/>
                <a:ea typeface="Century Gothic"/>
                <a:cs typeface="David" panose="020E0502060401010101" pitchFamily="34" charset="-79"/>
                <a:sym typeface="Century Gothic"/>
              </a:rPr>
              <a:t>חביתין</a:t>
            </a:r>
            <a:r>
              <a:rPr lang="he-IL" sz="1900" dirty="0">
                <a:latin typeface="David" panose="020E0502060401010101" pitchFamily="34" charset="-79"/>
                <a:ea typeface="Century Gothic"/>
                <a:cs typeface="David" panose="020E0502060401010101" pitchFamily="34" charset="-79"/>
                <a:sym typeface="Century Gothic"/>
              </a:rPr>
              <a:t>-הכהן הגדול מקריב כל יום.</a:t>
            </a:r>
          </a:p>
        </p:txBody>
      </p:sp>
      <p:sp>
        <p:nvSpPr>
          <p:cNvPr id="7" name="כותרת 1">
            <a:extLst>
              <a:ext uri="{FF2B5EF4-FFF2-40B4-BE49-F238E27FC236}">
                <a16:creationId xmlns:a16="http://schemas.microsoft.com/office/drawing/2014/main" id="{CA14846D-DA88-D81E-0FAB-4CF3737E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012" y="708517"/>
            <a:ext cx="8229600" cy="1143000"/>
          </a:xfrm>
        </p:spPr>
        <p:txBody>
          <a:bodyPr>
            <a:normAutofit/>
          </a:bodyPr>
          <a:lstStyle/>
          <a:p>
            <a:pPr algn="r">
              <a:spcBef>
                <a:spcPct val="0"/>
              </a:spcBef>
              <a:buClr>
                <a:srgbClr val="000000"/>
              </a:buClr>
            </a:pPr>
            <a:r>
              <a:rPr lang="he-IL" sz="5000" b="1" kern="1200" dirty="0">
                <a:solidFill>
                  <a:srgbClr val="FF0000"/>
                </a:solidFill>
                <a:latin typeface="David" panose="020E0502060401010101" pitchFamily="34" charset="-79"/>
                <a:ea typeface="+mj-ea"/>
                <a:cs typeface="David" panose="020E0502060401010101" pitchFamily="34" charset="-79"/>
                <a:sym typeface="Arial"/>
              </a:rPr>
              <a:t>מנחות מיוחדות:</a:t>
            </a:r>
          </a:p>
        </p:txBody>
      </p:sp>
    </p:spTree>
    <p:extLst>
      <p:ext uri="{BB962C8B-B14F-4D97-AF65-F5344CB8AC3E}">
        <p14:creationId xmlns:p14="http://schemas.microsoft.com/office/powerpoint/2010/main" val="2796697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124B0F8-1D07-453B-A856-65F5AEC3B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4FA987F3-FEAF-8920-1012-992795AA8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664" y="-25548"/>
            <a:ext cx="7668344" cy="2602271"/>
          </a:xfrm>
          <a:prstGeom prst="rect">
            <a:avLst/>
          </a:prstGeom>
        </p:spPr>
      </p:pic>
      <p:pic>
        <p:nvPicPr>
          <p:cNvPr id="9" name="מציין מיקום תוכן 8">
            <a:extLst>
              <a:ext uri="{FF2B5EF4-FFF2-40B4-BE49-F238E27FC236}">
                <a16:creationId xmlns:a16="http://schemas.microsoft.com/office/drawing/2014/main" id="{DA2004A1-0713-D4E6-1530-C1633087EA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95"/>
          <a:stretch/>
        </p:blipFill>
        <p:spPr>
          <a:xfrm>
            <a:off x="1640534" y="3488642"/>
            <a:ext cx="3591371" cy="3155847"/>
          </a:xfr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7F5695BB-E9E1-E2F4-9CC7-4851DFAD3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732" y="2576723"/>
            <a:ext cx="6367811" cy="154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285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0507755-5E7B-E58E-EA58-CB6AC50D5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9725E90-ED02-D713-1EE6-2F6E21BE1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8321C59C-A8F5-9FE2-3074-D6C4BD83B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664" y="-25548"/>
            <a:ext cx="7668344" cy="2602271"/>
          </a:xfrm>
          <a:prstGeom prst="rect">
            <a:avLst/>
          </a:prstGeom>
        </p:spPr>
      </p:pic>
      <p:pic>
        <p:nvPicPr>
          <p:cNvPr id="9" name="מציין מיקום תוכן 8">
            <a:extLst>
              <a:ext uri="{FF2B5EF4-FFF2-40B4-BE49-F238E27FC236}">
                <a16:creationId xmlns:a16="http://schemas.microsoft.com/office/drawing/2014/main" id="{812B21E4-4EF0-FD75-7A41-6759B3275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95"/>
          <a:stretch/>
        </p:blipFill>
        <p:spPr>
          <a:xfrm>
            <a:off x="1640534" y="3488642"/>
            <a:ext cx="3591371" cy="3155847"/>
          </a:xfr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8153D29D-2189-6BFE-3BAF-3CA22D1D9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732" y="2576723"/>
            <a:ext cx="6367811" cy="1543712"/>
          </a:xfrm>
          <a:prstGeom prst="rect">
            <a:avLst/>
          </a:prstGeom>
        </p:spPr>
      </p:pic>
      <p:cxnSp>
        <p:nvCxnSpPr>
          <p:cNvPr id="4" name="מחבר ישר 3">
            <a:extLst>
              <a:ext uri="{FF2B5EF4-FFF2-40B4-BE49-F238E27FC236}">
                <a16:creationId xmlns:a16="http://schemas.microsoft.com/office/drawing/2014/main" id="{224B778E-615E-FB6D-67D1-8789BAD0F463}"/>
              </a:ext>
            </a:extLst>
          </p:cNvPr>
          <p:cNvCxnSpPr>
            <a:cxnSpLocks/>
          </p:cNvCxnSpPr>
          <p:nvPr/>
        </p:nvCxnSpPr>
        <p:spPr>
          <a:xfrm flipH="1">
            <a:off x="3647728" y="6021288"/>
            <a:ext cx="21602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מחבר ישר 7">
            <a:extLst>
              <a:ext uri="{FF2B5EF4-FFF2-40B4-BE49-F238E27FC236}">
                <a16:creationId xmlns:a16="http://schemas.microsoft.com/office/drawing/2014/main" id="{DCBA6B21-362B-CD0C-99B6-9EC1FB9CFF4B}"/>
              </a:ext>
            </a:extLst>
          </p:cNvPr>
          <p:cNvCxnSpPr>
            <a:cxnSpLocks/>
          </p:cNvCxnSpPr>
          <p:nvPr/>
        </p:nvCxnSpPr>
        <p:spPr>
          <a:xfrm flipH="1">
            <a:off x="3071664" y="6021288"/>
            <a:ext cx="504056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713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DA33CEF-6DB5-CC2B-1D18-3FEC003D4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3F3F349-BFFD-396D-0FFB-5B05346AB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7FB08501-F96F-D034-6B29-E07574EB4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712" y="402674"/>
            <a:ext cx="7164288" cy="2371115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EF123B2B-4742-6204-F42C-7DE0B0C8E0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1" b="31100"/>
          <a:stretch/>
        </p:blipFill>
        <p:spPr>
          <a:xfrm>
            <a:off x="1509194" y="0"/>
            <a:ext cx="3855749" cy="4536504"/>
          </a:xfrm>
          <a:prstGeom prst="rect">
            <a:avLst/>
          </a:prstGeom>
        </p:spPr>
      </p:pic>
      <p:cxnSp>
        <p:nvCxnSpPr>
          <p:cNvPr id="12" name="מחבר ישר 11">
            <a:extLst>
              <a:ext uri="{FF2B5EF4-FFF2-40B4-BE49-F238E27FC236}">
                <a16:creationId xmlns:a16="http://schemas.microsoft.com/office/drawing/2014/main" id="{368449CF-20B9-79B5-CBEF-AEA0DD672747}"/>
              </a:ext>
            </a:extLst>
          </p:cNvPr>
          <p:cNvCxnSpPr>
            <a:cxnSpLocks/>
          </p:cNvCxnSpPr>
          <p:nvPr/>
        </p:nvCxnSpPr>
        <p:spPr>
          <a:xfrm flipH="1">
            <a:off x="3143672" y="3068960"/>
            <a:ext cx="504056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74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AB76AB9-E778-0805-EF41-5B7E478A8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תורת המנחה- פרק ו'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9FC7324-22CF-A397-2FFB-12051FE7B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FF0000"/>
              </a:buClr>
              <a:buSzPct val="120000"/>
              <a:buFont typeface="Wingdings" panose="05000000000000000000" pitchFamily="2" charset="2"/>
              <a:buChar char="§"/>
            </a:pP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הכהן מקטיר [מקריב] רק קומץ מכל הקמח [או המאפה]</a:t>
            </a:r>
          </a:p>
          <a:p>
            <a:pPr>
              <a:buClr>
                <a:srgbClr val="FF0000"/>
              </a:buClr>
              <a:buSzPct val="120000"/>
              <a:buFont typeface="Wingdings" panose="05000000000000000000" pitchFamily="2" charset="2"/>
              <a:buChar char="§"/>
            </a:pP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רק 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</a:rPr>
              <a:t>הכהנים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 אוכלים את המנחה.</a:t>
            </a:r>
          </a:p>
          <a:p>
            <a:pPr>
              <a:buClr>
                <a:srgbClr val="FF0000"/>
              </a:buClr>
              <a:buSzPct val="120000"/>
              <a:buFont typeface="Wingdings" panose="05000000000000000000" pitchFamily="2" charset="2"/>
              <a:buChar char="§"/>
            </a:pP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אסור שהמנחה תאפה חמץ.</a:t>
            </a:r>
          </a:p>
          <a:p>
            <a:pPr>
              <a:buClr>
                <a:srgbClr val="FF0000"/>
              </a:buClr>
              <a:buSzPct val="120000"/>
              <a:buFont typeface="Wingdings" panose="05000000000000000000" pitchFamily="2" charset="2"/>
              <a:buChar char="§"/>
            </a:pP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כל כהן חדש מקריב מנחה הנקראת מנחת חינוך.</a:t>
            </a:r>
          </a:p>
          <a:p>
            <a:pPr>
              <a:buClr>
                <a:srgbClr val="FF0000"/>
              </a:buClr>
              <a:buSzPct val="120000"/>
              <a:buFont typeface="Wingdings" panose="05000000000000000000" pitchFamily="2" charset="2"/>
              <a:buChar char="§"/>
            </a:pP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הכהן הגדול מקריב כל יום מנחה הנקראת ''מנחת 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</a:rPr>
              <a:t>חביתין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"</a:t>
            </a:r>
          </a:p>
          <a:p>
            <a:pPr>
              <a:buClr>
                <a:srgbClr val="FF0000"/>
              </a:buClr>
              <a:buSzPct val="120000"/>
              <a:buFont typeface="Wingdings" panose="05000000000000000000" pitchFamily="2" charset="2"/>
              <a:buChar char="§"/>
            </a:pP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114300" indent="0">
              <a:buClr>
                <a:srgbClr val="FF0000"/>
              </a:buClr>
              <a:buSzPct val="120000"/>
              <a:buNone/>
            </a:pP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בחוברת עמוד 21 שאלות 6-9</a:t>
            </a:r>
          </a:p>
          <a:p>
            <a:pPr marL="0" indent="0">
              <a:buClr>
                <a:srgbClr val="FF0000"/>
              </a:buClr>
              <a:buSzPct val="120000"/>
              <a:buNone/>
            </a:pP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                                         עמוד 22 שאלות 14-15</a:t>
            </a:r>
            <a:b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[שאלות בונוס- 10,11,12,16,17,18]</a:t>
            </a:r>
          </a:p>
        </p:txBody>
      </p:sp>
    </p:spTree>
    <p:extLst>
      <p:ext uri="{BB962C8B-B14F-4D97-AF65-F5344CB8AC3E}">
        <p14:creationId xmlns:p14="http://schemas.microsoft.com/office/powerpoint/2010/main" val="2144216698"/>
      </p:ext>
    </p:extLst>
  </p:cSld>
  <p:clrMapOvr>
    <a:masterClrMapping/>
  </p:clrMapOvr>
</p:sld>
</file>

<file path=ppt/theme/theme1.xml><?xml version="1.0" encoding="utf-8"?>
<a:theme xmlns:a="http://schemas.openxmlformats.org/drawingml/2006/main" name="עשן מתפתל">
  <a:themeElements>
    <a:clrScheme name="עשן מתפתל">
      <a:dk1>
        <a:srgbClr val="000000"/>
      </a:dk1>
      <a:lt1>
        <a:srgbClr val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57892</TotalTime>
  <Words>1651</Words>
  <Application>Microsoft Office PowerPoint</Application>
  <PresentationFormat>מסך רחב</PresentationFormat>
  <Paragraphs>164</Paragraphs>
  <Slides>28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28</vt:i4>
      </vt:variant>
    </vt:vector>
  </HeadingPairs>
  <TitlesOfParts>
    <vt:vector size="36" baseType="lpstr">
      <vt:lpstr>David</vt:lpstr>
      <vt:lpstr>Century Gothic</vt:lpstr>
      <vt:lpstr>Wingdings</vt:lpstr>
      <vt:lpstr>Arial</vt:lpstr>
      <vt:lpstr>Guttman Drogolin</vt:lpstr>
      <vt:lpstr>Noto Sans Symbols</vt:lpstr>
      <vt:lpstr>Calibri</vt:lpstr>
      <vt:lpstr>עשן מתפתל</vt:lpstr>
      <vt:lpstr>מצגת של PowerPoint‏</vt:lpstr>
      <vt:lpstr>מה דעתכם על הילדים האלו?</vt:lpstr>
      <vt:lpstr>מצגת של PowerPoint‏</vt:lpstr>
      <vt:lpstr>שני עניינים חשובים לפני שנכנסים אל פרשת צו:</vt:lpstr>
      <vt:lpstr>משימה לפני קריאה!</vt:lpstr>
      <vt:lpstr>תורת העולה- פרק ו'</vt:lpstr>
      <vt:lpstr>תורת העולה- פרק ו'</vt:lpstr>
      <vt:lpstr>תורת העולה- פרק ו'</vt:lpstr>
      <vt:lpstr>תורת העולה- פרק ו'</vt:lpstr>
      <vt:lpstr>תורת העולה- פרק ו'</vt:lpstr>
      <vt:lpstr>תורת העולה- פרק ו'</vt:lpstr>
      <vt:lpstr>תורת העולה- פרק ו'</vt:lpstr>
      <vt:lpstr>" אֵ֗שׁ תָּמִ֛יד תּוּקַ֥ד עַל־הַמִּזְבֵּ֖חַ לֹ֥א תִכְבֶּֽה"</vt:lpstr>
      <vt:lpstr>איזו אש תמיד אנו מכירים?</vt:lpstr>
      <vt:lpstr>משמעות אש התמיד</vt:lpstr>
      <vt:lpstr>תורת העולה- פרק ו' פסוקים א-ה</vt:lpstr>
      <vt:lpstr>מצגת של PowerPoint‏</vt:lpstr>
      <vt:lpstr>באיזה קרבן עוסקים הפסוקים הבאים?</vt:lpstr>
      <vt:lpstr>תורת המנחה</vt:lpstr>
      <vt:lpstr>מצגת של PowerPoint‏</vt:lpstr>
      <vt:lpstr>מצגת של PowerPoint‏</vt:lpstr>
      <vt:lpstr>מצגת של PowerPoint‏</vt:lpstr>
      <vt:lpstr>מנחות מיוחדות:</vt:lpstr>
      <vt:lpstr>מנחות מיוחדות:</vt:lpstr>
      <vt:lpstr>מצגת של PowerPoint‏</vt:lpstr>
      <vt:lpstr>מצגת של PowerPoint‏</vt:lpstr>
      <vt:lpstr>מצגת של PowerPoint‏</vt:lpstr>
      <vt:lpstr>תורת המנחה- פרק ו'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ישראל יוקל</dc:creator>
  <cp:lastModifiedBy>ישראל יוקל</cp:lastModifiedBy>
  <cp:revision>150</cp:revision>
  <dcterms:created xsi:type="dcterms:W3CDTF">2020-04-10T08:32:11Z</dcterms:created>
  <dcterms:modified xsi:type="dcterms:W3CDTF">2025-10-19T18:23:08Z</dcterms:modified>
</cp:coreProperties>
</file>