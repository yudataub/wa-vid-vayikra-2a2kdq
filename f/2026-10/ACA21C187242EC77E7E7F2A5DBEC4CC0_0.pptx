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9144000"/>
  <p:notesSz cx="6858000" cy="9144000"/>
  <p:embeddedFontLst>
    <p:embeddedFont>
      <p:font typeface="Century Gothic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/Ga5ZY42yO2lICl3DKQhaa7xA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CenturyGothic-bold.fntdata"/><Relationship Id="rId14" Type="http://schemas.openxmlformats.org/officeDocument/2006/relationships/font" Target="fonts/CenturyGothic-regular.fntdata"/><Relationship Id="rId17" Type="http://schemas.openxmlformats.org/officeDocument/2006/relationships/font" Target="fonts/CenturyGothic-boldItalic.fntdata"/><Relationship Id="rId16" Type="http://schemas.openxmlformats.org/officeDocument/2006/relationships/font" Target="fonts/CenturyGothic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cea3f5d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1cea3f5d8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cb75393b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9cb75393bb_0_52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cb75393bb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9cb75393bb_0_89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98f473a65_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98f473a65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rt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1" algn="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1" algn="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1" algn="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1" algn="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1" algn="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cb75393bb_0_582"/>
          <p:cNvSpPr txBox="1"/>
          <p:nvPr>
            <p:ph type="ctrTitle"/>
          </p:nvPr>
        </p:nvSpPr>
        <p:spPr>
          <a:xfrm>
            <a:off x="1941910" y="2514600"/>
            <a:ext cx="66867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9cb75393bb_0_582"/>
          <p:cNvSpPr txBox="1"/>
          <p:nvPr>
            <p:ph idx="1" type="subTitle"/>
          </p:nvPr>
        </p:nvSpPr>
        <p:spPr>
          <a:xfrm>
            <a:off x="1941910" y="4777379"/>
            <a:ext cx="66867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rt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rtl="1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g39cb75393bb_0_582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9cb75393bb_0_582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9cb75393bb_0_582"/>
          <p:cNvSpPr/>
          <p:nvPr/>
        </p:nvSpPr>
        <p:spPr>
          <a:xfrm>
            <a:off x="0" y="4323810"/>
            <a:ext cx="1308490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9cb75393bb_0_582"/>
          <p:cNvSpPr txBox="1"/>
          <p:nvPr>
            <p:ph idx="12" type="sldNum"/>
          </p:nvPr>
        </p:nvSpPr>
        <p:spPr>
          <a:xfrm>
            <a:off x="398859" y="4529540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cb75393bb_0_589"/>
          <p:cNvSpPr txBox="1"/>
          <p:nvPr>
            <p:ph type="title"/>
          </p:nvPr>
        </p:nvSpPr>
        <p:spPr>
          <a:xfrm>
            <a:off x="1944694" y="624110"/>
            <a:ext cx="66840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9cb75393bb_0_589"/>
          <p:cNvSpPr txBox="1"/>
          <p:nvPr>
            <p:ph idx="1" type="body"/>
          </p:nvPr>
        </p:nvSpPr>
        <p:spPr>
          <a:xfrm>
            <a:off x="1941909" y="2133600"/>
            <a:ext cx="66867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3" name="Google Shape;123;g39cb75393bb_0_589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9cb75393bb_0_589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9cb75393bb_0_589"/>
          <p:cNvSpPr/>
          <p:nvPr/>
        </p:nvSpPr>
        <p:spPr>
          <a:xfrm flipH="1" rot="10800000">
            <a:off x="-3142" y="7143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9cb75393bb_0_589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cb75393bb_0_596"/>
          <p:cNvSpPr txBox="1"/>
          <p:nvPr>
            <p:ph type="title"/>
          </p:nvPr>
        </p:nvSpPr>
        <p:spPr>
          <a:xfrm>
            <a:off x="1941909" y="2058750"/>
            <a:ext cx="66867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9cb75393bb_0_596"/>
          <p:cNvSpPr txBox="1"/>
          <p:nvPr>
            <p:ph idx="1" type="body"/>
          </p:nvPr>
        </p:nvSpPr>
        <p:spPr>
          <a:xfrm>
            <a:off x="1941909" y="3530129"/>
            <a:ext cx="66867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g39cb75393bb_0_596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9cb75393bb_0_596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9cb75393bb_0_596"/>
          <p:cNvSpPr/>
          <p:nvPr/>
        </p:nvSpPr>
        <p:spPr>
          <a:xfrm flipH="1" rot="10800000">
            <a:off x="-3142" y="31781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cb75393bb_0_596"/>
          <p:cNvSpPr txBox="1"/>
          <p:nvPr>
            <p:ph idx="12" type="sldNum"/>
          </p:nvPr>
        </p:nvSpPr>
        <p:spPr>
          <a:xfrm>
            <a:off x="398859" y="3244139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cb75393bb_0_603"/>
          <p:cNvSpPr txBox="1"/>
          <p:nvPr>
            <p:ph type="title"/>
          </p:nvPr>
        </p:nvSpPr>
        <p:spPr>
          <a:xfrm>
            <a:off x="1944693" y="624110"/>
            <a:ext cx="66840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9cb75393bb_0_603"/>
          <p:cNvSpPr txBox="1"/>
          <p:nvPr>
            <p:ph idx="1" type="body"/>
          </p:nvPr>
        </p:nvSpPr>
        <p:spPr>
          <a:xfrm>
            <a:off x="1941909" y="2133600"/>
            <a:ext cx="32355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7" name="Google Shape;137;g39cb75393bb_0_603"/>
          <p:cNvSpPr txBox="1"/>
          <p:nvPr>
            <p:ph idx="2" type="body"/>
          </p:nvPr>
        </p:nvSpPr>
        <p:spPr>
          <a:xfrm>
            <a:off x="5393060" y="2126222"/>
            <a:ext cx="32355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8" name="Google Shape;138;g39cb75393bb_0_603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9cb75393bb_0_603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9cb75393bb_0_603"/>
          <p:cNvSpPr/>
          <p:nvPr/>
        </p:nvSpPr>
        <p:spPr>
          <a:xfrm flipH="1" rot="10800000">
            <a:off x="-3142" y="7143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9cb75393bb_0_603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cb75393bb_0_611"/>
          <p:cNvSpPr txBox="1"/>
          <p:nvPr>
            <p:ph type="title"/>
          </p:nvPr>
        </p:nvSpPr>
        <p:spPr>
          <a:xfrm>
            <a:off x="1944693" y="624110"/>
            <a:ext cx="66840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9cb75393bb_0_611"/>
          <p:cNvSpPr txBox="1"/>
          <p:nvPr>
            <p:ph idx="1" type="body"/>
          </p:nvPr>
        </p:nvSpPr>
        <p:spPr>
          <a:xfrm>
            <a:off x="2204530" y="1972703"/>
            <a:ext cx="29946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g39cb75393bb_0_611"/>
          <p:cNvSpPr txBox="1"/>
          <p:nvPr>
            <p:ph idx="2" type="body"/>
          </p:nvPr>
        </p:nvSpPr>
        <p:spPr>
          <a:xfrm>
            <a:off x="1941909" y="2548966"/>
            <a:ext cx="32571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g39cb75393bb_0_611"/>
          <p:cNvSpPr txBox="1"/>
          <p:nvPr>
            <p:ph idx="3" type="body"/>
          </p:nvPr>
        </p:nvSpPr>
        <p:spPr>
          <a:xfrm>
            <a:off x="5629972" y="1969475"/>
            <a:ext cx="2999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7" name="Google Shape;147;g39cb75393bb_0_611"/>
          <p:cNvSpPr txBox="1"/>
          <p:nvPr>
            <p:ph idx="4" type="body"/>
          </p:nvPr>
        </p:nvSpPr>
        <p:spPr>
          <a:xfrm>
            <a:off x="5375218" y="2545738"/>
            <a:ext cx="32538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8" name="Google Shape;148;g39cb75393bb_0_611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9cb75393bb_0_611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9cb75393bb_0_611"/>
          <p:cNvSpPr/>
          <p:nvPr/>
        </p:nvSpPr>
        <p:spPr>
          <a:xfrm flipH="1" rot="10800000">
            <a:off x="-3142" y="7143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cb75393bb_0_611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b75393bb_0_621"/>
          <p:cNvSpPr txBox="1"/>
          <p:nvPr>
            <p:ph type="title"/>
          </p:nvPr>
        </p:nvSpPr>
        <p:spPr>
          <a:xfrm>
            <a:off x="1944693" y="624110"/>
            <a:ext cx="66840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9cb75393bb_0_621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9cb75393bb_0_621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9cb75393bb_0_621"/>
          <p:cNvSpPr/>
          <p:nvPr/>
        </p:nvSpPr>
        <p:spPr>
          <a:xfrm flipH="1" rot="10800000">
            <a:off x="-3142" y="7143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cb75393bb_0_621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cb75393bb_0_627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9cb75393bb_0_627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39cb75393bb_0_627"/>
          <p:cNvSpPr/>
          <p:nvPr/>
        </p:nvSpPr>
        <p:spPr>
          <a:xfrm flipH="1" rot="10800000">
            <a:off x="-3142" y="7143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cb75393bb_0_627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cb75393bb_0_632"/>
          <p:cNvSpPr txBox="1"/>
          <p:nvPr>
            <p:ph type="title"/>
          </p:nvPr>
        </p:nvSpPr>
        <p:spPr>
          <a:xfrm>
            <a:off x="1941909" y="446088"/>
            <a:ext cx="26289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9cb75393bb_0_632"/>
          <p:cNvSpPr txBox="1"/>
          <p:nvPr>
            <p:ph idx="1" type="body"/>
          </p:nvPr>
        </p:nvSpPr>
        <p:spPr>
          <a:xfrm>
            <a:off x="4742259" y="446088"/>
            <a:ext cx="3886200" cy="54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6" name="Google Shape;166;g39cb75393bb_0_632"/>
          <p:cNvSpPr txBox="1"/>
          <p:nvPr>
            <p:ph idx="2" type="body"/>
          </p:nvPr>
        </p:nvSpPr>
        <p:spPr>
          <a:xfrm>
            <a:off x="1941909" y="1598613"/>
            <a:ext cx="2628900" cy="4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7" name="Google Shape;167;g39cb75393bb_0_632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9cb75393bb_0_632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9cb75393bb_0_632"/>
          <p:cNvSpPr/>
          <p:nvPr/>
        </p:nvSpPr>
        <p:spPr>
          <a:xfrm flipH="1" rot="10800000">
            <a:off x="-3142" y="7143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9cb75393bb_0_632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cb75393bb_0_640"/>
          <p:cNvSpPr txBox="1"/>
          <p:nvPr>
            <p:ph type="title"/>
          </p:nvPr>
        </p:nvSpPr>
        <p:spPr>
          <a:xfrm>
            <a:off x="1941910" y="4800600"/>
            <a:ext cx="6686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9cb75393bb_0_640"/>
          <p:cNvSpPr/>
          <p:nvPr>
            <p:ph idx="2" type="pic"/>
          </p:nvPr>
        </p:nvSpPr>
        <p:spPr>
          <a:xfrm>
            <a:off x="1941909" y="634965"/>
            <a:ext cx="6686700" cy="38550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g39cb75393bb_0_640"/>
          <p:cNvSpPr txBox="1"/>
          <p:nvPr>
            <p:ph idx="1" type="body"/>
          </p:nvPr>
        </p:nvSpPr>
        <p:spPr>
          <a:xfrm>
            <a:off x="1941910" y="5367338"/>
            <a:ext cx="6686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g39cb75393bb_0_640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9cb75393bb_0_640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9cb75393bb_0_640"/>
          <p:cNvSpPr/>
          <p:nvPr/>
        </p:nvSpPr>
        <p:spPr>
          <a:xfrm flipH="1" rot="10800000">
            <a:off x="-3142" y="491172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cb75393bb_0_640"/>
          <p:cNvSpPr txBox="1"/>
          <p:nvPr>
            <p:ph idx="12" type="sldNum"/>
          </p:nvPr>
        </p:nvSpPr>
        <p:spPr>
          <a:xfrm>
            <a:off x="398859" y="4983087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כיתוב">
  <p:cSld name="כותרת וכיתוב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cb75393bb_0_648"/>
          <p:cNvSpPr txBox="1"/>
          <p:nvPr>
            <p:ph type="title"/>
          </p:nvPr>
        </p:nvSpPr>
        <p:spPr>
          <a:xfrm>
            <a:off x="1941909" y="609600"/>
            <a:ext cx="6686700" cy="3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9cb75393bb_0_648"/>
          <p:cNvSpPr txBox="1"/>
          <p:nvPr>
            <p:ph idx="1" type="body"/>
          </p:nvPr>
        </p:nvSpPr>
        <p:spPr>
          <a:xfrm>
            <a:off x="1941909" y="4354046"/>
            <a:ext cx="66867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2" name="Google Shape;182;g39cb75393bb_0_648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9cb75393bb_0_648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9cb75393bb_0_648"/>
          <p:cNvSpPr/>
          <p:nvPr/>
        </p:nvSpPr>
        <p:spPr>
          <a:xfrm flipH="1" rot="10800000">
            <a:off x="-3142" y="31781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9cb75393bb_0_648"/>
          <p:cNvSpPr txBox="1"/>
          <p:nvPr>
            <p:ph idx="12" type="sldNum"/>
          </p:nvPr>
        </p:nvSpPr>
        <p:spPr>
          <a:xfrm>
            <a:off x="398859" y="3244139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ציטוט עם כיתוב">
  <p:cSld name="ציטוט עם כיתוב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cb75393bb_0_655"/>
          <p:cNvSpPr txBox="1"/>
          <p:nvPr>
            <p:ph type="title"/>
          </p:nvPr>
        </p:nvSpPr>
        <p:spPr>
          <a:xfrm>
            <a:off x="2137462" y="609600"/>
            <a:ext cx="62955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39cb75393bb_0_655"/>
          <p:cNvSpPr txBox="1"/>
          <p:nvPr>
            <p:ph idx="1" type="body"/>
          </p:nvPr>
        </p:nvSpPr>
        <p:spPr>
          <a:xfrm>
            <a:off x="2456259" y="3505200"/>
            <a:ext cx="56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89" name="Google Shape;189;g39cb75393bb_0_655"/>
          <p:cNvSpPr txBox="1"/>
          <p:nvPr>
            <p:ph idx="2" type="body"/>
          </p:nvPr>
        </p:nvSpPr>
        <p:spPr>
          <a:xfrm>
            <a:off x="1941909" y="4354046"/>
            <a:ext cx="66867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0" name="Google Shape;190;g39cb75393bb_0_655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39cb75393bb_0_655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9cb75393bb_0_655"/>
          <p:cNvSpPr/>
          <p:nvPr/>
        </p:nvSpPr>
        <p:spPr>
          <a:xfrm flipH="1" rot="10800000">
            <a:off x="-3142" y="31781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cb75393bb_0_655"/>
          <p:cNvSpPr txBox="1"/>
          <p:nvPr>
            <p:ph idx="12" type="sldNum"/>
          </p:nvPr>
        </p:nvSpPr>
        <p:spPr>
          <a:xfrm>
            <a:off x="398859" y="3244139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94" name="Google Shape;194;g39cb75393bb_0_655"/>
          <p:cNvSpPr txBox="1"/>
          <p:nvPr/>
        </p:nvSpPr>
        <p:spPr>
          <a:xfrm>
            <a:off x="1850739" y="648005"/>
            <a:ext cx="457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5" name="Google Shape;195;g39cb75393bb_0_655"/>
          <p:cNvSpPr txBox="1"/>
          <p:nvPr/>
        </p:nvSpPr>
        <p:spPr>
          <a:xfrm>
            <a:off x="8336139" y="2905306"/>
            <a:ext cx="457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רטיס שם">
  <p:cSld name="כרטיס שם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cb75393bb_0_665"/>
          <p:cNvSpPr txBox="1"/>
          <p:nvPr>
            <p:ph type="title"/>
          </p:nvPr>
        </p:nvSpPr>
        <p:spPr>
          <a:xfrm>
            <a:off x="1941910" y="2438400"/>
            <a:ext cx="66867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39cb75393bb_0_665"/>
          <p:cNvSpPr txBox="1"/>
          <p:nvPr>
            <p:ph idx="1" type="body"/>
          </p:nvPr>
        </p:nvSpPr>
        <p:spPr>
          <a:xfrm>
            <a:off x="1941910" y="5181600"/>
            <a:ext cx="66867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99" name="Google Shape;199;g39cb75393bb_0_665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g39cb75393bb_0_665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39cb75393bb_0_665"/>
          <p:cNvSpPr/>
          <p:nvPr/>
        </p:nvSpPr>
        <p:spPr>
          <a:xfrm flipH="1" rot="10800000">
            <a:off x="-3142" y="491172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cb75393bb_0_665"/>
          <p:cNvSpPr txBox="1"/>
          <p:nvPr>
            <p:ph idx="12" type="sldNum"/>
          </p:nvPr>
        </p:nvSpPr>
        <p:spPr>
          <a:xfrm>
            <a:off x="398859" y="4983087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רטיס שם עם ציטוט">
  <p:cSld name="כרטיס שם עם ציטוט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cb75393bb_0_672"/>
          <p:cNvSpPr txBox="1"/>
          <p:nvPr>
            <p:ph type="title"/>
          </p:nvPr>
        </p:nvSpPr>
        <p:spPr>
          <a:xfrm>
            <a:off x="2137462" y="609600"/>
            <a:ext cx="62955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g39cb75393bb_0_672"/>
          <p:cNvSpPr txBox="1"/>
          <p:nvPr>
            <p:ph idx="1" type="body"/>
          </p:nvPr>
        </p:nvSpPr>
        <p:spPr>
          <a:xfrm>
            <a:off x="1941909" y="4343400"/>
            <a:ext cx="6686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6" name="Google Shape;206;g39cb75393bb_0_672"/>
          <p:cNvSpPr txBox="1"/>
          <p:nvPr>
            <p:ph idx="2" type="body"/>
          </p:nvPr>
        </p:nvSpPr>
        <p:spPr>
          <a:xfrm>
            <a:off x="1941910" y="5181600"/>
            <a:ext cx="66867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7" name="Google Shape;207;g39cb75393bb_0_672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9cb75393bb_0_672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g39cb75393bb_0_672"/>
          <p:cNvSpPr/>
          <p:nvPr/>
        </p:nvSpPr>
        <p:spPr>
          <a:xfrm flipH="1" rot="10800000">
            <a:off x="-3142" y="491172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cb75393bb_0_672"/>
          <p:cNvSpPr txBox="1"/>
          <p:nvPr>
            <p:ph idx="12" type="sldNum"/>
          </p:nvPr>
        </p:nvSpPr>
        <p:spPr>
          <a:xfrm>
            <a:off x="398859" y="4983087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11" name="Google Shape;211;g39cb75393bb_0_672"/>
          <p:cNvSpPr txBox="1"/>
          <p:nvPr/>
        </p:nvSpPr>
        <p:spPr>
          <a:xfrm>
            <a:off x="1850739" y="648005"/>
            <a:ext cx="457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12" name="Google Shape;212;g39cb75393bb_0_672"/>
          <p:cNvSpPr txBox="1"/>
          <p:nvPr/>
        </p:nvSpPr>
        <p:spPr>
          <a:xfrm>
            <a:off x="8336139" y="2905306"/>
            <a:ext cx="457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נכון או לא נכון">
  <p:cSld name="נכון או לא נכון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cb75393bb_0_682"/>
          <p:cNvSpPr txBox="1"/>
          <p:nvPr>
            <p:ph type="title"/>
          </p:nvPr>
        </p:nvSpPr>
        <p:spPr>
          <a:xfrm>
            <a:off x="1941909" y="627407"/>
            <a:ext cx="6686700" cy="28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39cb75393bb_0_682"/>
          <p:cNvSpPr txBox="1"/>
          <p:nvPr>
            <p:ph idx="1" type="body"/>
          </p:nvPr>
        </p:nvSpPr>
        <p:spPr>
          <a:xfrm>
            <a:off x="1941909" y="4343400"/>
            <a:ext cx="6686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6" name="Google Shape;216;g39cb75393bb_0_682"/>
          <p:cNvSpPr txBox="1"/>
          <p:nvPr>
            <p:ph idx="2" type="body"/>
          </p:nvPr>
        </p:nvSpPr>
        <p:spPr>
          <a:xfrm>
            <a:off x="1941910" y="5181600"/>
            <a:ext cx="66867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7" name="Google Shape;217;g39cb75393bb_0_682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9cb75393bb_0_682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9cb75393bb_0_682"/>
          <p:cNvSpPr/>
          <p:nvPr/>
        </p:nvSpPr>
        <p:spPr>
          <a:xfrm flipH="1" rot="10800000">
            <a:off x="-3142" y="491172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9cb75393bb_0_682"/>
          <p:cNvSpPr txBox="1"/>
          <p:nvPr>
            <p:ph idx="12" type="sldNum"/>
          </p:nvPr>
        </p:nvSpPr>
        <p:spPr>
          <a:xfrm>
            <a:off x="398859" y="4983087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cb75393bb_0_690"/>
          <p:cNvSpPr txBox="1"/>
          <p:nvPr>
            <p:ph type="title"/>
          </p:nvPr>
        </p:nvSpPr>
        <p:spPr>
          <a:xfrm>
            <a:off x="1944693" y="624110"/>
            <a:ext cx="66840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9cb75393bb_0_690"/>
          <p:cNvSpPr txBox="1"/>
          <p:nvPr>
            <p:ph idx="1" type="body"/>
          </p:nvPr>
        </p:nvSpPr>
        <p:spPr>
          <a:xfrm rot="5400000">
            <a:off x="3342159" y="733500"/>
            <a:ext cx="3886200" cy="6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24" name="Google Shape;224;g39cb75393bb_0_690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g39cb75393bb_0_690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39cb75393bb_0_690"/>
          <p:cNvSpPr/>
          <p:nvPr/>
        </p:nvSpPr>
        <p:spPr>
          <a:xfrm flipH="1" rot="10800000">
            <a:off x="-3142" y="7143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cb75393bb_0_690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cb75393bb_0_697"/>
          <p:cNvSpPr txBox="1"/>
          <p:nvPr>
            <p:ph type="title"/>
          </p:nvPr>
        </p:nvSpPr>
        <p:spPr>
          <a:xfrm rot="5400000">
            <a:off x="5157010" y="2441505"/>
            <a:ext cx="52839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9cb75393bb_0_697"/>
          <p:cNvSpPr txBox="1"/>
          <p:nvPr>
            <p:ph idx="1" type="body"/>
          </p:nvPr>
        </p:nvSpPr>
        <p:spPr>
          <a:xfrm rot="5400000">
            <a:off x="1728909" y="840555"/>
            <a:ext cx="5283900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31" name="Google Shape;231;g39cb75393bb_0_697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9cb75393bb_0_697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39cb75393bb_0_697"/>
          <p:cNvSpPr/>
          <p:nvPr/>
        </p:nvSpPr>
        <p:spPr>
          <a:xfrm flipH="1" rot="10800000">
            <a:off x="-3142" y="714372"/>
            <a:ext cx="1191397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9cb75393bb_0_697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g39cb75393bb_0_549"/>
          <p:cNvGrpSpPr/>
          <p:nvPr/>
        </p:nvGrpSpPr>
        <p:grpSpPr>
          <a:xfrm>
            <a:off x="-12" y="228598"/>
            <a:ext cx="2138625" cy="6638590"/>
            <a:chOff x="2487613" y="285750"/>
            <a:chExt cx="2428875" cy="5654676"/>
          </a:xfrm>
        </p:grpSpPr>
        <p:sp>
          <p:nvSpPr>
            <p:cNvPr id="82" name="Google Shape;82;g39cb75393bb_0_549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9cb75393bb_0_549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9cb75393bb_0_549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9cb75393bb_0_549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9cb75393bb_0_549"/>
            <p:cNvSpPr/>
            <p:nvPr/>
          </p:nvSpPr>
          <p:spPr>
            <a:xfrm>
              <a:off x="2573338" y="2817813"/>
              <a:ext cx="700088" cy="2835274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9cb75393bb_0_549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9cb75393bb_0_549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g39cb75393bb_0_549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g39cb75393bb_0_549"/>
            <p:cNvSpPr/>
            <p:nvPr/>
          </p:nvSpPr>
          <p:spPr>
            <a:xfrm>
              <a:off x="3148013" y="1282700"/>
              <a:ext cx="1768475" cy="3448051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9cb75393bb_0_549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9cb75393bb_0_549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g39cb75393bb_0_549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g39cb75393bb_0_549"/>
          <p:cNvGrpSpPr/>
          <p:nvPr/>
        </p:nvGrpSpPr>
        <p:grpSpPr>
          <a:xfrm>
            <a:off x="20452" y="-791"/>
            <a:ext cx="1767516" cy="6853886"/>
            <a:chOff x="6627813" y="194833"/>
            <a:chExt cx="1952625" cy="5678918"/>
          </a:xfrm>
        </p:grpSpPr>
        <p:sp>
          <p:nvSpPr>
            <p:cNvPr id="95" name="Google Shape;95;g39cb75393bb_0_549"/>
            <p:cNvSpPr/>
            <p:nvPr/>
          </p:nvSpPr>
          <p:spPr>
            <a:xfrm>
              <a:off x="6627813" y="194833"/>
              <a:ext cx="409575" cy="3646489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g39cb75393bb_0_549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g39cb75393bb_0_549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g39cb75393bb_0_549"/>
            <p:cNvSpPr/>
            <p:nvPr/>
          </p:nvSpPr>
          <p:spPr>
            <a:xfrm>
              <a:off x="7037388" y="3811588"/>
              <a:ext cx="457200" cy="1852614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g39cb75393bb_0_549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g39cb75393bb_0_549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g39cb75393bb_0_549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9cb75393bb_0_549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g39cb75393bb_0_549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g39cb75393bb_0_549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g39cb75393bb_0_549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9cb75393bb_0_549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g39cb75393bb_0_549"/>
          <p:cNvSpPr/>
          <p:nvPr/>
        </p:nvSpPr>
        <p:spPr>
          <a:xfrm>
            <a:off x="0" y="0"/>
            <a:ext cx="137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9cb75393bb_0_549"/>
          <p:cNvSpPr txBox="1"/>
          <p:nvPr>
            <p:ph type="title"/>
          </p:nvPr>
        </p:nvSpPr>
        <p:spPr>
          <a:xfrm>
            <a:off x="1944693" y="624110"/>
            <a:ext cx="66840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g39cb75393bb_0_549"/>
          <p:cNvSpPr txBox="1"/>
          <p:nvPr>
            <p:ph idx="1" type="body"/>
          </p:nvPr>
        </p:nvSpPr>
        <p:spPr>
          <a:xfrm>
            <a:off x="1941909" y="2133600"/>
            <a:ext cx="66867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0" name="Google Shape;110;g39cb75393bb_0_549"/>
          <p:cNvSpPr txBox="1"/>
          <p:nvPr>
            <p:ph idx="10" type="dt"/>
          </p:nvPr>
        </p:nvSpPr>
        <p:spPr>
          <a:xfrm>
            <a:off x="7771209" y="6130437"/>
            <a:ext cx="859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1" name="Google Shape;111;g39cb75393bb_0_549"/>
          <p:cNvSpPr txBox="1"/>
          <p:nvPr>
            <p:ph idx="11" type="ftr"/>
          </p:nvPr>
        </p:nvSpPr>
        <p:spPr>
          <a:xfrm>
            <a:off x="1941909" y="6135808"/>
            <a:ext cx="571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2" name="Google Shape;112;g39cb75393bb_0_549"/>
          <p:cNvSpPr txBox="1"/>
          <p:nvPr>
            <p:ph idx="12" type="sldNum"/>
          </p:nvPr>
        </p:nvSpPr>
        <p:spPr>
          <a:xfrm>
            <a:off x="398859" y="787782"/>
            <a:ext cx="5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8.jpg"/><Relationship Id="rId5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jpg"/><Relationship Id="rId10" Type="http://schemas.openxmlformats.org/officeDocument/2006/relationships/image" Target="../media/image20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23.jpg"/><Relationship Id="rId7" Type="http://schemas.openxmlformats.org/officeDocument/2006/relationships/image" Target="../media/image14.jpg"/><Relationship Id="rId8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רקע 12.jpg" id="239" name="Google Shape;2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76584" y="-1176583"/>
            <a:ext cx="6858000" cy="921116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"/>
          <p:cNvSpPr/>
          <p:nvPr/>
        </p:nvSpPr>
        <p:spPr>
          <a:xfrm>
            <a:off x="1329394" y="5566492"/>
            <a:ext cx="650085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>
                <a:solidFill>
                  <a:srgbClr val="8CB3E3"/>
                </a:solidFill>
                <a:latin typeface="Calibri"/>
                <a:ea typeface="Calibri"/>
                <a:cs typeface="Calibri"/>
                <a:sym typeface="Calibri"/>
              </a:rPr>
              <a:t>פרק ו</a:t>
            </a:r>
            <a:endParaRPr b="1" sz="3200">
              <a:solidFill>
                <a:srgbClr val="F4F0E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תפקיד הכהנים במשכן ותרומת הדשן</a:t>
            </a:r>
            <a:endParaRPr b="1" sz="3200">
              <a:solidFill>
                <a:srgbClr val="3185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כהנים.jpg" id="241" name="Google Shape;2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3834" y="5643578"/>
            <a:ext cx="1285884" cy="1000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דישון המזבח החיצון.jpg" id="242" name="Google Shape;2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282" y="5625705"/>
            <a:ext cx="1357322" cy="101800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"/>
          <p:cNvSpPr txBox="1"/>
          <p:nvPr/>
        </p:nvSpPr>
        <p:spPr>
          <a:xfrm>
            <a:off x="142844" y="1345718"/>
            <a:ext cx="9001156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ג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וְלָבַשׁ הַכֹּהֵן מִדּוֹ בַד וּמִכְנְסֵי בַד יִלְבַּשׁ עַל בְּשָׂרוֹ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וְהֵרִים 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אֶת הַדֶּשֶׁן אֲשֶׁר תֹּאכַל הָאֵשׁ אֶת הָעֹלָה, עַל הַמִּזְבֵּחַ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iw-IL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וְשָׂמוֹ 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אֵצֶל הַמִּזְבֵּחַ.  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וּפָשַׁט אֶת בְּגָדָיו, וְלָבַשׁ  בְּגָדִים אֲחֵרִים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וְהוֹצִיא 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אֶת הַדֶּשֶׁן אֶל מִחוּץ לַמַּחֲנֶה, אֶל מָקוֹם טָהוֹר  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תרומת הדשן היא סילוק כמות של אפר מראש המזבח והנחתה על רצפת המשכן/עזרה ובה נפתחה עבודת היום מדי בקר במקדש.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5572132" y="500042"/>
            <a:ext cx="33041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 cap="none">
                <a:solidFill>
                  <a:srgbClr val="F4F0E2"/>
                </a:solidFill>
                <a:latin typeface="Calibri"/>
                <a:ea typeface="Calibri"/>
                <a:cs typeface="Calibri"/>
                <a:sym typeface="Calibri"/>
              </a:rPr>
              <a:t>מהי תרומת הדשן?</a:t>
            </a:r>
            <a:endParaRPr b="1" sz="3200" cap="none">
              <a:solidFill>
                <a:srgbClr val="F4F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דישון המזבח החיצון.jpg" id="245" name="Google Shape;24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71425" y="36084"/>
            <a:ext cx="9215434" cy="6911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רקע 12.jpg" id="250" name="Google Shape;250;g31cea3f5d8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366825" y="-3366824"/>
            <a:ext cx="2477525" cy="92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1cea3f5d85_0_0"/>
          <p:cNvSpPr/>
          <p:nvPr/>
        </p:nvSpPr>
        <p:spPr>
          <a:xfrm>
            <a:off x="770150" y="223475"/>
            <a:ext cx="8214900" cy="19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פרק ו</a:t>
            </a:r>
            <a:endParaRPr sz="400">
              <a:solidFill>
                <a:schemeClr val="dk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</a:t>
            </a:r>
            <a:r>
              <a:rPr b="1" i="0" lang="iw-IL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תפקיד הכהנים במשכן </a:t>
            </a:r>
            <a:endParaRPr sz="100">
              <a:solidFill>
                <a:schemeClr val="dk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ותרומת הדשן</a:t>
            </a:r>
            <a:endParaRPr b="1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כהנים.jpg" id="252" name="Google Shape;252;g31cea3f5d8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650" y="-66300"/>
            <a:ext cx="8566400" cy="6382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דישון המזבח החיצון.jpg" id="253" name="Google Shape;253;g31cea3f5d8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82059" y="-114149"/>
            <a:ext cx="9713551" cy="728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רקע 12.jpg" id="258" name="Google Shape;2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967163" y="-1974976"/>
            <a:ext cx="8286125" cy="111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"/>
          <p:cNvSpPr/>
          <p:nvPr/>
        </p:nvSpPr>
        <p:spPr>
          <a:xfrm>
            <a:off x="1329394" y="5566492"/>
            <a:ext cx="650085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3185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כהנים.jpg" id="260" name="Google Shape;2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59" y="3806403"/>
            <a:ext cx="1285884" cy="1000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דישון המזבח החיצון.jpg" id="261" name="Google Shape;26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282" y="5223030"/>
            <a:ext cx="1357322" cy="101800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"/>
          <p:cNvSpPr txBox="1"/>
          <p:nvPr/>
        </p:nvSpPr>
        <p:spPr>
          <a:xfrm>
            <a:off x="726257" y="612143"/>
            <a:ext cx="90012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ג</a:t>
            </a:r>
            <a:r>
              <a:rPr b="0" i="0" lang="iw-I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וְלָבַשׁ הַכֹּהֵן מִדּוֹ בַד וּמִכְנְסֵי בַד יִלְבַּשׁ עַל בְּשָׂרוֹ </a:t>
            </a:r>
            <a:endParaRPr sz="2000"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וְהֵרִים </a:t>
            </a: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אֶת הַדֶּשֶׁן אֲשֶׁר תֹּאכַל הָאֵשׁ אֶת הָעֹלָה, עַל הַמִּזְבֵּחַ  </a:t>
            </a:r>
            <a:endParaRPr sz="2000"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iw-IL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וְשָׂמוֹ </a:t>
            </a: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אֵצֶל הַמִּזְבֵּחַ.  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וּפָשַׁט אֶת בְּגָדָיו, וְלָבַשׁ  בְּגָדִים אֲחֵרִים  </a:t>
            </a:r>
            <a:endParaRPr sz="2000"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וְהוֹצִיא </a:t>
            </a: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אֶת הַדֶּשֶׁן אֶל מִחוּץ לַמַּחֲנֶה, אֶל מָקוֹם טָהוֹר   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</a:t>
            </a: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וְהָאֵשׁ עַל הַמִּזְבֵּחַ תּוּקַד בּוֹ לֹא תִכְבֶּה  </a:t>
            </a:r>
            <a:endParaRPr sz="2000"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iw-IL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וּבִעֵר </a:t>
            </a: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עָלֶיהָ הַכֹּהֵן עֵצִים בַּבֹּקֶר בַּבֹּקֶר  </a:t>
            </a:r>
            <a:endParaRPr sz="2000"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iw-IL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וְעָרַךְ</a:t>
            </a: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עָלֶיהָ הָעֹלָה  </a:t>
            </a:r>
            <a:endParaRPr sz="2000"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וְהִקְטִיר </a:t>
            </a:r>
            <a:r>
              <a:rPr lang="iw-I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עָלֶיהָ חֶלְבֵי הַשְּׁלָמִים.  </a:t>
            </a:r>
            <a:endParaRPr sz="2000"/>
          </a:p>
        </p:txBody>
      </p:sp>
      <p:sp>
        <p:nvSpPr>
          <p:cNvPr id="263" name="Google Shape;263;p2"/>
          <p:cNvSpPr/>
          <p:nvPr/>
        </p:nvSpPr>
        <p:spPr>
          <a:xfrm>
            <a:off x="1247975" y="-427650"/>
            <a:ext cx="8563500" cy="16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תפקיד הכהנים במשכן – </a:t>
            </a:r>
            <a:endParaRPr>
              <a:solidFill>
                <a:schemeClr val="dk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תרומת הדשן עריכת העולה והקטרת החלבים</a:t>
            </a:r>
            <a:endParaRPr b="1" sz="32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רקע 12.jpg" id="268" name="Google Shape;2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38022" y="-962283"/>
            <a:ext cx="6858000" cy="9211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כהנים.jpg" id="269" name="Google Shape;2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3834" y="5643578"/>
            <a:ext cx="1285884" cy="1000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דישון המזבח החיצון.jpg" id="270" name="Google Shape;2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268" y="4587065"/>
            <a:ext cx="2742150" cy="205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"/>
          <p:cNvSpPr txBox="1"/>
          <p:nvPr/>
        </p:nvSpPr>
        <p:spPr>
          <a:xfrm>
            <a:off x="71407" y="1188943"/>
            <a:ext cx="90012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ג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וְלָבַשׁ הַכֹּהֵן מִדּוֹ בַד וּמִכְנְסֵי בַד יִלְבַּשׁ עַל בְּשָׂרוֹ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וְהֵרִים 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אֶת הַדֶּשֶׁן אֲשֶׁר תֹּאכַל הָאֵשׁ אֶת הָעֹלָה, עַל הַמִּזְבֵּחַ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iw-IL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וְשָׂמוֹ 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אֵצֶל הַמִּזְבֵּחַ.  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וּפָשַׁט אֶת בְּגָדָיו, וְלָבַשׁ  בְּגָדִים אֲחֵרִים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וְהוֹצִיא </a:t>
            </a: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אֶת הַדֶּשֶׁן אֶל מִחוּץ לַמַּחֲנֶה, אֶל מָקוֹם טָהוֹר  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תרומת הדשן היא סילוק כמות של אפר מראש המזבח והנחתה על רצפת המשכן/עזרה ובה נפתחה עבודת היום מדי בקר במקדש.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5839800" y="-177294"/>
            <a:ext cx="33042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 cap="none">
                <a:solidFill>
                  <a:srgbClr val="F4F0E2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מהי תרומת הדשן?</a:t>
            </a:r>
            <a:endParaRPr b="1" sz="3200" cap="none">
              <a:solidFill>
                <a:srgbClr val="F4F0E2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"/>
          <p:cNvSpPr/>
          <p:nvPr/>
        </p:nvSpPr>
        <p:spPr>
          <a:xfrm>
            <a:off x="1513694" y="94267"/>
            <a:ext cx="6501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>
                <a:solidFill>
                  <a:srgbClr val="8CB3E3"/>
                </a:solidFill>
                <a:latin typeface="Calibri"/>
                <a:ea typeface="Calibri"/>
                <a:cs typeface="Calibri"/>
                <a:sym typeface="Calibri"/>
              </a:rPr>
              <a:t>פרק ו</a:t>
            </a:r>
            <a:endParaRPr b="1" sz="3200">
              <a:solidFill>
                <a:srgbClr val="F4F0E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תפקיד הכהנים במשכן ותרומת הדשן</a:t>
            </a:r>
            <a:endParaRPr b="1" sz="3200">
              <a:solidFill>
                <a:srgbClr val="3185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cb75393bb_0_528"/>
          <p:cNvSpPr/>
          <p:nvPr/>
        </p:nvSpPr>
        <p:spPr>
          <a:xfrm>
            <a:off x="-46159" y="4382894"/>
            <a:ext cx="131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Gothic"/>
              <a:buNone/>
            </a:pPr>
            <a:r>
              <a:rPr b="1" i="0" lang="iw-IL" sz="32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ויקרא ו-ז</a:t>
            </a:r>
            <a:endParaRPr/>
          </a:p>
        </p:txBody>
      </p:sp>
      <p:sp>
        <p:nvSpPr>
          <p:cNvPr id="279" name="Google Shape;279;g39cb75393bb_0_528"/>
          <p:cNvSpPr/>
          <p:nvPr/>
        </p:nvSpPr>
        <p:spPr>
          <a:xfrm>
            <a:off x="1206426" y="6378730"/>
            <a:ext cx="786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DC2"/>
              </a:buClr>
              <a:buSzPts val="2400"/>
              <a:buFont typeface="Century Gothic"/>
              <a:buNone/>
            </a:pPr>
            <a:r>
              <a:rPr b="1" i="0" lang="iw-IL" sz="2400" u="none" cap="none" strike="noStrike">
                <a:solidFill>
                  <a:srgbClr val="F9CDC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ויקרא פרקים ו – ז מנחות הכהנים, קודשי קודשים וקודשים קלים, קורבן שלמים</a:t>
            </a:r>
            <a:endParaRPr/>
          </a:p>
        </p:txBody>
      </p:sp>
      <p:pic>
        <p:nvPicPr>
          <p:cNvPr id="280" name="Google Shape;280;g39cb75393bb_0_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996" y="5292968"/>
            <a:ext cx="982513" cy="70179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9cb75393bb_0_528"/>
          <p:cNvSpPr/>
          <p:nvPr/>
        </p:nvSpPr>
        <p:spPr>
          <a:xfrm>
            <a:off x="4239722" y="347225"/>
            <a:ext cx="453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3010"/>
              </a:buClr>
              <a:buSzPts val="5400"/>
              <a:buFont typeface="Century Gothic"/>
              <a:buNone/>
            </a:pPr>
            <a:r>
              <a:rPr b="0" i="0" lang="iw-IL" sz="5400" u="none" cap="none" strike="noStrike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מנחות הכהנים</a:t>
            </a:r>
            <a:endParaRPr b="0" i="0" sz="5400" u="none" cap="none" strike="noStrike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g39cb75393bb_0_528"/>
          <p:cNvSpPr txBox="1"/>
          <p:nvPr/>
        </p:nvSpPr>
        <p:spPr>
          <a:xfrm>
            <a:off x="1912327" y="1393371"/>
            <a:ext cx="6860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בפרק ב' למדנו על קורבן מנחה שהיה מורכב מסולת, שמן ולבונה.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בפרק שלנו יש עוד שני סוגים של מנחות - מנחת חינוך ומנחת חביתין.</a:t>
            </a:r>
            <a:endParaRPr/>
          </a:p>
        </p:txBody>
      </p:sp>
      <p:sp>
        <p:nvSpPr>
          <p:cNvPr id="283" name="Google Shape;283;g39cb75393bb_0_528"/>
          <p:cNvSpPr/>
          <p:nvPr/>
        </p:nvSpPr>
        <p:spPr>
          <a:xfrm>
            <a:off x="3823772" y="2794375"/>
            <a:ext cx="5364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200" u="none" cap="none" strike="noStrike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מנחת חינוך ומנחת חביתין</a:t>
            </a:r>
            <a:endParaRPr b="1" i="0" sz="3200" u="none" cap="none" strike="noStrike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t/>
            </a:r>
            <a:endParaRPr b="1" i="0" sz="3200" u="none" cap="none" strike="noStrike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4" name="Google Shape;284;g39cb75393bb_0_528"/>
          <p:cNvGrpSpPr/>
          <p:nvPr/>
        </p:nvGrpSpPr>
        <p:grpSpPr>
          <a:xfrm>
            <a:off x="561699" y="347234"/>
            <a:ext cx="3389640" cy="1077307"/>
            <a:chOff x="6313282" y="4171504"/>
            <a:chExt cx="3385239" cy="867747"/>
          </a:xfrm>
        </p:grpSpPr>
        <p:pic>
          <p:nvPicPr>
            <p:cNvPr id="285" name="Google Shape;285;g39cb75393bb_0_5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31598" y="4201410"/>
              <a:ext cx="469446" cy="41855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6" name="Google Shape;286;g39cb75393bb_0_528"/>
            <p:cNvGrpSpPr/>
            <p:nvPr/>
          </p:nvGrpSpPr>
          <p:grpSpPr>
            <a:xfrm>
              <a:off x="7123482" y="4171504"/>
              <a:ext cx="2575039" cy="867747"/>
              <a:chOff x="7072454" y="2364740"/>
              <a:chExt cx="2575039" cy="867747"/>
            </a:xfrm>
          </p:grpSpPr>
          <p:pic>
            <p:nvPicPr>
              <p:cNvPr id="287" name="Google Shape;287;g39cb75393bb_0_52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123050" y="2400780"/>
                <a:ext cx="767085" cy="4528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" name="Google Shape;288;g39cb75393bb_0_528"/>
              <p:cNvPicPr preferRelativeResize="0"/>
              <p:nvPr/>
            </p:nvPicPr>
            <p:blipFill rotWithShape="1">
              <a:blip r:embed="rId6">
                <a:alphaModFix/>
              </a:blip>
              <a:srcRect b="10277" l="0" r="0" t="5760"/>
              <a:stretch/>
            </p:blipFill>
            <p:spPr>
              <a:xfrm>
                <a:off x="7938962" y="2469590"/>
                <a:ext cx="616022" cy="3448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" name="Google Shape;289;g39cb75393bb_0_52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664520" y="2364740"/>
                <a:ext cx="607336" cy="5065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0" name="Google Shape;290;g39cb75393bb_0_528"/>
              <p:cNvSpPr/>
              <p:nvPr/>
            </p:nvSpPr>
            <p:spPr>
              <a:xfrm>
                <a:off x="8706093" y="2726087"/>
                <a:ext cx="941400" cy="5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6725" lIns="113500" spcFirstLastPara="1" rIns="113500" wrap="square" tIns="567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53010"/>
                  </a:buClr>
                  <a:buSzPts val="2980"/>
                  <a:buFont typeface="Century Gothic"/>
                  <a:buNone/>
                </a:pPr>
                <a:r>
                  <a:rPr b="0" i="0" lang="iw-IL" sz="2980" u="none" cap="none" strike="noStrike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שמן</a:t>
                </a:r>
                <a:endParaRPr sz="1738"/>
              </a:p>
            </p:txBody>
          </p:sp>
          <p:sp>
            <p:nvSpPr>
              <p:cNvPr id="291" name="Google Shape;291;g39cb75393bb_0_528"/>
              <p:cNvSpPr/>
              <p:nvPr/>
            </p:nvSpPr>
            <p:spPr>
              <a:xfrm>
                <a:off x="7072454" y="2721638"/>
                <a:ext cx="1176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6725" lIns="113500" spcFirstLastPara="1" rIns="113500" wrap="square" tIns="567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53010"/>
                  </a:buClr>
                  <a:buSzPts val="2980"/>
                  <a:buFont typeface="Century Gothic"/>
                  <a:buNone/>
                </a:pPr>
                <a:r>
                  <a:rPr b="0" i="0" lang="iw-IL" sz="2980" u="none" cap="none" strike="noStrike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לבונה</a:t>
                </a:r>
                <a:endParaRPr sz="1738"/>
              </a:p>
            </p:txBody>
          </p:sp>
          <p:sp>
            <p:nvSpPr>
              <p:cNvPr id="292" name="Google Shape;292;g39cb75393bb_0_528"/>
              <p:cNvSpPr/>
              <p:nvPr/>
            </p:nvSpPr>
            <p:spPr>
              <a:xfrm>
                <a:off x="7868989" y="2733612"/>
                <a:ext cx="1176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6725" lIns="113500" spcFirstLastPara="1" rIns="113500" wrap="square" tIns="567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53010"/>
                  </a:buClr>
                  <a:buSzPts val="2980"/>
                  <a:buFont typeface="Century Gothic"/>
                  <a:buNone/>
                </a:pPr>
                <a:r>
                  <a:rPr b="0" i="0" lang="iw-IL" sz="2980" u="none" cap="none" strike="noStrike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סולת</a:t>
                </a:r>
                <a:endParaRPr sz="1738"/>
              </a:p>
            </p:txBody>
          </p:sp>
        </p:grpSp>
        <p:sp>
          <p:nvSpPr>
            <p:cNvPr id="293" name="Google Shape;293;g39cb75393bb_0_528"/>
            <p:cNvSpPr/>
            <p:nvPr/>
          </p:nvSpPr>
          <p:spPr>
            <a:xfrm>
              <a:off x="6313282" y="4522802"/>
              <a:ext cx="117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6725" lIns="113500" spcFirstLastPara="1" rIns="113500" wrap="square" tIns="56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3010"/>
                </a:buClr>
                <a:buSzPts val="2980"/>
                <a:buFont typeface="Century Gothic"/>
                <a:buNone/>
              </a:pPr>
              <a:r>
                <a:rPr b="0" i="0" lang="iw-IL" sz="2980" u="none" cap="none" strike="noStrike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מחבת</a:t>
              </a:r>
              <a:endParaRPr sz="1738"/>
            </a:p>
          </p:txBody>
        </p:sp>
      </p:grpSp>
      <p:sp>
        <p:nvSpPr>
          <p:cNvPr id="294" name="Google Shape;294;g39cb75393bb_0_528"/>
          <p:cNvSpPr txBox="1"/>
          <p:nvPr/>
        </p:nvSpPr>
        <p:spPr>
          <a:xfrm>
            <a:off x="3670856" y="2593981"/>
            <a:ext cx="69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8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5" name="Google Shape;295;g39cb75393bb_0_528"/>
          <p:cNvSpPr txBox="1"/>
          <p:nvPr/>
        </p:nvSpPr>
        <p:spPr>
          <a:xfrm>
            <a:off x="1670972" y="3086037"/>
            <a:ext cx="693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יב</a:t>
            </a:r>
            <a:r>
              <a:rPr b="0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וַיְדַבֵּר ה' אֶל מֹשֶׁה לֵּאמֹר.  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יג</a:t>
            </a:r>
            <a:r>
              <a:rPr b="0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זֶה קָרְבַּן אַהֲרֹן וּבָנָיו אֲשֶׁר יַקְרִיבוּ לַה'  </a:t>
            </a:r>
            <a:r>
              <a:rPr b="1" i="0" lang="iw-IL" sz="2400" u="none" cap="none" strike="noStrike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בְּיוֹם הִמָּשַׁח אֹתוֹ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עֲשִׂירִת הָאֵפָה סֹלֶת מִנְחָה תָּמִיד מַחֲצִיתָהּ בַּבֹּקֶר וּמַחֲצִיתָהּ בָּעָרֶב.  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יד</a:t>
            </a:r>
            <a:r>
              <a:rPr b="0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עַל מַחֲבַת  בַּשֶּׁמֶן תֵּעָשֶׂה מֻרְבֶּכֶת תְּבִיאֶנָּה  תֻּפִינֵי מִנְחַת פִּתִּים  תַּקְרִיב רֵיחַ נִיחֹחַ לַה'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טו</a:t>
            </a:r>
            <a:r>
              <a:rPr b="0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וְהַכֹּהֵן הַמָּשִׁיחַ תַּחְתָּיו מִבָּנָיו, יַעֲשֶׂה אֹתָהּ  </a:t>
            </a:r>
            <a:r>
              <a:rPr b="1" i="0" lang="iw-IL" sz="2400" u="none" cap="none" strike="noStrike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חָק עוֹלָם</a:t>
            </a:r>
            <a:r>
              <a:rPr b="0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 לַה' כָּלִיל תָּקְטָר.  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טז</a:t>
            </a:r>
            <a:r>
              <a:rPr b="0" i="0" lang="iw-IL" sz="24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וְכָל מִנְחַת כֹּהֵן כָּלִיל תִּהְיֶה  לֹא תֵאָכֵל</a:t>
            </a:r>
            <a:r>
              <a:rPr b="0" i="0" lang="iw-IL" sz="18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cb75393bb_0_891"/>
          <p:cNvSpPr/>
          <p:nvPr/>
        </p:nvSpPr>
        <p:spPr>
          <a:xfrm>
            <a:off x="-46159" y="4382894"/>
            <a:ext cx="131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ויקרא ו-ז</a:t>
            </a:r>
            <a:endParaRPr b="1" i="0" sz="3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1" name="Google Shape;301;g39cb75393bb_0_891"/>
          <p:cNvSpPr/>
          <p:nvPr/>
        </p:nvSpPr>
        <p:spPr>
          <a:xfrm>
            <a:off x="-72175" y="63787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ויקרא פרקים ו – ז מנחות הכהנים, קודשי קודשים וקודשים קלים, קורבן שלמים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2" name="Google Shape;302;g39cb75393bb_0_8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996" y="5488918"/>
            <a:ext cx="982513" cy="70179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9cb75393bb_0_891"/>
          <p:cNvSpPr/>
          <p:nvPr/>
        </p:nvSpPr>
        <p:spPr>
          <a:xfrm>
            <a:off x="2737862" y="327025"/>
            <a:ext cx="603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5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קורבן שלמים</a:t>
            </a:r>
            <a:endParaRPr/>
          </a:p>
        </p:txBody>
      </p:sp>
      <p:sp>
        <p:nvSpPr>
          <p:cNvPr id="304" name="Google Shape;304;g39cb75393bb_0_891"/>
          <p:cNvSpPr/>
          <p:nvPr/>
        </p:nvSpPr>
        <p:spPr>
          <a:xfrm>
            <a:off x="4944156" y="1296350"/>
            <a:ext cx="402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שלמי תודה</a:t>
            </a:r>
            <a:endParaRPr/>
          </a:p>
        </p:txBody>
      </p:sp>
      <p:sp>
        <p:nvSpPr>
          <p:cNvPr id="305" name="Google Shape;305;g39cb75393bb_0_891"/>
          <p:cNvSpPr txBox="1"/>
          <p:nvPr/>
        </p:nvSpPr>
        <p:spPr>
          <a:xfrm>
            <a:off x="178044" y="1793777"/>
            <a:ext cx="88938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מי מביא? </a:t>
            </a:r>
            <a:r>
              <a:rPr b="1" i="0" lang="iw-IL" sz="2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ח</a:t>
            </a:r>
            <a:r>
              <a:rPr b="0" i="0" lang="iw-IL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בוש (אסיר שהשתחרר), </a:t>
            </a:r>
            <a:r>
              <a:rPr b="1" i="0" lang="iw-IL" sz="2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י</a:t>
            </a:r>
            <a:r>
              <a:rPr b="0" i="0" lang="iw-IL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יסורים (חולה במחלה מסכנת חיים שהחלים) </a:t>
            </a:r>
            <a:r>
              <a:rPr b="1" i="0" lang="iw-IL" sz="2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י</a:t>
            </a:r>
            <a:r>
              <a:rPr b="0" i="0" lang="iw-IL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ורדי ימים, עוברי </a:t>
            </a:r>
            <a:r>
              <a:rPr b="1" i="0" lang="iw-IL" sz="2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</a:t>
            </a:r>
            <a:r>
              <a:rPr b="0" i="0" lang="iw-IL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דבריות.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מה מביאים? כבש וארבעים לחמים.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במשך כמה זמן מותר לאכול? יום לילה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6" name="Google Shape;306;g39cb75393bb_0_8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9932" y="2696524"/>
            <a:ext cx="1521377" cy="858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9cb75393bb_0_8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4508144" y="2278941"/>
            <a:ext cx="925502" cy="895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9cb75393bb_0_8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6627" y="5640636"/>
            <a:ext cx="1033739" cy="738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9cb75393bb_0_891"/>
          <p:cNvPicPr preferRelativeResize="0"/>
          <p:nvPr/>
        </p:nvPicPr>
        <p:blipFill rotWithShape="1">
          <a:blip r:embed="rId7">
            <a:alphaModFix/>
          </a:blip>
          <a:srcRect b="7493" l="0" r="0" t="0"/>
          <a:stretch/>
        </p:blipFill>
        <p:spPr>
          <a:xfrm>
            <a:off x="7648026" y="4386076"/>
            <a:ext cx="710062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9cb75393bb_0_89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40952" y="4200719"/>
            <a:ext cx="1248993" cy="83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9cb75393bb_0_89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0805" y="2278941"/>
            <a:ext cx="1104134" cy="82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9cb75393bb_0_89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44341" y="2304112"/>
            <a:ext cx="1073658" cy="852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9cb75393bb_0_891"/>
          <p:cNvPicPr preferRelativeResize="0"/>
          <p:nvPr/>
        </p:nvPicPr>
        <p:blipFill rotWithShape="1">
          <a:blip r:embed="rId11">
            <a:alphaModFix/>
          </a:blip>
          <a:srcRect b="13763" l="0" r="0" t="0"/>
          <a:stretch/>
        </p:blipFill>
        <p:spPr>
          <a:xfrm>
            <a:off x="4317507" y="5309464"/>
            <a:ext cx="982513" cy="1223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9cb75393bb_0_89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44585" y="4202747"/>
            <a:ext cx="1248993" cy="83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9cb75393bb_0_89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53532" y="4189375"/>
            <a:ext cx="1248993" cy="83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9cb75393bb_0_89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33064" y="4134949"/>
            <a:ext cx="1248993" cy="83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9cb75393bb_0_89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6115" y="4200714"/>
            <a:ext cx="1248993" cy="832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9cb75393bb_0_891"/>
          <p:cNvSpPr txBox="1"/>
          <p:nvPr/>
        </p:nvSpPr>
        <p:spPr>
          <a:xfrm>
            <a:off x="7467600" y="2565400"/>
            <a:ext cx="173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98f473a65_9_0"/>
          <p:cNvSpPr txBox="1"/>
          <p:nvPr>
            <p:ph type="ctrTitle"/>
          </p:nvPr>
        </p:nvSpPr>
        <p:spPr>
          <a:xfrm>
            <a:off x="188625" y="0"/>
            <a:ext cx="8439900" cy="4777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חטטאחאא</a:t>
            </a:r>
            <a:endParaRPr/>
          </a:p>
        </p:txBody>
      </p:sp>
      <p:sp>
        <p:nvSpPr>
          <p:cNvPr id="324" name="Google Shape;324;g3a98f473a65_9_0"/>
          <p:cNvSpPr txBox="1"/>
          <p:nvPr>
            <p:ph idx="1" type="subTitle"/>
          </p:nvPr>
        </p:nvSpPr>
        <p:spPr>
          <a:xfrm>
            <a:off x="1941910" y="4777379"/>
            <a:ext cx="6686700" cy="112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שן מתפתל">
  <a:themeElements>
    <a:clrScheme name="עשן מתפתל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2020-09-17T18:22:29Z</dcterms:created>
  <dc:creator>user</dc:creator>
</cp:coreProperties>
</file>