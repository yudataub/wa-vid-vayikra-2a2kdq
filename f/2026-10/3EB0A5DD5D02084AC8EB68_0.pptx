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322" r:id="rId2"/>
    <p:sldId id="327" r:id="rId3"/>
    <p:sldId id="328" r:id="rId4"/>
    <p:sldId id="329" r:id="rId5"/>
    <p:sldId id="292" r:id="rId6"/>
    <p:sldId id="330" r:id="rId7"/>
    <p:sldId id="331" r:id="rId8"/>
    <p:sldId id="332" r:id="rId9"/>
    <p:sldId id="321" r:id="rId10"/>
    <p:sldId id="333" r:id="rId11"/>
    <p:sldId id="334" r:id="rId12"/>
    <p:sldId id="335" r:id="rId13"/>
    <p:sldId id="326" r:id="rId14"/>
    <p:sldId id="336" r:id="rId15"/>
    <p:sldId id="338" r:id="rId16"/>
    <p:sldId id="337" r:id="rId17"/>
    <p:sldId id="284" r:id="rId18"/>
    <p:sldId id="339" r:id="rId19"/>
    <p:sldId id="340" r:id="rId20"/>
    <p:sldId id="341" r:id="rId21"/>
    <p:sldId id="280" r:id="rId22"/>
    <p:sldId id="342" r:id="rId23"/>
    <p:sldId id="343" r:id="rId24"/>
    <p:sldId id="344" r:id="rId25"/>
  </p:sldIdLst>
  <p:sldSz cx="2447925" cy="3419475"/>
  <p:notesSz cx="6797675" cy="9928225"/>
  <p:defaultTextStyle>
    <a:defPPr>
      <a:defRPr lang="en-US"/>
    </a:defPPr>
    <a:lvl1pPr algn="l" defTabSz="145052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145052" indent="-42411" algn="l" defTabSz="145052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290105" indent="-84822" algn="l" defTabSz="145052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435157" indent="-127233" algn="l" defTabSz="145052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580209" indent="-169643" algn="l" defTabSz="145052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513207" algn="r" defTabSz="205283" rtl="1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615848" algn="r" defTabSz="205283" rtl="1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718490" algn="r" defTabSz="205283" rtl="1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821131" algn="r" defTabSz="205283" rtl="1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D6FE"/>
    <a:srgbClr val="C6D9FE"/>
    <a:srgbClr val="CADBFE"/>
    <a:srgbClr val="99BAFD"/>
    <a:srgbClr val="6094FC"/>
    <a:srgbClr val="6C9CFC"/>
    <a:srgbClr val="00A1DA"/>
    <a:srgbClr val="00ADEA"/>
    <a:srgbClr val="00B3F2"/>
    <a:srgbClr val="71D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170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25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2" d="100"/>
        <a:sy n="82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1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797015FD-BFB6-40F6-88C5-3AA4C7E24E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646409">
              <a:defRPr sz="1200"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A7673D7-8EDD-46B5-A75E-DA3E4527EC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74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646409">
              <a:defRPr sz="1200"/>
            </a:lvl1pPr>
          </a:lstStyle>
          <a:p>
            <a:pPr>
              <a:defRPr/>
            </a:pPr>
            <a:fld id="{A2EC9366-7EC5-44E5-800F-499E72CC039E}" type="datetimeFigureOut">
              <a:rPr lang="he-IL"/>
              <a:pPr>
                <a:defRPr/>
              </a:pPr>
              <a:t>י'/חשון/תשפ"ז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B2AC656-2BD0-45EF-9935-2108EB542B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52016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646409">
              <a:defRPr sz="1200"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4301346-0B47-4B1D-BE0B-55580C46E6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74" y="9430091"/>
            <a:ext cx="2945659" cy="49813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fld id="{71D8B7CC-ADCD-4E56-9C2C-13C2E3BF88F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5906A2C1-B819-487B-91F1-4453F5CFC4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EA9B34D-AC29-46BB-82B5-07909A81813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574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08C570C-430C-4040-9BC4-AC81BC4AB438}" type="datetimeFigureOut">
              <a:rPr lang="he-IL" smtClean="0"/>
              <a:t>י'/חשון/תשפ"ז</a:t>
            </a:fld>
            <a:endParaRPr lang="he-IL"/>
          </a:p>
        </p:txBody>
      </p:sp>
      <p:sp>
        <p:nvSpPr>
          <p:cNvPr id="4" name="מציין מיקום של תמונת שקופית 3">
            <a:extLst>
              <a:ext uri="{FF2B5EF4-FFF2-40B4-BE49-F238E27FC236}">
                <a16:creationId xmlns:a16="http://schemas.microsoft.com/office/drawing/2014/main" id="{B1BDACAF-154D-40CA-804A-E64F82C4A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00275" y="1241425"/>
            <a:ext cx="2397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>
            <a:extLst>
              <a:ext uri="{FF2B5EF4-FFF2-40B4-BE49-F238E27FC236}">
                <a16:creationId xmlns:a16="http://schemas.microsoft.com/office/drawing/2014/main" id="{F1F32D6D-88A7-4C6F-BF95-87276ED35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14FA5BA-42A5-4AD9-A613-680B9E0605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852016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8E62F47-FECB-4FE3-98A6-4300311A9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574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4D3240E0-12E7-4215-8D71-58EB923D667D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205283" rtl="1" eaLnBrk="1" latinLnBrk="0" hangingPunct="1">
      <a:defRPr sz="269" kern="1200">
        <a:solidFill>
          <a:schemeClr val="tx1"/>
        </a:solidFill>
        <a:latin typeface="+mn-lt"/>
        <a:ea typeface="+mn-ea"/>
        <a:cs typeface="+mn-cs"/>
      </a:defRPr>
    </a:lvl1pPr>
    <a:lvl2pPr marL="102641" algn="r" defTabSz="205283" rtl="1" eaLnBrk="1" latinLnBrk="0" hangingPunct="1">
      <a:defRPr sz="269" kern="1200">
        <a:solidFill>
          <a:schemeClr val="tx1"/>
        </a:solidFill>
        <a:latin typeface="+mn-lt"/>
        <a:ea typeface="+mn-ea"/>
        <a:cs typeface="+mn-cs"/>
      </a:defRPr>
    </a:lvl2pPr>
    <a:lvl3pPr marL="205283" algn="r" defTabSz="205283" rtl="1" eaLnBrk="1" latinLnBrk="0" hangingPunct="1">
      <a:defRPr sz="269" kern="1200">
        <a:solidFill>
          <a:schemeClr val="tx1"/>
        </a:solidFill>
        <a:latin typeface="+mn-lt"/>
        <a:ea typeface="+mn-ea"/>
        <a:cs typeface="+mn-cs"/>
      </a:defRPr>
    </a:lvl3pPr>
    <a:lvl4pPr marL="307924" algn="r" defTabSz="205283" rtl="1" eaLnBrk="1" latinLnBrk="0" hangingPunct="1">
      <a:defRPr sz="269" kern="1200">
        <a:solidFill>
          <a:schemeClr val="tx1"/>
        </a:solidFill>
        <a:latin typeface="+mn-lt"/>
        <a:ea typeface="+mn-ea"/>
        <a:cs typeface="+mn-cs"/>
      </a:defRPr>
    </a:lvl4pPr>
    <a:lvl5pPr marL="410566" algn="r" defTabSz="205283" rtl="1" eaLnBrk="1" latinLnBrk="0" hangingPunct="1">
      <a:defRPr sz="269" kern="1200">
        <a:solidFill>
          <a:schemeClr val="tx1"/>
        </a:solidFill>
        <a:latin typeface="+mn-lt"/>
        <a:ea typeface="+mn-ea"/>
        <a:cs typeface="+mn-cs"/>
      </a:defRPr>
    </a:lvl5pPr>
    <a:lvl6pPr marL="513207" algn="r" defTabSz="205283" rtl="1" eaLnBrk="1" latinLnBrk="0" hangingPunct="1">
      <a:defRPr sz="269" kern="1200">
        <a:solidFill>
          <a:schemeClr val="tx1"/>
        </a:solidFill>
        <a:latin typeface="+mn-lt"/>
        <a:ea typeface="+mn-ea"/>
        <a:cs typeface="+mn-cs"/>
      </a:defRPr>
    </a:lvl6pPr>
    <a:lvl7pPr marL="615848" algn="r" defTabSz="205283" rtl="1" eaLnBrk="1" latinLnBrk="0" hangingPunct="1">
      <a:defRPr sz="269" kern="1200">
        <a:solidFill>
          <a:schemeClr val="tx1"/>
        </a:solidFill>
        <a:latin typeface="+mn-lt"/>
        <a:ea typeface="+mn-ea"/>
        <a:cs typeface="+mn-cs"/>
      </a:defRPr>
    </a:lvl7pPr>
    <a:lvl8pPr marL="718490" algn="r" defTabSz="205283" rtl="1" eaLnBrk="1" latinLnBrk="0" hangingPunct="1">
      <a:defRPr sz="269" kern="1200">
        <a:solidFill>
          <a:schemeClr val="tx1"/>
        </a:solidFill>
        <a:latin typeface="+mn-lt"/>
        <a:ea typeface="+mn-ea"/>
        <a:cs typeface="+mn-cs"/>
      </a:defRPr>
    </a:lvl8pPr>
    <a:lvl9pPr marL="821131" algn="r" defTabSz="205283" rtl="1" eaLnBrk="1" latinLnBrk="0" hangingPunct="1">
      <a:defRPr sz="2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ציין מיקום של תמונה 3"/>
          <p:cNvSpPr>
            <a:spLocks noGrp="1" noChangeArrowheads="1"/>
          </p:cNvSpPr>
          <p:nvPr>
            <p:ph type="pic" sz="quarter" idx="4294967295"/>
          </p:nvPr>
        </p:nvSpPr>
        <p:spPr bwMode="auto">
          <a:xfrm>
            <a:off x="1" y="1"/>
            <a:ext cx="2447925" cy="3419475"/>
          </a:xfrm>
          <a:prstGeom prst="rect">
            <a:avLst/>
          </a:prstGeom>
          <a:noFill/>
        </p:spPr>
      </p:sp>
    </p:spTree>
    <p:extLst>
      <p:ext uri="{BB962C8B-B14F-4D97-AF65-F5344CB8AC3E}">
        <p14:creationId xmlns:p14="http://schemas.microsoft.com/office/powerpoint/2010/main" val="2517722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פריסה מותאמת אישי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31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64" r:id="rId2"/>
  </p:sldLayoutIdLst>
  <p:txStyles>
    <p:titleStyle>
      <a:lvl1pPr algn="l" defTabSz="241613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132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241613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132">
          <a:solidFill>
            <a:schemeClr val="tx1"/>
          </a:solidFill>
          <a:latin typeface="Calibri Light" panose="020F0302020204030204" pitchFamily="34" charset="0"/>
        </a:defRPr>
      </a:lvl2pPr>
      <a:lvl3pPr algn="l" defTabSz="241613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132">
          <a:solidFill>
            <a:schemeClr val="tx1"/>
          </a:solidFill>
          <a:latin typeface="Calibri Light" panose="020F0302020204030204" pitchFamily="34" charset="0"/>
        </a:defRPr>
      </a:lvl3pPr>
      <a:lvl4pPr algn="l" defTabSz="241613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132">
          <a:solidFill>
            <a:schemeClr val="tx1"/>
          </a:solidFill>
          <a:latin typeface="Calibri Light" panose="020F0302020204030204" pitchFamily="34" charset="0"/>
        </a:defRPr>
      </a:lvl4pPr>
      <a:lvl5pPr algn="l" defTabSz="241613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132">
          <a:solidFill>
            <a:schemeClr val="tx1"/>
          </a:solidFill>
          <a:latin typeface="Calibri Light" panose="020F0302020204030204" pitchFamily="34" charset="0"/>
        </a:defRPr>
      </a:lvl5pPr>
      <a:lvl6pPr marL="146202" algn="l" defTabSz="241640" rtl="1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51">
          <a:solidFill>
            <a:schemeClr val="tx1"/>
          </a:solidFill>
          <a:latin typeface="Calibri Light" panose="020F0302020204030204" pitchFamily="34" charset="0"/>
        </a:defRPr>
      </a:lvl6pPr>
      <a:lvl7pPr marL="292403" algn="l" defTabSz="241640" rtl="1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51">
          <a:solidFill>
            <a:schemeClr val="tx1"/>
          </a:solidFill>
          <a:latin typeface="Calibri Light" panose="020F0302020204030204" pitchFamily="34" charset="0"/>
        </a:defRPr>
      </a:lvl7pPr>
      <a:lvl8pPr marL="438605" algn="l" defTabSz="241640" rtl="1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51">
          <a:solidFill>
            <a:schemeClr val="tx1"/>
          </a:solidFill>
          <a:latin typeface="Calibri Light" panose="020F0302020204030204" pitchFamily="34" charset="0"/>
        </a:defRPr>
      </a:lvl8pPr>
      <a:lvl9pPr marL="584806" algn="l" defTabSz="241640" rtl="1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151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60314" indent="-60314" algn="r" defTabSz="241613" rtl="1" eaLnBrk="0" fontAlgn="base" hangingPunct="0">
        <a:lnSpc>
          <a:spcPct val="90000"/>
        </a:lnSpc>
        <a:spcBef>
          <a:spcPts val="262"/>
        </a:spcBef>
        <a:spcAft>
          <a:spcPct val="0"/>
        </a:spcAft>
        <a:buFont typeface="Arial" panose="020B0604020202020204" pitchFamily="34" charset="0"/>
        <a:buChar char="•"/>
        <a:defRPr sz="723" kern="1200">
          <a:solidFill>
            <a:schemeClr val="tx1"/>
          </a:solidFill>
          <a:latin typeface="+mn-lt"/>
          <a:ea typeface="+mn-ea"/>
          <a:cs typeface="+mn-cs"/>
        </a:defRPr>
      </a:lvl1pPr>
      <a:lvl2pPr marL="180940" indent="-60314" algn="r" defTabSz="241613" rtl="1" eaLnBrk="0" fontAlgn="base" hangingPunct="0">
        <a:lnSpc>
          <a:spcPct val="90000"/>
        </a:lnSpc>
        <a:spcBef>
          <a:spcPts val="133"/>
        </a:spcBef>
        <a:spcAft>
          <a:spcPct val="0"/>
        </a:spcAft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2pPr>
      <a:lvl3pPr marL="301927" indent="-60314" algn="r" defTabSz="241613" rtl="1" eaLnBrk="0" fontAlgn="base" hangingPunct="0">
        <a:lnSpc>
          <a:spcPct val="90000"/>
        </a:lnSpc>
        <a:spcBef>
          <a:spcPts val="133"/>
        </a:spcBef>
        <a:spcAft>
          <a:spcPct val="0"/>
        </a:spcAft>
        <a:buFont typeface="Arial" panose="020B0604020202020204" pitchFamily="34" charset="0"/>
        <a:buChar char="•"/>
        <a:defRPr sz="497" kern="1200">
          <a:solidFill>
            <a:schemeClr val="tx1"/>
          </a:solidFill>
          <a:latin typeface="+mn-lt"/>
          <a:ea typeface="+mn-ea"/>
          <a:cs typeface="+mn-cs"/>
        </a:defRPr>
      </a:lvl3pPr>
      <a:lvl4pPr marL="422553" indent="-60314" algn="r" defTabSz="241613" rtl="1" eaLnBrk="0" fontAlgn="base" hangingPunct="0">
        <a:lnSpc>
          <a:spcPct val="90000"/>
        </a:lnSpc>
        <a:spcBef>
          <a:spcPts val="133"/>
        </a:spcBef>
        <a:spcAft>
          <a:spcPct val="0"/>
        </a:spcAft>
        <a:buFont typeface="Arial" panose="020B0604020202020204" pitchFamily="34" charset="0"/>
        <a:buChar char="•"/>
        <a:defRPr sz="430" kern="1200">
          <a:solidFill>
            <a:schemeClr val="tx1"/>
          </a:solidFill>
          <a:latin typeface="+mn-lt"/>
          <a:ea typeface="+mn-ea"/>
          <a:cs typeface="+mn-cs"/>
        </a:defRPr>
      </a:lvl4pPr>
      <a:lvl5pPr marL="543540" indent="-60314" algn="r" defTabSz="241613" rtl="1" eaLnBrk="0" fontAlgn="base" hangingPunct="0">
        <a:lnSpc>
          <a:spcPct val="90000"/>
        </a:lnSpc>
        <a:spcBef>
          <a:spcPts val="133"/>
        </a:spcBef>
        <a:spcAft>
          <a:spcPct val="0"/>
        </a:spcAft>
        <a:buFont typeface="Arial" panose="020B0604020202020204" pitchFamily="34" charset="0"/>
        <a:buChar char="•"/>
        <a:defRPr sz="430" kern="1200">
          <a:solidFill>
            <a:schemeClr val="tx1"/>
          </a:solidFill>
          <a:latin typeface="+mn-lt"/>
          <a:ea typeface="+mn-ea"/>
          <a:cs typeface="+mn-cs"/>
        </a:defRPr>
      </a:lvl5pPr>
      <a:lvl6pPr marL="664757" indent="-60432" algn="r" defTabSz="241730" rtl="1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76" kern="1200">
          <a:solidFill>
            <a:schemeClr val="tx1"/>
          </a:solidFill>
          <a:latin typeface="+mn-lt"/>
          <a:ea typeface="+mn-ea"/>
          <a:cs typeface="+mn-cs"/>
        </a:defRPr>
      </a:lvl6pPr>
      <a:lvl7pPr marL="785622" indent="-60432" algn="r" defTabSz="241730" rtl="1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76" kern="1200">
          <a:solidFill>
            <a:schemeClr val="tx1"/>
          </a:solidFill>
          <a:latin typeface="+mn-lt"/>
          <a:ea typeface="+mn-ea"/>
          <a:cs typeface="+mn-cs"/>
        </a:defRPr>
      </a:lvl7pPr>
      <a:lvl8pPr marL="906486" indent="-60432" algn="r" defTabSz="241730" rtl="1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76" kern="1200">
          <a:solidFill>
            <a:schemeClr val="tx1"/>
          </a:solidFill>
          <a:latin typeface="+mn-lt"/>
          <a:ea typeface="+mn-ea"/>
          <a:cs typeface="+mn-cs"/>
        </a:defRPr>
      </a:lvl8pPr>
      <a:lvl9pPr marL="1027352" indent="-60432" algn="r" defTabSz="241730" rtl="1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241730" rtl="1" eaLnBrk="1" latinLnBrk="0" hangingPunct="1">
        <a:defRPr sz="476" kern="1200">
          <a:solidFill>
            <a:schemeClr val="tx1"/>
          </a:solidFill>
          <a:latin typeface="+mn-lt"/>
          <a:ea typeface="+mn-ea"/>
          <a:cs typeface="+mn-cs"/>
        </a:defRPr>
      </a:lvl1pPr>
      <a:lvl2pPr marL="120865" algn="r" defTabSz="241730" rtl="1" eaLnBrk="1" latinLnBrk="0" hangingPunct="1">
        <a:defRPr sz="476" kern="1200">
          <a:solidFill>
            <a:schemeClr val="tx1"/>
          </a:solidFill>
          <a:latin typeface="+mn-lt"/>
          <a:ea typeface="+mn-ea"/>
          <a:cs typeface="+mn-cs"/>
        </a:defRPr>
      </a:lvl2pPr>
      <a:lvl3pPr marL="241730" algn="r" defTabSz="241730" rtl="1" eaLnBrk="1" latinLnBrk="0" hangingPunct="1">
        <a:defRPr sz="476" kern="1200">
          <a:solidFill>
            <a:schemeClr val="tx1"/>
          </a:solidFill>
          <a:latin typeface="+mn-lt"/>
          <a:ea typeface="+mn-ea"/>
          <a:cs typeface="+mn-cs"/>
        </a:defRPr>
      </a:lvl3pPr>
      <a:lvl4pPr marL="362595" algn="r" defTabSz="241730" rtl="1" eaLnBrk="1" latinLnBrk="0" hangingPunct="1">
        <a:defRPr sz="476" kern="1200">
          <a:solidFill>
            <a:schemeClr val="tx1"/>
          </a:solidFill>
          <a:latin typeface="+mn-lt"/>
          <a:ea typeface="+mn-ea"/>
          <a:cs typeface="+mn-cs"/>
        </a:defRPr>
      </a:lvl4pPr>
      <a:lvl5pPr marL="483460" algn="r" defTabSz="241730" rtl="1" eaLnBrk="1" latinLnBrk="0" hangingPunct="1">
        <a:defRPr sz="476" kern="1200">
          <a:solidFill>
            <a:schemeClr val="tx1"/>
          </a:solidFill>
          <a:latin typeface="+mn-lt"/>
          <a:ea typeface="+mn-ea"/>
          <a:cs typeface="+mn-cs"/>
        </a:defRPr>
      </a:lvl5pPr>
      <a:lvl6pPr marL="604324" algn="r" defTabSz="241730" rtl="1" eaLnBrk="1" latinLnBrk="0" hangingPunct="1">
        <a:defRPr sz="476" kern="1200">
          <a:solidFill>
            <a:schemeClr val="tx1"/>
          </a:solidFill>
          <a:latin typeface="+mn-lt"/>
          <a:ea typeface="+mn-ea"/>
          <a:cs typeface="+mn-cs"/>
        </a:defRPr>
      </a:lvl6pPr>
      <a:lvl7pPr marL="725189" algn="r" defTabSz="241730" rtl="1" eaLnBrk="1" latinLnBrk="0" hangingPunct="1">
        <a:defRPr sz="476" kern="1200">
          <a:solidFill>
            <a:schemeClr val="tx1"/>
          </a:solidFill>
          <a:latin typeface="+mn-lt"/>
          <a:ea typeface="+mn-ea"/>
          <a:cs typeface="+mn-cs"/>
        </a:defRPr>
      </a:lvl7pPr>
      <a:lvl8pPr marL="846054" algn="r" defTabSz="241730" rtl="1" eaLnBrk="1" latinLnBrk="0" hangingPunct="1">
        <a:defRPr sz="476" kern="1200">
          <a:solidFill>
            <a:schemeClr val="tx1"/>
          </a:solidFill>
          <a:latin typeface="+mn-lt"/>
          <a:ea typeface="+mn-ea"/>
          <a:cs typeface="+mn-cs"/>
        </a:defRPr>
      </a:lvl8pPr>
      <a:lvl9pPr marL="966919" algn="r" defTabSz="241730" rtl="1" eaLnBrk="1" latinLnBrk="0" hangingPunct="1">
        <a:defRPr sz="4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406" b="406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B6DF89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בקר, צאן, עוף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B6DF89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עולה כולו לה'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B6DF89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ביטול מצוות עשה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B6DF89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נדבה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6EA92D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עולה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564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406" b="406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B6DF89"/>
          </a:solidFill>
          <a:ln w="28575"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בקר, צאן, עוף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B6DF89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עולה כולו לה'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B6DF89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ביטול מצוות עשה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B6DF89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נדבה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6EA92D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עולה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841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406" b="406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B6DF89"/>
          </a:solidFill>
          <a:ln w="28575"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בקר, צאן, עוף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B6DF89"/>
          </a:solidFill>
          <a:ln w="28575"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עולה כולו לה'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B6DF89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ביטול מצוות עשה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B6DF89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נדבה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6EA92D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עולה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008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406" b="406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B6DF89"/>
          </a:solidFill>
          <a:ln w="28575"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בקר, צאן, עוף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B6DF89"/>
          </a:solidFill>
          <a:ln w="28575"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עולה כולו לה'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B6DF89"/>
          </a:solidFill>
          <a:ln w="28575"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ביטול מצוות עשה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B6DF89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נדבה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6EA92D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עולה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83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BC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6377" b="6377"/>
          <a:stretch>
            <a:fillRect/>
          </a:stretch>
        </p:blipFill>
        <p:spPr>
          <a:xfrm>
            <a:off x="194194" y="53375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5FD4D7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סולת, שמן זית, לבונה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46221"/>
          </a:xfrm>
          <a:prstGeom prst="rect">
            <a:avLst/>
          </a:prstGeom>
          <a:solidFill>
            <a:srgbClr val="5FD4D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00" b="1" dirty="0" smtClean="0"/>
              <a:t>מקריבים קומץ- </a:t>
            </a:r>
            <a:r>
              <a:rPr lang="he-IL" sz="1000" b="1" dirty="0" err="1" smtClean="0"/>
              <a:t>הכהנים</a:t>
            </a:r>
            <a:r>
              <a:rPr lang="he-IL" sz="1000" b="1" dirty="0" smtClean="0"/>
              <a:t> אוכלים אותו</a:t>
            </a:r>
            <a:endParaRPr lang="he-IL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5FD4D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עניים מביאים אותו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5FD4D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מחבת, מרחשת, מאפה תנור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248A8C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מנחה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080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BC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6377" b="6377"/>
          <a:stretch>
            <a:fillRect/>
          </a:stretch>
        </p:blipFill>
        <p:spPr>
          <a:xfrm>
            <a:off x="194194" y="53375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5FD4D7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סולת, שמן זית, לבונה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46221"/>
          </a:xfrm>
          <a:prstGeom prst="rect">
            <a:avLst/>
          </a:prstGeom>
          <a:solidFill>
            <a:srgbClr val="5FD4D7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00" b="1" dirty="0" smtClean="0"/>
              <a:t>מקריבים קומץ- </a:t>
            </a:r>
            <a:r>
              <a:rPr lang="he-IL" sz="1000" b="1" dirty="0" err="1" smtClean="0"/>
              <a:t>הכהנים</a:t>
            </a:r>
            <a:r>
              <a:rPr lang="he-IL" sz="1000" b="1" dirty="0" smtClean="0"/>
              <a:t> אוכלים אותו</a:t>
            </a:r>
            <a:endParaRPr lang="he-IL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5FD4D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עניים מביאים אותו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5FD4D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מחבת, מרחשת, מאפה תנור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248A8C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מנחה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259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BC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6377" b="6377"/>
          <a:stretch>
            <a:fillRect/>
          </a:stretch>
        </p:blipFill>
        <p:spPr>
          <a:xfrm>
            <a:off x="194194" y="53375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5FD4D7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סולת, שמן זית, לבונה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46221"/>
          </a:xfrm>
          <a:prstGeom prst="rect">
            <a:avLst/>
          </a:prstGeom>
          <a:solidFill>
            <a:srgbClr val="5FD4D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00" b="1" dirty="0" smtClean="0"/>
              <a:t>מקריבים קומץ- </a:t>
            </a:r>
            <a:r>
              <a:rPr lang="he-IL" sz="1000" b="1" dirty="0" err="1" smtClean="0"/>
              <a:t>הכהנים</a:t>
            </a:r>
            <a:r>
              <a:rPr lang="he-IL" sz="1000" b="1" dirty="0" smtClean="0"/>
              <a:t> אוכלים אותו</a:t>
            </a:r>
            <a:endParaRPr lang="he-IL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5FD4D7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עניים מביאים אותו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5FD4D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מחבת, מרחשת, מאפה תנור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248A8C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מנחה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803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BC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6377" b="6377"/>
          <a:stretch>
            <a:fillRect/>
          </a:stretch>
        </p:blipFill>
        <p:spPr>
          <a:xfrm>
            <a:off x="194194" y="53375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5FD4D7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סולת, שמן זית, לבונה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46221"/>
          </a:xfrm>
          <a:prstGeom prst="rect">
            <a:avLst/>
          </a:prstGeom>
          <a:solidFill>
            <a:srgbClr val="5FD4D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00" b="1" dirty="0" smtClean="0"/>
              <a:t>מקריבים קומץ- </a:t>
            </a:r>
            <a:r>
              <a:rPr lang="he-IL" sz="1000" b="1" dirty="0" err="1" smtClean="0"/>
              <a:t>הכהנים</a:t>
            </a:r>
            <a:r>
              <a:rPr lang="he-IL" sz="1000" b="1" dirty="0" smtClean="0"/>
              <a:t> אוכלים אותו</a:t>
            </a:r>
            <a:endParaRPr lang="he-IL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5FD4D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עניים מביאים אותו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5FD4D7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מחבת, מרחשת, מאפה תנור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248A8C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מנחה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73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C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483" b="483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71DAFF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בקר+ 40 חלות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71DAFF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err="1" smtClean="0"/>
              <a:t>הכהנים</a:t>
            </a:r>
            <a:r>
              <a:rPr lang="he-IL" sz="1050" b="1" dirty="0" smtClean="0"/>
              <a:t>, הבעלים, המזבח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71DAFF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נדר/ הודיה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71DAFF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נדבה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00A1DA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שלמים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07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C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483" b="483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71DAFF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בקר+ 40 חלות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71DAFF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err="1" smtClean="0"/>
              <a:t>הכהנים</a:t>
            </a:r>
            <a:r>
              <a:rPr lang="he-IL" sz="1050" b="1" dirty="0" smtClean="0"/>
              <a:t>, הבעלים, המזבח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71DAFF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נדר/ הודיה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71DAFF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נדבה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00A1DA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שלמים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909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C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483" b="483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71DAFF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בקר+ 40 חלות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71DAFF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err="1" smtClean="0"/>
              <a:t>הכהנים</a:t>
            </a:r>
            <a:r>
              <a:rPr lang="he-IL" sz="1050" b="1" dirty="0" smtClean="0"/>
              <a:t>, הבעלים, המזבח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71DAFF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נדר/ הודיה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71DAFF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נדבה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00A1DA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שלמים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957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C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483" b="483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71DAFF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בקר+ 40 חלות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71DAFF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err="1" smtClean="0"/>
              <a:t>הכהנים</a:t>
            </a:r>
            <a:r>
              <a:rPr lang="he-IL" sz="1050" b="1" dirty="0" smtClean="0"/>
              <a:t>, הבעלים, המזבח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71DAFF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נדר/ הודיה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71DAFF"/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נדבה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00A1DA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שלמים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992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B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7245" b="7245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C2D6FE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אייל תמים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אשם מעילות, אשם גזל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עבירה במזיד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חובה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6094FC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אשם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621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B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7245" b="7245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אייל תמים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C2D6FE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אשם מעילות, אשם גזל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עבירה במזיד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חובה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6094FC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אשם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004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B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7245" b="7245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אייל תמים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אשם מעילות, אשם גזל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C2D6FE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עבירה במזיד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חובה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6094FC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אשם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695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B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7245" b="7245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אייל תמים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אשם מעילות, אשם גזל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C2D6FE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מביאים אותו על עבירה במזיד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C2D6FE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חובה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6094FC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אשם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587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7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614" b="614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739FE7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שעיר/ </a:t>
            </a:r>
            <a:r>
              <a:rPr lang="he-IL" sz="1050" b="1" dirty="0" err="1" smtClean="0"/>
              <a:t>שעירת</a:t>
            </a:r>
            <a:r>
              <a:rPr lang="he-IL" sz="1050" b="1" dirty="0" smtClean="0"/>
              <a:t> עיזים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27390"/>
            <a:ext cx="2059536" cy="369332"/>
          </a:xfrm>
          <a:prstGeom prst="rect">
            <a:avLst/>
          </a:prstGeom>
          <a:solidFill>
            <a:srgbClr val="739FE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900" b="1" dirty="0" smtClean="0"/>
              <a:t>על </a:t>
            </a:r>
            <a:r>
              <a:rPr lang="he-IL" sz="800" b="1" dirty="0" smtClean="0"/>
              <a:t>חטא</a:t>
            </a:r>
            <a:r>
              <a:rPr lang="he-IL" sz="900" b="1" dirty="0" smtClean="0"/>
              <a:t> שחטא- כהן גדול, נשיא, סנהדרין, כל אדם מישראל</a:t>
            </a:r>
            <a:endParaRPr lang="he-IL" sz="9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739FE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על חטא בשגגה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739FE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חובה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1D53AB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חטאת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019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7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614" b="614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739FE7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שעיר/ </a:t>
            </a:r>
            <a:r>
              <a:rPr lang="he-IL" sz="1050" b="1" dirty="0" err="1" smtClean="0"/>
              <a:t>שעירת</a:t>
            </a:r>
            <a:r>
              <a:rPr lang="he-IL" sz="1050" b="1" dirty="0" smtClean="0"/>
              <a:t> עיזים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27390"/>
            <a:ext cx="2059536" cy="369332"/>
          </a:xfrm>
          <a:prstGeom prst="rect">
            <a:avLst/>
          </a:prstGeom>
          <a:solidFill>
            <a:srgbClr val="739FE7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900" b="1" dirty="0" smtClean="0"/>
              <a:t>על </a:t>
            </a:r>
            <a:r>
              <a:rPr lang="he-IL" sz="800" b="1" dirty="0" smtClean="0"/>
              <a:t>חטא</a:t>
            </a:r>
            <a:r>
              <a:rPr lang="he-IL" sz="900" b="1" dirty="0" smtClean="0"/>
              <a:t> שחטא- כהן גדול, נשיא, סנהדרין, כל אדם מישראל</a:t>
            </a:r>
            <a:endParaRPr lang="he-IL" sz="9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739FE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על חטא בשגגה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739FE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חובה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1D53AB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חטאת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388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7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614" b="614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739FE7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שעיר/ </a:t>
            </a:r>
            <a:r>
              <a:rPr lang="he-IL" sz="1050" b="1" dirty="0" err="1" smtClean="0"/>
              <a:t>שעירת</a:t>
            </a:r>
            <a:r>
              <a:rPr lang="he-IL" sz="1050" b="1" dirty="0" smtClean="0"/>
              <a:t> עיזים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27390"/>
            <a:ext cx="2059536" cy="369332"/>
          </a:xfrm>
          <a:prstGeom prst="rect">
            <a:avLst/>
          </a:prstGeom>
          <a:solidFill>
            <a:srgbClr val="739FE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900" b="1" dirty="0" smtClean="0"/>
              <a:t>על </a:t>
            </a:r>
            <a:r>
              <a:rPr lang="he-IL" sz="800" b="1" dirty="0" smtClean="0"/>
              <a:t>חטא</a:t>
            </a:r>
            <a:r>
              <a:rPr lang="he-IL" sz="900" b="1" dirty="0" smtClean="0"/>
              <a:t> שחטא- כהן גדול, נשיא, סנהדרין, כל אדם מישראל</a:t>
            </a:r>
            <a:endParaRPr lang="he-IL" sz="9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739FE7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על חטא בשגגה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739FE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חובה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1D53AB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חטאת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637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7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614" b="614"/>
          <a:stretch>
            <a:fillRect/>
          </a:stretch>
        </p:blipFill>
        <p:spPr>
          <a:xfrm>
            <a:off x="193675" y="487363"/>
            <a:ext cx="2060575" cy="135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739FE7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שעיר/ </a:t>
            </a:r>
            <a:r>
              <a:rPr lang="he-IL" sz="1050" b="1" dirty="0" err="1" smtClean="0"/>
              <a:t>שעירת</a:t>
            </a:r>
            <a:r>
              <a:rPr lang="he-IL" sz="1050" b="1" dirty="0" smtClean="0"/>
              <a:t> עיזים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27390"/>
            <a:ext cx="2059536" cy="369332"/>
          </a:xfrm>
          <a:prstGeom prst="rect">
            <a:avLst/>
          </a:prstGeom>
          <a:solidFill>
            <a:srgbClr val="739FE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900" b="1" dirty="0" smtClean="0"/>
              <a:t>על </a:t>
            </a:r>
            <a:r>
              <a:rPr lang="he-IL" sz="800" b="1" dirty="0" smtClean="0"/>
              <a:t>חטא</a:t>
            </a:r>
            <a:r>
              <a:rPr lang="he-IL" sz="900" b="1" dirty="0" smtClean="0"/>
              <a:t> שחטא- כהן גדול, נשיא, סנהדרין, כל אדם מישראל</a:t>
            </a:r>
            <a:endParaRPr lang="he-IL" sz="9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739FE7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על חטא בשגגה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739FE7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קורבן חובה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1D53AB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קורבן חטאת</a:t>
            </a:r>
            <a:endParaRPr lang="he-I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526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6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C299EB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הבאה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C299EB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סמיכה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C299EB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עבודות הדם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C299EB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/>
              <a:t>4. </a:t>
            </a:r>
            <a:r>
              <a:rPr lang="he-IL" sz="1050" b="1" dirty="0" smtClean="0"/>
              <a:t>הקטרה- הקרבה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7B26D0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שלבי ההקרבה</a:t>
            </a:r>
            <a:endParaRPr lang="he-IL" sz="1600" b="1" dirty="0">
              <a:solidFill>
                <a:schemeClr val="bg1"/>
              </a:solidFill>
            </a:endParaRP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0" y="620176"/>
            <a:ext cx="2164380" cy="118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45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6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C299EB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הבאה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C299EB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סמיכה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C299EB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עבודות הדם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C299EB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/>
              <a:t>4. </a:t>
            </a:r>
            <a:r>
              <a:rPr lang="he-IL" sz="1050" b="1" dirty="0" smtClean="0"/>
              <a:t>הקטרה- הקרבה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7B26D0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שלבי ההקרבה</a:t>
            </a:r>
            <a:endParaRPr lang="he-IL" sz="1600" b="1" dirty="0">
              <a:solidFill>
                <a:schemeClr val="bg1"/>
              </a:solidFill>
            </a:endParaRP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0" y="620176"/>
            <a:ext cx="2164380" cy="118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69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6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C299EB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הבאה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C299EB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סמיכה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C299EB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עבודות הדם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C299EB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הקטרה- הקרבה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7B26D0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שלבי ההקרבה</a:t>
            </a:r>
            <a:endParaRPr lang="he-IL" sz="1600" b="1" dirty="0">
              <a:solidFill>
                <a:schemeClr val="bg1"/>
              </a:solidFill>
            </a:endParaRP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0" y="620176"/>
            <a:ext cx="2164380" cy="118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67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6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B0B71A-66F2-47BA-9767-E432F0FE433B}"/>
              </a:ext>
            </a:extLst>
          </p:cNvPr>
          <p:cNvSpPr txBox="1"/>
          <p:nvPr/>
        </p:nvSpPr>
        <p:spPr>
          <a:xfrm>
            <a:off x="194194" y="1945770"/>
            <a:ext cx="2059536" cy="261610"/>
          </a:xfrm>
          <a:prstGeom prst="rect">
            <a:avLst/>
          </a:prstGeom>
          <a:solidFill>
            <a:srgbClr val="C299EB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הבאה</a:t>
            </a:r>
            <a:endParaRPr lang="he-IL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7536E-FDC3-4BE8-89B8-18031AB8F0BF}"/>
              </a:ext>
            </a:extLst>
          </p:cNvPr>
          <p:cNvSpPr txBox="1"/>
          <p:nvPr/>
        </p:nvSpPr>
        <p:spPr>
          <a:xfrm>
            <a:off x="194194" y="2281251"/>
            <a:ext cx="2059536" cy="261610"/>
          </a:xfrm>
          <a:prstGeom prst="rect">
            <a:avLst/>
          </a:prstGeom>
          <a:solidFill>
            <a:srgbClr val="C299EB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סמיכה</a:t>
            </a:r>
            <a:endParaRPr lang="he-IL" sz="105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E5D98-BDFD-47F0-A057-AF1F51A6513A}"/>
              </a:ext>
            </a:extLst>
          </p:cNvPr>
          <p:cNvSpPr txBox="1"/>
          <p:nvPr/>
        </p:nvSpPr>
        <p:spPr>
          <a:xfrm>
            <a:off x="194194" y="2616733"/>
            <a:ext cx="2059536" cy="261610"/>
          </a:xfrm>
          <a:prstGeom prst="rect">
            <a:avLst/>
          </a:prstGeom>
          <a:solidFill>
            <a:srgbClr val="C299EB"/>
          </a:solidFill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עבודות הדם</a:t>
            </a:r>
            <a:endParaRPr lang="he-IL" sz="10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4816D-C6E2-4489-A1A0-9791FE4542AB}"/>
              </a:ext>
            </a:extLst>
          </p:cNvPr>
          <p:cNvSpPr txBox="1"/>
          <p:nvPr/>
        </p:nvSpPr>
        <p:spPr>
          <a:xfrm>
            <a:off x="194194" y="2947942"/>
            <a:ext cx="2059536" cy="261610"/>
          </a:xfrm>
          <a:prstGeom prst="rect">
            <a:avLst/>
          </a:prstGeom>
          <a:solidFill>
            <a:srgbClr val="C299EB"/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/>
            <a:r>
              <a:rPr lang="he-IL" sz="1050" b="1" dirty="0" smtClean="0"/>
              <a:t>הקטרה- הקרבה</a:t>
            </a:r>
            <a:endParaRPr lang="he-IL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A2EB2-4C0B-40DA-A5F0-C5B25C3ADA03}"/>
              </a:ext>
            </a:extLst>
          </p:cNvPr>
          <p:cNvSpPr txBox="1"/>
          <p:nvPr/>
        </p:nvSpPr>
        <p:spPr>
          <a:xfrm>
            <a:off x="-1" y="148720"/>
            <a:ext cx="2447925" cy="338554"/>
          </a:xfrm>
          <a:prstGeom prst="rect">
            <a:avLst/>
          </a:prstGeom>
          <a:solidFill>
            <a:srgbClr val="7B26D0"/>
          </a:solidFill>
        </p:spPr>
        <p:txBody>
          <a:bodyPr wrap="square" rtlCol="1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he-IL" sz="1600" b="1" dirty="0" smtClean="0">
                <a:solidFill>
                  <a:schemeClr val="bg1"/>
                </a:solidFill>
              </a:rPr>
              <a:t>שלבי ההקרבה</a:t>
            </a:r>
            <a:endParaRPr lang="he-IL" sz="1600" b="1" dirty="0">
              <a:solidFill>
                <a:schemeClr val="bg1"/>
              </a:solidFill>
            </a:endParaRP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0" y="620176"/>
            <a:ext cx="2164380" cy="118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872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תאריכון עברי תשפג.pot [מצב תאימות]" id="{3AF4BB0F-200D-4E67-B51B-EEA8F104ECAE}" vid="{9A1699D1-A0FC-430C-B75D-277994A8E502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9840</TotalTime>
  <Words>436</Words>
  <Application>Microsoft Office PowerPoint</Application>
  <PresentationFormat>מותאם אישית</PresentationFormat>
  <Paragraphs>120</Paragraphs>
  <Slides>24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user1</dc:creator>
  <cp:lastModifiedBy>USER</cp:lastModifiedBy>
  <cp:revision>85</cp:revision>
  <cp:lastPrinted>2023-10-10T09:27:54Z</cp:lastPrinted>
  <dcterms:created xsi:type="dcterms:W3CDTF">2021-07-19T06:58:38Z</dcterms:created>
  <dcterms:modified xsi:type="dcterms:W3CDTF">2026-10-22T15:55:15Z</dcterms:modified>
</cp:coreProperties>
</file>